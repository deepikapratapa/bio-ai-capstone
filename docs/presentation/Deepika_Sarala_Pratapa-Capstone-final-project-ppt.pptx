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8" r:id="rId10"/>
    <p:sldId id="264" r:id="rId11"/>
    <p:sldId id="265" r:id="rId12"/>
    <p:sldId id="266" r:id="rId13"/>
    <p:sldId id="267"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485"/>
    <p:restoredTop sz="94610"/>
  </p:normalViewPr>
  <p:slideViewPr>
    <p:cSldViewPr snapToGrid="0" snapToObjects="1">
      <p:cViewPr varScale="1">
        <p:scale>
          <a:sx n="167" d="100"/>
          <a:sy n="167" d="100"/>
        </p:scale>
        <p:origin x="168" y="4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ROC-AUC</c:v>
                </c:pt>
              </c:strCache>
            </c:strRef>
          </c:tx>
          <c:spPr>
            <a:solidFill>
              <a:srgbClr val="8BA4CC"/>
            </a:solidFill>
            <a:effectLst/>
          </c:spPr>
          <c:invertIfNegative val="0"/>
          <c:dPt>
            <c:idx val="0"/>
            <c:invertIfNegative val="0"/>
            <c:bubble3D val="0"/>
            <c:extLst>
              <c:ext xmlns:c16="http://schemas.microsoft.com/office/drawing/2014/chart" uri="{C3380CC4-5D6E-409C-BE32-E72D297353CC}">
                <c16:uniqueId val="{00000001-99B3-004C-B252-34C9B774B82C}"/>
              </c:ext>
            </c:extLst>
          </c:dPt>
          <c:dPt>
            <c:idx val="1"/>
            <c:invertIfNegative val="0"/>
            <c:bubble3D val="0"/>
            <c:extLst>
              <c:ext xmlns:c16="http://schemas.microsoft.com/office/drawing/2014/chart" uri="{C3380CC4-5D6E-409C-BE32-E72D297353CC}">
                <c16:uniqueId val="{00000003-99B3-004C-B252-34C9B774B82C}"/>
              </c:ext>
            </c:extLst>
          </c:dPt>
          <c:dPt>
            <c:idx val="2"/>
            <c:invertIfNegative val="0"/>
            <c:bubble3D val="0"/>
            <c:extLst>
              <c:ext xmlns:c16="http://schemas.microsoft.com/office/drawing/2014/chart" uri="{C3380CC4-5D6E-409C-BE32-E72D297353CC}">
                <c16:uniqueId val="{00000005-99B3-004C-B252-34C9B774B82C}"/>
              </c:ext>
            </c:extLst>
          </c:dPt>
          <c:dPt>
            <c:idx val="3"/>
            <c:invertIfNegative val="0"/>
            <c:bubble3D val="0"/>
            <c:spPr>
              <a:solidFill>
                <a:srgbClr val="4A90D9"/>
              </a:solidFill>
              <a:effectLst/>
            </c:spPr>
            <c:extLst>
              <c:ext xmlns:c16="http://schemas.microsoft.com/office/drawing/2014/chart" uri="{C3380CC4-5D6E-409C-BE32-E72D297353CC}">
                <c16:uniqueId val="{00000007-99B3-004C-B252-34C9B774B82C}"/>
              </c:ext>
            </c:extLst>
          </c:dPt>
          <c:dPt>
            <c:idx val="4"/>
            <c:invertIfNegative val="0"/>
            <c:bubble3D val="0"/>
            <c:spPr>
              <a:solidFill>
                <a:srgbClr val="1A3A8F"/>
              </a:solidFill>
              <a:effectLst/>
            </c:spPr>
            <c:extLst>
              <c:ext xmlns:c16="http://schemas.microsoft.com/office/drawing/2014/chart" uri="{C3380CC4-5D6E-409C-BE32-E72D297353CC}">
                <c16:uniqueId val="{00000009-99B3-004C-B252-34C9B774B82C}"/>
              </c:ext>
            </c:extLst>
          </c:dPt>
          <c:dLbls>
            <c:numFmt formatCode="#,##0" sourceLinked="0"/>
            <c:spPr>
              <a:noFill/>
              <a:ln>
                <a:noFill/>
              </a:ln>
              <a:effectLst/>
            </c:spPr>
            <c:txPr>
              <a:bodyPr/>
              <a:lstStyle/>
              <a:p>
                <a:pPr>
                  <a:defRPr sz="9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Baseline RF</c:v>
                </c:pt>
                <c:pt idx="1">
                  <c:v>CNN</c:v>
                </c:pt>
                <c:pt idx="2">
                  <c:v>Hybrid</c:v>
                </c:pt>
                <c:pt idx="3">
                  <c:v>DNABERT-2</c:v>
                </c:pt>
                <c:pt idx="4">
                  <c:v>NT-500M ★</c:v>
                </c:pt>
              </c:strCache>
            </c:strRef>
          </c:cat>
          <c:val>
            <c:numRef>
              <c:f>Sheet1!$B$2:$B$6</c:f>
              <c:numCache>
                <c:formatCode>General</c:formatCode>
                <c:ptCount val="5"/>
                <c:pt idx="0">
                  <c:v>0.83699999999999997</c:v>
                </c:pt>
                <c:pt idx="1">
                  <c:v>0.82599999999999996</c:v>
                </c:pt>
                <c:pt idx="2">
                  <c:v>0.83199999999999996</c:v>
                </c:pt>
                <c:pt idx="3">
                  <c:v>0.84599999999999997</c:v>
                </c:pt>
                <c:pt idx="4">
                  <c:v>0.85099999999999998</c:v>
                </c:pt>
              </c:numCache>
            </c:numRef>
          </c:val>
          <c:extLst>
            <c:ext xmlns:c16="http://schemas.microsoft.com/office/drawing/2014/chart" uri="{C3380CC4-5D6E-409C-BE32-E72D297353CC}">
              <c16:uniqueId val="{0000000A-99B3-004C-B252-34C9B774B82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800" b="0" i="0" u="none" strike="noStrike">
                <a:solidFill>
                  <a:srgbClr val="333355"/>
                </a:solidFill>
                <a:latin typeface="Arial"/>
              </a:defRPr>
            </a:pPr>
            <a:endParaRPr lang="en-US"/>
          </a:p>
        </c:txPr>
        <c:crossAx val="2094734552"/>
        <c:crosses val="autoZero"/>
        <c:auto val="1"/>
        <c:lblAlgn val="ctr"/>
        <c:lblOffset val="100"/>
        <c:noMultiLvlLbl val="1"/>
      </c:catAx>
      <c:valAx>
        <c:axId val="2094734552"/>
        <c:scaling>
          <c:orientation val="minMax"/>
          <c:max val="0.86"/>
          <c:min val="0.8"/>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800" b="0" i="0" u="none" strike="noStrike">
                <a:solidFill>
                  <a:srgbClr val="8BA4CC"/>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4F8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Accuracy</c:v>
                </c:pt>
              </c:strCache>
            </c:strRef>
          </c:tx>
          <c:spPr>
            <a:solidFill>
              <a:srgbClr val="8BA4CC"/>
            </a:solidFill>
            <a:effectLst/>
          </c:spPr>
          <c:invertIfNegative val="0"/>
          <c:dPt>
            <c:idx val="0"/>
            <c:invertIfNegative val="0"/>
            <c:bubble3D val="0"/>
            <c:extLst>
              <c:ext xmlns:c16="http://schemas.microsoft.com/office/drawing/2014/chart" uri="{C3380CC4-5D6E-409C-BE32-E72D297353CC}">
                <c16:uniqueId val="{00000001-367B-EA4B-BE9B-539B7433E553}"/>
              </c:ext>
            </c:extLst>
          </c:dPt>
          <c:dPt>
            <c:idx val="1"/>
            <c:invertIfNegative val="0"/>
            <c:bubble3D val="0"/>
            <c:extLst>
              <c:ext xmlns:c16="http://schemas.microsoft.com/office/drawing/2014/chart" uri="{C3380CC4-5D6E-409C-BE32-E72D297353CC}">
                <c16:uniqueId val="{00000003-367B-EA4B-BE9B-539B7433E553}"/>
              </c:ext>
            </c:extLst>
          </c:dPt>
          <c:dPt>
            <c:idx val="2"/>
            <c:invertIfNegative val="0"/>
            <c:bubble3D val="0"/>
            <c:extLst>
              <c:ext xmlns:c16="http://schemas.microsoft.com/office/drawing/2014/chart" uri="{C3380CC4-5D6E-409C-BE32-E72D297353CC}">
                <c16:uniqueId val="{00000005-367B-EA4B-BE9B-539B7433E553}"/>
              </c:ext>
            </c:extLst>
          </c:dPt>
          <c:dPt>
            <c:idx val="3"/>
            <c:invertIfNegative val="0"/>
            <c:bubble3D val="0"/>
            <c:spPr>
              <a:solidFill>
                <a:srgbClr val="2CA08A"/>
              </a:solidFill>
              <a:effectLst/>
            </c:spPr>
            <c:extLst>
              <c:ext xmlns:c16="http://schemas.microsoft.com/office/drawing/2014/chart" uri="{C3380CC4-5D6E-409C-BE32-E72D297353CC}">
                <c16:uniqueId val="{00000007-367B-EA4B-BE9B-539B7433E553}"/>
              </c:ext>
            </c:extLst>
          </c:dPt>
          <c:dPt>
            <c:idx val="4"/>
            <c:invertIfNegative val="0"/>
            <c:bubble3D val="0"/>
            <c:spPr>
              <a:solidFill>
                <a:srgbClr val="1B7B8A"/>
              </a:solidFill>
              <a:effectLst/>
            </c:spPr>
            <c:extLst>
              <c:ext xmlns:c16="http://schemas.microsoft.com/office/drawing/2014/chart" uri="{C3380CC4-5D6E-409C-BE32-E72D297353CC}">
                <c16:uniqueId val="{00000009-367B-EA4B-BE9B-539B7433E553}"/>
              </c:ext>
            </c:extLst>
          </c:dPt>
          <c:dLbls>
            <c:numFmt formatCode="#,##0" sourceLinked="0"/>
            <c:spPr>
              <a:noFill/>
              <a:ln>
                <a:noFill/>
              </a:ln>
              <a:effectLst/>
            </c:spPr>
            <c:txPr>
              <a:bodyPr/>
              <a:lstStyle/>
              <a:p>
                <a:pPr>
                  <a:defRPr sz="9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Baseline RF</c:v>
                </c:pt>
                <c:pt idx="1">
                  <c:v>CNN</c:v>
                </c:pt>
                <c:pt idx="2">
                  <c:v>Hybrid</c:v>
                </c:pt>
                <c:pt idx="3">
                  <c:v>ESM-2</c:v>
                </c:pt>
                <c:pt idx="4">
                  <c:v>ProtBERT ★</c:v>
                </c:pt>
              </c:strCache>
            </c:strRef>
          </c:cat>
          <c:val>
            <c:numRef>
              <c:f>Sheet1!$B$2:$B$6</c:f>
              <c:numCache>
                <c:formatCode>General</c:formatCode>
                <c:ptCount val="5"/>
                <c:pt idx="0">
                  <c:v>0.92300000000000004</c:v>
                </c:pt>
                <c:pt idx="1">
                  <c:v>0.92400000000000004</c:v>
                </c:pt>
                <c:pt idx="2">
                  <c:v>0.95599999999999996</c:v>
                </c:pt>
                <c:pt idx="3">
                  <c:v>0.98699999999999999</c:v>
                </c:pt>
                <c:pt idx="4">
                  <c:v>0.99099999999999999</c:v>
                </c:pt>
              </c:numCache>
            </c:numRef>
          </c:val>
          <c:extLst>
            <c:ext xmlns:c16="http://schemas.microsoft.com/office/drawing/2014/chart" uri="{C3380CC4-5D6E-409C-BE32-E72D297353CC}">
              <c16:uniqueId val="{0000000A-367B-EA4B-BE9B-539B7433E55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800" b="0" i="0" u="none" strike="noStrike">
                <a:solidFill>
                  <a:srgbClr val="333355"/>
                </a:solidFill>
                <a:latin typeface="Arial"/>
              </a:defRPr>
            </a:pPr>
            <a:endParaRPr lang="en-US"/>
          </a:p>
        </c:txPr>
        <c:crossAx val="2094734552"/>
        <c:crosses val="autoZero"/>
        <c:auto val="1"/>
        <c:lblAlgn val="ctr"/>
        <c:lblOffset val="100"/>
        <c:noMultiLvlLbl val="1"/>
      </c:catAx>
      <c:valAx>
        <c:axId val="2094734552"/>
        <c:scaling>
          <c:orientation val="minMax"/>
          <c:max val="1"/>
          <c:min val="0.88"/>
        </c:scaling>
        <c:delete val="0"/>
        <c:axPos val="b"/>
        <c:majorGridlines>
          <c:spPr>
            <a:ln w="6350" cap="flat">
              <a:solidFill>
                <a:srgbClr val="D0EDE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800" b="0" i="0" u="none" strike="noStrike">
                <a:solidFill>
                  <a:srgbClr val="8BA4CC"/>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0FBF8"/>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632580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4B"/>
        </a:solidFill>
        <a:effectLst/>
      </p:bgPr>
    </p:bg>
    <p:spTree>
      <p:nvGrpSpPr>
        <p:cNvPr id="1" name=""/>
        <p:cNvGrpSpPr/>
        <p:nvPr/>
      </p:nvGrpSpPr>
      <p:grpSpPr>
        <a:xfrm>
          <a:off x="0" y="0"/>
          <a:ext cx="0" cy="0"/>
          <a:chOff x="0" y="0"/>
          <a:chExt cx="0" cy="0"/>
        </a:xfrm>
      </p:grpSpPr>
      <p:sp>
        <p:nvSpPr>
          <p:cNvPr id="2" name="Shape 0"/>
          <p:cNvSpPr/>
          <p:nvPr/>
        </p:nvSpPr>
        <p:spPr>
          <a:xfrm>
            <a:off x="411480" y="1005840"/>
            <a:ext cx="73152" cy="2560320"/>
          </a:xfrm>
          <a:prstGeom prst="rect">
            <a:avLst/>
          </a:prstGeom>
          <a:solidFill>
            <a:srgbClr val="E8A838"/>
          </a:solidFill>
          <a:ln w="12700">
            <a:solidFill>
              <a:srgbClr val="000000"/>
            </a:solidFill>
            <a:prstDash val="solid"/>
          </a:ln>
        </p:spPr>
        <p:txBody>
          <a:bodyPr/>
          <a:lstStyle/>
          <a:p>
            <a:endParaRPr lang="en-US"/>
          </a:p>
        </p:txBody>
      </p:sp>
      <p:sp>
        <p:nvSpPr>
          <p:cNvPr id="3" name="Text 1"/>
          <p:cNvSpPr/>
          <p:nvPr/>
        </p:nvSpPr>
        <p:spPr>
          <a:xfrm>
            <a:off x="594360" y="960120"/>
            <a:ext cx="5166360" cy="2011680"/>
          </a:xfrm>
          <a:prstGeom prst="rect">
            <a:avLst/>
          </a:prstGeom>
          <a:noFill/>
          <a:ln/>
        </p:spPr>
        <p:txBody>
          <a:bodyPr wrap="square" rtlCol="0" anchor="ctr"/>
          <a:lstStyle/>
          <a:p>
            <a:pPr marL="0" indent="0">
              <a:buNone/>
            </a:pPr>
            <a:r>
              <a:rPr lang="en-US" sz="2600" b="1" dirty="0">
                <a:solidFill>
                  <a:srgbClr val="FFFFFF"/>
                </a:solidFill>
                <a:latin typeface="Baskerville" panose="02020502070401020303" pitchFamily="18" charset="0"/>
                <a:ea typeface="Baskerville" panose="02020502070401020303" pitchFamily="18" charset="0"/>
                <a:cs typeface="Calibri" pitchFamily="34" charset="-120"/>
              </a:rPr>
              <a:t>Design and Evaluation of DNA &amp; Protein Language Model Pipelines for Biological Sequence Analysis</a:t>
            </a:r>
            <a:endParaRPr lang="en-US" sz="2600" dirty="0">
              <a:latin typeface="Baskerville" panose="02020502070401020303" pitchFamily="18" charset="0"/>
              <a:ea typeface="Baskerville" panose="02020502070401020303" pitchFamily="18" charset="0"/>
            </a:endParaRPr>
          </a:p>
        </p:txBody>
      </p:sp>
      <p:sp>
        <p:nvSpPr>
          <p:cNvPr id="4" name="Text 2"/>
          <p:cNvSpPr/>
          <p:nvPr/>
        </p:nvSpPr>
        <p:spPr>
          <a:xfrm>
            <a:off x="594360" y="3063240"/>
            <a:ext cx="5029200" cy="320040"/>
          </a:xfrm>
          <a:prstGeom prst="rect">
            <a:avLst/>
          </a:prstGeom>
          <a:noFill/>
          <a:ln/>
        </p:spPr>
        <p:txBody>
          <a:bodyPr wrap="square" rtlCol="0" anchor="ctr"/>
          <a:lstStyle/>
          <a:p>
            <a:pPr marL="0" indent="0">
              <a:buNone/>
            </a:pPr>
            <a:r>
              <a:rPr lang="en-US" sz="1300" b="1" dirty="0">
                <a:solidFill>
                  <a:srgbClr val="E8A838"/>
                </a:solidFill>
                <a:latin typeface="Baskerville" panose="02020502070401020303" pitchFamily="18" charset="0"/>
                <a:ea typeface="Baskerville" panose="02020502070401020303" pitchFamily="18" charset="0"/>
                <a:cs typeface="Calibri" pitchFamily="34" charset="-120"/>
              </a:rPr>
              <a:t>Final Project Presentation</a:t>
            </a:r>
            <a:endParaRPr lang="en-US" sz="1300" dirty="0">
              <a:latin typeface="Baskerville" panose="02020502070401020303" pitchFamily="18" charset="0"/>
              <a:ea typeface="Baskerville" panose="02020502070401020303" pitchFamily="18" charset="0"/>
            </a:endParaRPr>
          </a:p>
        </p:txBody>
      </p:sp>
      <p:sp>
        <p:nvSpPr>
          <p:cNvPr id="5" name="Text 3"/>
          <p:cNvSpPr/>
          <p:nvPr/>
        </p:nvSpPr>
        <p:spPr>
          <a:xfrm>
            <a:off x="594360" y="3429000"/>
            <a:ext cx="5029200" cy="1005840"/>
          </a:xfrm>
          <a:prstGeom prst="rect">
            <a:avLst/>
          </a:prstGeom>
          <a:noFill/>
          <a:ln/>
        </p:spPr>
        <p:txBody>
          <a:bodyPr wrap="square" rtlCol="0" anchor="ctr"/>
          <a:lstStyle/>
          <a:p>
            <a:pPr marL="0" indent="0">
              <a:lnSpc>
                <a:spcPct val="130000"/>
              </a:lnSpc>
              <a:buNone/>
            </a:pPr>
            <a:r>
              <a:rPr lang="en-US" sz="1200" b="1" dirty="0">
                <a:solidFill>
                  <a:srgbClr val="8BA4CC"/>
                </a:solidFill>
                <a:latin typeface="Baskerville" panose="02020502070401020303" pitchFamily="18" charset="0"/>
                <a:ea typeface="Baskerville" panose="02020502070401020303" pitchFamily="18" charset="0"/>
                <a:cs typeface="Calibri" pitchFamily="34" charset="-120"/>
              </a:rPr>
              <a:t>Deepika Sarala Pratapa</a:t>
            </a:r>
            <a:endParaRPr lang="en-US" sz="1200" dirty="0">
              <a:latin typeface="Baskerville" panose="02020502070401020303" pitchFamily="18" charset="0"/>
              <a:ea typeface="Baskerville" panose="02020502070401020303" pitchFamily="18" charset="0"/>
            </a:endParaRPr>
          </a:p>
          <a:p>
            <a:pPr marL="0" indent="0">
              <a:lnSpc>
                <a:spcPct val="130000"/>
              </a:lnSpc>
              <a:buNone/>
            </a:pPr>
            <a:r>
              <a:rPr lang="en-US" sz="1200" dirty="0">
                <a:solidFill>
                  <a:srgbClr val="8BA4CC"/>
                </a:solidFill>
                <a:latin typeface="Baskerville" panose="02020502070401020303" pitchFamily="18" charset="0"/>
                <a:ea typeface="Baskerville" panose="02020502070401020303" pitchFamily="18" charset="0"/>
                <a:cs typeface="Calibri" pitchFamily="34" charset="-120"/>
              </a:rPr>
              <a:t>Faculty Advisor</a:t>
            </a:r>
            <a:r>
              <a:rPr lang="en-US" sz="1200">
                <a:solidFill>
                  <a:srgbClr val="8BA4CC"/>
                </a:solidFill>
                <a:latin typeface="Baskerville" panose="02020502070401020303" pitchFamily="18" charset="0"/>
                <a:ea typeface="Baskerville" panose="02020502070401020303" pitchFamily="18" charset="0"/>
                <a:cs typeface="Calibri" pitchFamily="34" charset="-120"/>
              </a:rPr>
              <a:t>: Matt </a:t>
            </a:r>
            <a:r>
              <a:rPr lang="en-US" sz="1200" dirty="0">
                <a:solidFill>
                  <a:srgbClr val="8BA4CC"/>
                </a:solidFill>
                <a:latin typeface="Baskerville" panose="02020502070401020303" pitchFamily="18" charset="0"/>
                <a:ea typeface="Baskerville" panose="02020502070401020303" pitchFamily="18" charset="0"/>
                <a:cs typeface="Calibri" pitchFamily="34" charset="-120"/>
              </a:rPr>
              <a:t>Gitzendanner</a:t>
            </a:r>
            <a:endParaRPr lang="en-US" sz="1200" dirty="0">
              <a:latin typeface="Baskerville" panose="02020502070401020303" pitchFamily="18" charset="0"/>
              <a:ea typeface="Baskerville" panose="02020502070401020303" pitchFamily="18" charset="0"/>
            </a:endParaRPr>
          </a:p>
          <a:p>
            <a:pPr marL="0" indent="0">
              <a:lnSpc>
                <a:spcPct val="130000"/>
              </a:lnSpc>
              <a:buNone/>
            </a:pPr>
            <a:r>
              <a:rPr lang="en-US" sz="1200" dirty="0">
                <a:solidFill>
                  <a:srgbClr val="8BA4CC"/>
                </a:solidFill>
                <a:latin typeface="Baskerville" panose="02020502070401020303" pitchFamily="18" charset="0"/>
                <a:ea typeface="Baskerville" panose="02020502070401020303" pitchFamily="18" charset="0"/>
                <a:cs typeface="Calibri" pitchFamily="34" charset="-120"/>
              </a:rPr>
              <a:t>MS Applied Data Science  |  University of Florida</a:t>
            </a:r>
            <a:endParaRPr lang="en-US" sz="1200" dirty="0">
              <a:latin typeface="Baskerville" panose="02020502070401020303" pitchFamily="18" charset="0"/>
              <a:ea typeface="Baskerville" panose="02020502070401020303" pitchFamily="18" charset="0"/>
            </a:endParaRPr>
          </a:p>
        </p:txBody>
      </p:sp>
      <p:sp>
        <p:nvSpPr>
          <p:cNvPr id="6" name="Shape 4"/>
          <p:cNvSpPr/>
          <p:nvPr/>
        </p:nvSpPr>
        <p:spPr>
          <a:xfrm>
            <a:off x="5943600" y="0"/>
            <a:ext cx="3200400" cy="5143500"/>
          </a:xfrm>
          <a:prstGeom prst="rect">
            <a:avLst/>
          </a:prstGeom>
          <a:solidFill>
            <a:srgbClr val="1A3A8F">
              <a:alpha val="45000"/>
            </a:srgbClr>
          </a:solidFill>
          <a:ln w="12700">
            <a:solidFill>
              <a:srgbClr val="000000"/>
            </a:solidFill>
            <a:prstDash val="solid"/>
          </a:ln>
        </p:spPr>
        <p:txBody>
          <a:bodyPr/>
          <a:lstStyle/>
          <a:p>
            <a:endParaRPr lang="en-US"/>
          </a:p>
        </p:txBody>
      </p:sp>
      <p:sp>
        <p:nvSpPr>
          <p:cNvPr id="7" name="Shape 5"/>
          <p:cNvSpPr/>
          <p:nvPr/>
        </p:nvSpPr>
        <p:spPr>
          <a:xfrm>
            <a:off x="6583680" y="457200"/>
            <a:ext cx="2011680" cy="2011680"/>
          </a:xfrm>
          <a:prstGeom prst="ellipse">
            <a:avLst/>
          </a:prstGeom>
          <a:solidFill>
            <a:srgbClr val="4A90D9">
              <a:alpha val="30000"/>
            </a:srgbClr>
          </a:solidFill>
          <a:ln w="12700">
            <a:solidFill>
              <a:srgbClr val="000000"/>
            </a:solidFill>
            <a:prstDash val="solid"/>
          </a:ln>
        </p:spPr>
        <p:txBody>
          <a:bodyPr/>
          <a:lstStyle/>
          <a:p>
            <a:endParaRPr lang="en-US"/>
          </a:p>
        </p:txBody>
      </p:sp>
      <p:sp>
        <p:nvSpPr>
          <p:cNvPr id="8" name="Shape 6"/>
          <p:cNvSpPr/>
          <p:nvPr/>
        </p:nvSpPr>
        <p:spPr>
          <a:xfrm>
            <a:off x="7315200" y="2560320"/>
            <a:ext cx="1371600" cy="1371600"/>
          </a:xfrm>
          <a:prstGeom prst="ellipse">
            <a:avLst/>
          </a:prstGeom>
          <a:solidFill>
            <a:srgbClr val="1B7B8A">
              <a:alpha val="40000"/>
            </a:srgbClr>
          </a:solidFill>
          <a:ln w="12700">
            <a:solidFill>
              <a:srgbClr val="000000"/>
            </a:solidFill>
            <a:prstDash val="solid"/>
          </a:ln>
        </p:spPr>
        <p:txBody>
          <a:bodyPr/>
          <a:lstStyle/>
          <a:p>
            <a:endParaRPr lang="en-US"/>
          </a:p>
        </p:txBody>
      </p:sp>
      <p:sp>
        <p:nvSpPr>
          <p:cNvPr id="9" name="Shape 7"/>
          <p:cNvSpPr/>
          <p:nvPr/>
        </p:nvSpPr>
        <p:spPr>
          <a:xfrm>
            <a:off x="5943600" y="4389120"/>
            <a:ext cx="3200400" cy="54864"/>
          </a:xfrm>
          <a:prstGeom prst="rect">
            <a:avLst/>
          </a:prstGeom>
          <a:solidFill>
            <a:srgbClr val="E8A838"/>
          </a:solidFill>
          <a:ln w="12700">
            <a:solidFill>
              <a:srgbClr val="000000"/>
            </a:solidFill>
            <a:prstDash val="solid"/>
          </a:ln>
        </p:spPr>
        <p:txBody>
          <a:bodyPr/>
          <a:lstStyle/>
          <a:p>
            <a:endParaRPr lang="en-US"/>
          </a:p>
        </p:txBody>
      </p:sp>
      <p:sp>
        <p:nvSpPr>
          <p:cNvPr id="10" name="Text 8"/>
          <p:cNvSpPr/>
          <p:nvPr/>
        </p:nvSpPr>
        <p:spPr>
          <a:xfrm>
            <a:off x="6858000" y="1280160"/>
            <a:ext cx="1828800" cy="914400"/>
          </a:xfrm>
          <a:prstGeom prst="rect">
            <a:avLst/>
          </a:prstGeom>
          <a:noFill/>
          <a:ln/>
        </p:spPr>
        <p:txBody>
          <a:bodyPr wrap="square" rtlCol="0" anchor="ctr"/>
          <a:lstStyle/>
          <a:p>
            <a:pPr marL="0" indent="0" algn="ctr">
              <a:buNone/>
            </a:pPr>
            <a:r>
              <a:rPr lang="en-US" sz="5200" dirty="0">
                <a:solidFill>
                  <a:srgbClr val="000000"/>
                </a:solidFill>
              </a:rPr>
              <a:t>🧬</a:t>
            </a:r>
            <a:endParaRPr lang="en-US" sz="5200" dirty="0"/>
          </a:p>
        </p:txBody>
      </p:sp>
      <p:sp>
        <p:nvSpPr>
          <p:cNvPr id="11" name="Shape 9"/>
          <p:cNvSpPr/>
          <p:nvPr/>
        </p:nvSpPr>
        <p:spPr>
          <a:xfrm>
            <a:off x="0" y="4800600"/>
            <a:ext cx="9144000" cy="342900"/>
          </a:xfrm>
          <a:prstGeom prst="rect">
            <a:avLst/>
          </a:prstGeom>
          <a:solidFill>
            <a:srgbClr val="1A3A8F"/>
          </a:solidFill>
          <a:ln w="12700">
            <a:solidFill>
              <a:srgbClr val="000000"/>
            </a:solidFill>
            <a:prstDash val="solid"/>
          </a:ln>
        </p:spPr>
        <p:txBody>
          <a:bodyPr/>
          <a:lstStyle/>
          <a:p>
            <a:endParaRPr lang="en-US"/>
          </a:p>
        </p:txBody>
      </p:sp>
      <p:sp>
        <p:nvSpPr>
          <p:cNvPr id="12" name="Text 10"/>
          <p:cNvSpPr/>
          <p:nvPr/>
        </p:nvSpPr>
        <p:spPr>
          <a:xfrm>
            <a:off x="0" y="4800600"/>
            <a:ext cx="9144000" cy="342900"/>
          </a:xfrm>
          <a:prstGeom prst="rect">
            <a:avLst/>
          </a:prstGeom>
          <a:noFill/>
          <a:ln/>
        </p:spPr>
        <p:txBody>
          <a:bodyPr wrap="square" rtlCol="0" anchor="ctr"/>
          <a:lstStyle/>
          <a:p>
            <a:pPr marL="0" indent="0" algn="ctr">
              <a:buNone/>
            </a:pPr>
            <a:r>
              <a:rPr lang="en-US" sz="1000" dirty="0">
                <a:solidFill>
                  <a:srgbClr val="8BA4CC"/>
                </a:solidFill>
                <a:latin typeface="Baskerville" panose="02020502070401020303" pitchFamily="18" charset="0"/>
                <a:ea typeface="Baskerville" panose="02020502070401020303" pitchFamily="18" charset="0"/>
                <a:cs typeface="Calibri" pitchFamily="34" charset="-120"/>
              </a:rPr>
              <a:t>Final Project Presentation  |  Project in Applied Data Science  |  University of Florida</a:t>
            </a:r>
            <a:endParaRPr lang="en-US" sz="1000" dirty="0">
              <a:latin typeface="Baskerville" panose="02020502070401020303" pitchFamily="18" charset="0"/>
              <a:ea typeface="Baskerville" panose="02020502070401020303" pitchFamily="18" charset="0"/>
            </a:endParaRPr>
          </a:p>
        </p:txBody>
      </p:sp>
      <p:pic>
        <p:nvPicPr>
          <p:cNvPr id="13" name="Image 0" descr="preencoded.png">
            <a:extLst>
              <a:ext uri="{FF2B5EF4-FFF2-40B4-BE49-F238E27FC236}">
                <a16:creationId xmlns:a16="http://schemas.microsoft.com/office/drawing/2014/main" id="{A41AF28F-6A94-332E-6A93-116760F65908}"/>
              </a:ext>
            </a:extLst>
          </p:cNvPr>
          <p:cNvPicPr>
            <a:picLocks noChangeAspect="1"/>
          </p:cNvPicPr>
          <p:nvPr/>
        </p:nvPicPr>
        <p:blipFill>
          <a:blip r:embed="rId3"/>
          <a:stretch>
            <a:fillRect/>
          </a:stretch>
        </p:blipFill>
        <p:spPr>
          <a:xfrm>
            <a:off x="5943600" y="0"/>
            <a:ext cx="3200399" cy="48006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1B4B"/>
          </a:solidFill>
          <a:ln w="12700">
            <a:solidFill>
              <a:srgbClr val="000000"/>
            </a:solidFill>
            <a:prstDash val="solid"/>
          </a:ln>
        </p:spPr>
        <p:txBody>
          <a:bodyPr/>
          <a:lstStyle/>
          <a:p>
            <a:endParaRPr lang="en-US"/>
          </a:p>
        </p:txBody>
      </p:sp>
      <p:sp>
        <p:nvSpPr>
          <p:cNvPr id="3" name="Text 1"/>
          <p:cNvSpPr/>
          <p:nvPr/>
        </p:nvSpPr>
        <p:spPr>
          <a:xfrm>
            <a:off x="365760" y="0"/>
            <a:ext cx="8229600" cy="640080"/>
          </a:xfrm>
          <a:prstGeom prst="rect">
            <a:avLst/>
          </a:prstGeom>
          <a:noFill/>
          <a:ln/>
        </p:spPr>
        <p:txBody>
          <a:bodyPr wrap="square" rtlCol="0" anchor="ctr"/>
          <a:lstStyle/>
          <a:p>
            <a:pPr marL="0" indent="0">
              <a:buNone/>
            </a:pPr>
            <a:r>
              <a:rPr lang="en-US" sz="2200" b="1" dirty="0">
                <a:solidFill>
                  <a:srgbClr val="FFFFFF"/>
                </a:solidFill>
                <a:latin typeface="Baskerville" panose="02020502070401020303" pitchFamily="18" charset="0"/>
                <a:ea typeface="Baskerville" panose="02020502070401020303" pitchFamily="18" charset="0"/>
                <a:cs typeface="Calibri" pitchFamily="34" charset="-120"/>
              </a:rPr>
              <a:t>Problem &amp; Motivation</a:t>
            </a:r>
            <a:endParaRPr lang="en-US" sz="2200" dirty="0">
              <a:latin typeface="Baskerville" panose="02020502070401020303" pitchFamily="18" charset="0"/>
              <a:ea typeface="Baskerville" panose="02020502070401020303" pitchFamily="18" charset="0"/>
            </a:endParaRPr>
          </a:p>
        </p:txBody>
      </p:sp>
      <p:sp>
        <p:nvSpPr>
          <p:cNvPr id="4" name="Text 2"/>
          <p:cNvSpPr/>
          <p:nvPr/>
        </p:nvSpPr>
        <p:spPr>
          <a:xfrm>
            <a:off x="5943600" y="91440"/>
            <a:ext cx="2926080" cy="457200"/>
          </a:xfrm>
          <a:prstGeom prst="rect">
            <a:avLst/>
          </a:prstGeom>
          <a:noFill/>
          <a:ln/>
        </p:spPr>
        <p:txBody>
          <a:bodyPr wrap="square" rtlCol="0" anchor="ctr"/>
          <a:lstStyle/>
          <a:p>
            <a:pPr marL="0" indent="0" algn="r">
              <a:buNone/>
            </a:pPr>
            <a:r>
              <a:rPr lang="en-US" sz="1100" dirty="0">
                <a:solidFill>
                  <a:srgbClr val="8BA4CC"/>
                </a:solidFill>
                <a:latin typeface="Baskerville" panose="02020502070401020303" pitchFamily="18" charset="0"/>
                <a:ea typeface="Baskerville" panose="02020502070401020303" pitchFamily="18" charset="0"/>
                <a:cs typeface="Calibri" pitchFamily="34" charset="-120"/>
              </a:rPr>
              <a:t>Why does this project exist?</a:t>
            </a:r>
            <a:endParaRPr lang="en-US" sz="1100" dirty="0">
              <a:latin typeface="Baskerville" panose="02020502070401020303" pitchFamily="18" charset="0"/>
              <a:ea typeface="Baskerville" panose="02020502070401020303" pitchFamily="18" charset="0"/>
            </a:endParaRPr>
          </a:p>
        </p:txBody>
      </p:sp>
      <p:sp>
        <p:nvSpPr>
          <p:cNvPr id="5" name="Shape 3"/>
          <p:cNvSpPr/>
          <p:nvPr/>
        </p:nvSpPr>
        <p:spPr>
          <a:xfrm>
            <a:off x="320040" y="777240"/>
            <a:ext cx="1920240" cy="1828800"/>
          </a:xfrm>
          <a:prstGeom prst="rect">
            <a:avLst/>
          </a:prstGeom>
          <a:solidFill>
            <a:srgbClr val="FFFFFF"/>
          </a:solidFill>
          <a:ln w="6350">
            <a:solidFill>
              <a:srgbClr val="D8E2F0"/>
            </a:solidFill>
            <a:prstDash val="solid"/>
          </a:ln>
          <a:effectLst>
            <a:outerShdw blurRad="101600" dist="38100" dir="8100000" algn="bl" rotWithShape="0">
              <a:srgbClr val="000000">
                <a:alpha val="18000"/>
              </a:srgbClr>
            </a:outerShdw>
          </a:effectLst>
        </p:spPr>
        <p:txBody>
          <a:bodyPr/>
          <a:lstStyle/>
          <a:p>
            <a:endParaRPr lang="en-US"/>
          </a:p>
        </p:txBody>
      </p:sp>
      <p:sp>
        <p:nvSpPr>
          <p:cNvPr id="6" name="Shape 4"/>
          <p:cNvSpPr/>
          <p:nvPr/>
        </p:nvSpPr>
        <p:spPr>
          <a:xfrm>
            <a:off x="987552" y="850392"/>
            <a:ext cx="594360" cy="594360"/>
          </a:xfrm>
          <a:prstGeom prst="ellipse">
            <a:avLst/>
          </a:prstGeom>
          <a:solidFill>
            <a:srgbClr val="2451B7"/>
          </a:solidFill>
          <a:ln w="12700">
            <a:solidFill>
              <a:srgbClr val="000000"/>
            </a:solidFill>
            <a:prstDash val="solid"/>
          </a:ln>
        </p:spPr>
        <p:txBody>
          <a:bodyPr/>
          <a:lstStyle/>
          <a:p>
            <a:endParaRPr lang="en-US"/>
          </a:p>
        </p:txBody>
      </p:sp>
      <p:sp>
        <p:nvSpPr>
          <p:cNvPr id="7" name="Text 5"/>
          <p:cNvSpPr/>
          <p:nvPr/>
        </p:nvSpPr>
        <p:spPr>
          <a:xfrm>
            <a:off x="987552" y="850392"/>
            <a:ext cx="594360" cy="59436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8" name="Text 6"/>
          <p:cNvSpPr/>
          <p:nvPr/>
        </p:nvSpPr>
        <p:spPr>
          <a:xfrm>
            <a:off x="320040" y="1508760"/>
            <a:ext cx="1920240" cy="365760"/>
          </a:xfrm>
          <a:prstGeom prst="rect">
            <a:avLst/>
          </a:prstGeom>
          <a:noFill/>
          <a:ln/>
        </p:spPr>
        <p:txBody>
          <a:bodyPr wrap="square" rtlCol="0" anchor="ctr"/>
          <a:lstStyle/>
          <a:p>
            <a:pPr marL="0" indent="0" algn="ctr">
              <a:buNone/>
            </a:pPr>
            <a:r>
              <a:rPr lang="en-US" sz="1100" b="1" dirty="0">
                <a:solidFill>
                  <a:srgbClr val="0D1B4B"/>
                </a:solidFill>
                <a:latin typeface="Baskerville" panose="02020502070401020303" pitchFamily="18" charset="0"/>
                <a:ea typeface="Baskerville" panose="02020502070401020303" pitchFamily="18" charset="0"/>
                <a:cs typeface="Calibri" pitchFamily="34" charset="-120"/>
              </a:rPr>
              <a:t>Lack of Evaluation</a:t>
            </a:r>
            <a:endParaRPr lang="en-US" sz="1100" dirty="0">
              <a:latin typeface="Baskerville" panose="02020502070401020303" pitchFamily="18" charset="0"/>
              <a:ea typeface="Baskerville" panose="02020502070401020303" pitchFamily="18" charset="0"/>
            </a:endParaRPr>
          </a:p>
        </p:txBody>
      </p:sp>
      <p:sp>
        <p:nvSpPr>
          <p:cNvPr id="9" name="Text 7"/>
          <p:cNvSpPr/>
          <p:nvPr/>
        </p:nvSpPr>
        <p:spPr>
          <a:xfrm>
            <a:off x="429768" y="1874520"/>
            <a:ext cx="1700784" cy="685800"/>
          </a:xfrm>
          <a:prstGeom prst="rect">
            <a:avLst/>
          </a:prstGeom>
          <a:noFill/>
          <a:ln/>
        </p:spPr>
        <p:txBody>
          <a:bodyPr wrap="square" rtlCol="0" anchor="ctr"/>
          <a:lstStyle/>
          <a:p>
            <a:pPr marL="0" indent="0" algn="ctr">
              <a:buNone/>
            </a:pPr>
            <a:r>
              <a:rPr lang="en-US" sz="950" dirty="0">
                <a:solidFill>
                  <a:srgbClr val="444466"/>
                </a:solidFill>
                <a:latin typeface="Baskerville" panose="02020502070401020303" pitchFamily="18" charset="0"/>
                <a:ea typeface="Baskerville" panose="02020502070401020303" pitchFamily="18" charset="0"/>
                <a:cs typeface="Calibri" pitchFamily="34" charset="-120"/>
              </a:rPr>
              <a:t>Pretrained biological LMs lack systematic task-level comparison against baselines</a:t>
            </a:r>
            <a:endParaRPr lang="en-US" sz="950" dirty="0">
              <a:latin typeface="Baskerville" panose="02020502070401020303" pitchFamily="18" charset="0"/>
              <a:ea typeface="Baskerville" panose="02020502070401020303" pitchFamily="18" charset="0"/>
            </a:endParaRPr>
          </a:p>
        </p:txBody>
      </p:sp>
      <p:sp>
        <p:nvSpPr>
          <p:cNvPr id="10" name="Shape 8"/>
          <p:cNvSpPr/>
          <p:nvPr/>
        </p:nvSpPr>
        <p:spPr>
          <a:xfrm>
            <a:off x="2468880" y="777240"/>
            <a:ext cx="1920240" cy="1828800"/>
          </a:xfrm>
          <a:prstGeom prst="rect">
            <a:avLst/>
          </a:prstGeom>
          <a:solidFill>
            <a:srgbClr val="FFFFFF"/>
          </a:solidFill>
          <a:ln w="6350">
            <a:solidFill>
              <a:srgbClr val="D8E2F0"/>
            </a:solidFill>
            <a:prstDash val="solid"/>
          </a:ln>
          <a:effectLst>
            <a:outerShdw blurRad="101600" dist="38100" dir="8100000" algn="bl" rotWithShape="0">
              <a:srgbClr val="000000">
                <a:alpha val="18000"/>
              </a:srgbClr>
            </a:outerShdw>
          </a:effectLst>
        </p:spPr>
        <p:txBody>
          <a:bodyPr/>
          <a:lstStyle/>
          <a:p>
            <a:endParaRPr lang="en-US"/>
          </a:p>
        </p:txBody>
      </p:sp>
      <p:sp>
        <p:nvSpPr>
          <p:cNvPr id="11" name="Shape 9"/>
          <p:cNvSpPr/>
          <p:nvPr/>
        </p:nvSpPr>
        <p:spPr>
          <a:xfrm>
            <a:off x="3136392" y="850392"/>
            <a:ext cx="594360" cy="594360"/>
          </a:xfrm>
          <a:prstGeom prst="ellipse">
            <a:avLst/>
          </a:prstGeom>
          <a:solidFill>
            <a:srgbClr val="2451B7"/>
          </a:solidFill>
          <a:ln w="12700">
            <a:solidFill>
              <a:srgbClr val="000000"/>
            </a:solidFill>
            <a:prstDash val="solid"/>
          </a:ln>
        </p:spPr>
        <p:txBody>
          <a:bodyPr/>
          <a:lstStyle/>
          <a:p>
            <a:endParaRPr lang="en-US"/>
          </a:p>
        </p:txBody>
      </p:sp>
      <p:sp>
        <p:nvSpPr>
          <p:cNvPr id="12" name="Text 10"/>
          <p:cNvSpPr/>
          <p:nvPr/>
        </p:nvSpPr>
        <p:spPr>
          <a:xfrm>
            <a:off x="3136392" y="850392"/>
            <a:ext cx="594360" cy="59436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13" name="Text 11"/>
          <p:cNvSpPr/>
          <p:nvPr/>
        </p:nvSpPr>
        <p:spPr>
          <a:xfrm>
            <a:off x="2468880" y="1508760"/>
            <a:ext cx="1920240" cy="365760"/>
          </a:xfrm>
          <a:prstGeom prst="rect">
            <a:avLst/>
          </a:prstGeom>
          <a:noFill/>
          <a:ln/>
        </p:spPr>
        <p:txBody>
          <a:bodyPr wrap="square" rtlCol="0" anchor="ctr"/>
          <a:lstStyle/>
          <a:p>
            <a:pPr marL="0" indent="0" algn="ctr">
              <a:buNone/>
            </a:pPr>
            <a:r>
              <a:rPr lang="en-US" sz="1100" b="1" dirty="0">
                <a:solidFill>
                  <a:srgbClr val="0D1B4B"/>
                </a:solidFill>
                <a:latin typeface="Baskerville" panose="02020502070401020303" pitchFamily="18" charset="0"/>
                <a:ea typeface="Baskerville" panose="02020502070401020303" pitchFamily="18" charset="0"/>
                <a:cs typeface="Calibri" pitchFamily="34" charset="-120"/>
              </a:rPr>
              <a:t>Black-Box Usage</a:t>
            </a:r>
            <a:endParaRPr lang="en-US" sz="1100" dirty="0">
              <a:latin typeface="Baskerville" panose="02020502070401020303" pitchFamily="18" charset="0"/>
              <a:ea typeface="Baskerville" panose="02020502070401020303" pitchFamily="18" charset="0"/>
            </a:endParaRPr>
          </a:p>
        </p:txBody>
      </p:sp>
      <p:sp>
        <p:nvSpPr>
          <p:cNvPr id="14" name="Text 12"/>
          <p:cNvSpPr/>
          <p:nvPr/>
        </p:nvSpPr>
        <p:spPr>
          <a:xfrm>
            <a:off x="2578608" y="1874520"/>
            <a:ext cx="1700784" cy="685800"/>
          </a:xfrm>
          <a:prstGeom prst="rect">
            <a:avLst/>
          </a:prstGeom>
          <a:noFill/>
          <a:ln/>
        </p:spPr>
        <p:txBody>
          <a:bodyPr wrap="square" rtlCol="0" anchor="ctr"/>
          <a:lstStyle/>
          <a:p>
            <a:pPr marL="0" indent="0" algn="ctr">
              <a:buNone/>
            </a:pPr>
            <a:r>
              <a:rPr lang="en-US" sz="950" dirty="0">
                <a:solidFill>
                  <a:srgbClr val="444466"/>
                </a:solidFill>
                <a:latin typeface="Baskerville" panose="02020502070401020303" pitchFamily="18" charset="0"/>
                <a:ea typeface="Baskerville" panose="02020502070401020303" pitchFamily="18" charset="0"/>
                <a:cs typeface="Calibri" pitchFamily="34" charset="-120"/>
              </a:rPr>
              <a:t>Often used as feature extractors without validation of when they actually help</a:t>
            </a:r>
            <a:endParaRPr lang="en-US" sz="950" dirty="0">
              <a:latin typeface="Baskerville" panose="02020502070401020303" pitchFamily="18" charset="0"/>
              <a:ea typeface="Baskerville" panose="02020502070401020303" pitchFamily="18" charset="0"/>
            </a:endParaRPr>
          </a:p>
        </p:txBody>
      </p:sp>
      <p:sp>
        <p:nvSpPr>
          <p:cNvPr id="15" name="Shape 13"/>
          <p:cNvSpPr/>
          <p:nvPr/>
        </p:nvSpPr>
        <p:spPr>
          <a:xfrm>
            <a:off x="4617720" y="777240"/>
            <a:ext cx="1920240" cy="1828800"/>
          </a:xfrm>
          <a:prstGeom prst="rect">
            <a:avLst/>
          </a:prstGeom>
          <a:solidFill>
            <a:srgbClr val="FFFFFF"/>
          </a:solidFill>
          <a:ln w="6350">
            <a:solidFill>
              <a:srgbClr val="D8E2F0"/>
            </a:solidFill>
            <a:prstDash val="solid"/>
          </a:ln>
          <a:effectLst>
            <a:outerShdw blurRad="101600" dist="38100" dir="8100000" algn="bl" rotWithShape="0">
              <a:srgbClr val="000000">
                <a:alpha val="18000"/>
              </a:srgbClr>
            </a:outerShdw>
          </a:effectLst>
        </p:spPr>
        <p:txBody>
          <a:bodyPr/>
          <a:lstStyle/>
          <a:p>
            <a:endParaRPr lang="en-US"/>
          </a:p>
        </p:txBody>
      </p:sp>
      <p:sp>
        <p:nvSpPr>
          <p:cNvPr id="16" name="Shape 14"/>
          <p:cNvSpPr/>
          <p:nvPr/>
        </p:nvSpPr>
        <p:spPr>
          <a:xfrm>
            <a:off x="5285232" y="850392"/>
            <a:ext cx="594360" cy="594360"/>
          </a:xfrm>
          <a:prstGeom prst="ellipse">
            <a:avLst/>
          </a:prstGeom>
          <a:solidFill>
            <a:srgbClr val="2451B7"/>
          </a:solidFill>
          <a:ln w="12700">
            <a:solidFill>
              <a:srgbClr val="000000"/>
            </a:solidFill>
            <a:prstDash val="solid"/>
          </a:ln>
        </p:spPr>
        <p:txBody>
          <a:bodyPr/>
          <a:lstStyle/>
          <a:p>
            <a:endParaRPr lang="en-US"/>
          </a:p>
        </p:txBody>
      </p:sp>
      <p:sp>
        <p:nvSpPr>
          <p:cNvPr id="17" name="Text 15"/>
          <p:cNvSpPr/>
          <p:nvPr/>
        </p:nvSpPr>
        <p:spPr>
          <a:xfrm>
            <a:off x="5285232" y="850392"/>
            <a:ext cx="594360" cy="59436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18" name="Text 16"/>
          <p:cNvSpPr/>
          <p:nvPr/>
        </p:nvSpPr>
        <p:spPr>
          <a:xfrm>
            <a:off x="4617720" y="1508760"/>
            <a:ext cx="1920240" cy="365760"/>
          </a:xfrm>
          <a:prstGeom prst="rect">
            <a:avLst/>
          </a:prstGeom>
          <a:noFill/>
          <a:ln/>
        </p:spPr>
        <p:txBody>
          <a:bodyPr wrap="square" rtlCol="0" anchor="ctr"/>
          <a:lstStyle/>
          <a:p>
            <a:pPr marL="0" indent="0" algn="ctr">
              <a:buNone/>
            </a:pPr>
            <a:r>
              <a:rPr lang="en-US" sz="1100" b="1" dirty="0">
                <a:solidFill>
                  <a:srgbClr val="0D1B4B"/>
                </a:solidFill>
                <a:latin typeface="Baskerville" panose="02020502070401020303" pitchFamily="18" charset="0"/>
                <a:ea typeface="Baskerville" panose="02020502070401020303" pitchFamily="18" charset="0"/>
                <a:cs typeface="Calibri" pitchFamily="34" charset="-120"/>
              </a:rPr>
              <a:t>Unclear Performance</a:t>
            </a:r>
            <a:endParaRPr lang="en-US" sz="1100" dirty="0">
              <a:latin typeface="Baskerville" panose="02020502070401020303" pitchFamily="18" charset="0"/>
              <a:ea typeface="Baskerville" panose="02020502070401020303" pitchFamily="18" charset="0"/>
            </a:endParaRPr>
          </a:p>
        </p:txBody>
      </p:sp>
      <p:sp>
        <p:nvSpPr>
          <p:cNvPr id="19" name="Text 17"/>
          <p:cNvSpPr/>
          <p:nvPr/>
        </p:nvSpPr>
        <p:spPr>
          <a:xfrm>
            <a:off x="4727448" y="1874520"/>
            <a:ext cx="1700784" cy="685800"/>
          </a:xfrm>
          <a:prstGeom prst="rect">
            <a:avLst/>
          </a:prstGeom>
          <a:noFill/>
          <a:ln/>
        </p:spPr>
        <p:txBody>
          <a:bodyPr wrap="square" rtlCol="0" anchor="ctr"/>
          <a:lstStyle/>
          <a:p>
            <a:pPr marL="0" indent="0" algn="ctr">
              <a:buNone/>
            </a:pPr>
            <a:r>
              <a:rPr lang="en-US" sz="950" dirty="0">
                <a:solidFill>
                  <a:srgbClr val="444466"/>
                </a:solidFill>
                <a:latin typeface="Baskerville" panose="02020502070401020303" pitchFamily="18" charset="0"/>
                <a:ea typeface="Baskerville" panose="02020502070401020303" pitchFamily="18" charset="0"/>
                <a:cs typeface="Calibri" pitchFamily="34" charset="-120"/>
              </a:rPr>
              <a:t>No clear guidance on when transformers outperform classical ML approaches</a:t>
            </a:r>
            <a:endParaRPr lang="en-US" sz="950" dirty="0">
              <a:latin typeface="Baskerville" panose="02020502070401020303" pitchFamily="18" charset="0"/>
              <a:ea typeface="Baskerville" panose="02020502070401020303" pitchFamily="18" charset="0"/>
            </a:endParaRPr>
          </a:p>
        </p:txBody>
      </p:sp>
      <p:sp>
        <p:nvSpPr>
          <p:cNvPr id="20" name="Shape 18"/>
          <p:cNvSpPr/>
          <p:nvPr/>
        </p:nvSpPr>
        <p:spPr>
          <a:xfrm>
            <a:off x="6766560" y="777240"/>
            <a:ext cx="1920240" cy="1828800"/>
          </a:xfrm>
          <a:prstGeom prst="rect">
            <a:avLst/>
          </a:prstGeom>
          <a:solidFill>
            <a:srgbClr val="FFFFFF"/>
          </a:solidFill>
          <a:ln w="6350">
            <a:solidFill>
              <a:srgbClr val="D8E2F0"/>
            </a:solidFill>
            <a:prstDash val="solid"/>
          </a:ln>
          <a:effectLst>
            <a:outerShdw blurRad="101600" dist="38100" dir="8100000" algn="bl" rotWithShape="0">
              <a:srgbClr val="000000">
                <a:alpha val="18000"/>
              </a:srgbClr>
            </a:outerShdw>
          </a:effectLst>
        </p:spPr>
        <p:txBody>
          <a:bodyPr/>
          <a:lstStyle/>
          <a:p>
            <a:endParaRPr lang="en-US"/>
          </a:p>
        </p:txBody>
      </p:sp>
      <p:sp>
        <p:nvSpPr>
          <p:cNvPr id="21" name="Shape 19"/>
          <p:cNvSpPr/>
          <p:nvPr/>
        </p:nvSpPr>
        <p:spPr>
          <a:xfrm>
            <a:off x="7434072" y="850392"/>
            <a:ext cx="594360" cy="594360"/>
          </a:xfrm>
          <a:prstGeom prst="ellipse">
            <a:avLst/>
          </a:prstGeom>
          <a:solidFill>
            <a:srgbClr val="2451B7"/>
          </a:solidFill>
          <a:ln w="12700">
            <a:solidFill>
              <a:srgbClr val="000000"/>
            </a:solidFill>
            <a:prstDash val="solid"/>
          </a:ln>
        </p:spPr>
        <p:txBody>
          <a:bodyPr/>
          <a:lstStyle/>
          <a:p>
            <a:endParaRPr lang="en-US"/>
          </a:p>
        </p:txBody>
      </p:sp>
      <p:sp>
        <p:nvSpPr>
          <p:cNvPr id="22" name="Text 20"/>
          <p:cNvSpPr/>
          <p:nvPr/>
        </p:nvSpPr>
        <p:spPr>
          <a:xfrm>
            <a:off x="7434072" y="850392"/>
            <a:ext cx="594360" cy="59436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23" name="Text 21"/>
          <p:cNvSpPr/>
          <p:nvPr/>
        </p:nvSpPr>
        <p:spPr>
          <a:xfrm>
            <a:off x="6766560" y="1508760"/>
            <a:ext cx="1920240" cy="365760"/>
          </a:xfrm>
          <a:prstGeom prst="rect">
            <a:avLst/>
          </a:prstGeom>
          <a:noFill/>
          <a:ln/>
        </p:spPr>
        <p:txBody>
          <a:bodyPr wrap="square" rtlCol="0" anchor="ctr"/>
          <a:lstStyle/>
          <a:p>
            <a:pPr marL="0" indent="0" algn="ctr">
              <a:buNone/>
            </a:pPr>
            <a:r>
              <a:rPr lang="en-US" sz="1100" b="1" dirty="0">
                <a:solidFill>
                  <a:srgbClr val="0D1B4B"/>
                </a:solidFill>
                <a:latin typeface="Baskerville" panose="02020502070401020303" pitchFamily="18" charset="0"/>
                <a:ea typeface="Baskerville" panose="02020502070401020303" pitchFamily="18" charset="0"/>
                <a:cs typeface="Calibri" pitchFamily="34" charset="-120"/>
              </a:rPr>
              <a:t>Limited Guidance</a:t>
            </a:r>
            <a:endParaRPr lang="en-US" sz="1100" dirty="0">
              <a:latin typeface="Baskerville" panose="02020502070401020303" pitchFamily="18" charset="0"/>
              <a:ea typeface="Baskerville" panose="02020502070401020303" pitchFamily="18" charset="0"/>
            </a:endParaRPr>
          </a:p>
        </p:txBody>
      </p:sp>
      <p:sp>
        <p:nvSpPr>
          <p:cNvPr id="24" name="Text 22"/>
          <p:cNvSpPr/>
          <p:nvPr/>
        </p:nvSpPr>
        <p:spPr>
          <a:xfrm>
            <a:off x="6876288" y="1874520"/>
            <a:ext cx="1700784" cy="685800"/>
          </a:xfrm>
          <a:prstGeom prst="rect">
            <a:avLst/>
          </a:prstGeom>
          <a:noFill/>
          <a:ln/>
        </p:spPr>
        <p:txBody>
          <a:bodyPr wrap="square" rtlCol="0" anchor="ctr"/>
          <a:lstStyle/>
          <a:p>
            <a:pPr marL="0" indent="0" algn="ctr">
              <a:buNone/>
            </a:pPr>
            <a:r>
              <a:rPr lang="en-US" sz="950" dirty="0">
                <a:solidFill>
                  <a:srgbClr val="444466"/>
                </a:solidFill>
                <a:latin typeface="Baskerville" panose="02020502070401020303" pitchFamily="18" charset="0"/>
                <a:ea typeface="Baskerville" panose="02020502070401020303" pitchFamily="18" charset="0"/>
                <a:cs typeface="Calibri" pitchFamily="34" charset="-120"/>
              </a:rPr>
              <a:t>Practitioners lack structured criteria for model selection in bio sequence tasks</a:t>
            </a:r>
            <a:endParaRPr lang="en-US" sz="950" dirty="0">
              <a:latin typeface="Baskerville" panose="02020502070401020303" pitchFamily="18" charset="0"/>
              <a:ea typeface="Baskerville" panose="02020502070401020303" pitchFamily="18" charset="0"/>
            </a:endParaRPr>
          </a:p>
        </p:txBody>
      </p:sp>
      <p:sp>
        <p:nvSpPr>
          <p:cNvPr id="25" name="Shape 23"/>
          <p:cNvSpPr/>
          <p:nvPr/>
        </p:nvSpPr>
        <p:spPr>
          <a:xfrm>
            <a:off x="320040" y="2743200"/>
            <a:ext cx="8503920" cy="868680"/>
          </a:xfrm>
          <a:prstGeom prst="rect">
            <a:avLst/>
          </a:prstGeom>
          <a:solidFill>
            <a:srgbClr val="2451B7"/>
          </a:solidFill>
          <a:ln w="12700">
            <a:solidFill>
              <a:srgbClr val="000000"/>
            </a:solidFill>
            <a:prstDash val="solid"/>
          </a:ln>
          <a:effectLst>
            <a:outerShdw blurRad="101600" dist="38100" dir="8100000" algn="bl" rotWithShape="0">
              <a:srgbClr val="000000">
                <a:alpha val="18000"/>
              </a:srgbClr>
            </a:outerShdw>
          </a:effectLst>
        </p:spPr>
        <p:txBody>
          <a:bodyPr/>
          <a:lstStyle/>
          <a:p>
            <a:endParaRPr lang="en-US"/>
          </a:p>
        </p:txBody>
      </p:sp>
      <p:sp>
        <p:nvSpPr>
          <p:cNvPr id="26" name="Text 24"/>
          <p:cNvSpPr/>
          <p:nvPr/>
        </p:nvSpPr>
        <p:spPr>
          <a:xfrm>
            <a:off x="457200" y="2743200"/>
            <a:ext cx="8321040" cy="868680"/>
          </a:xfrm>
          <a:prstGeom prst="rect">
            <a:avLst/>
          </a:prstGeom>
          <a:noFill/>
          <a:ln/>
        </p:spPr>
        <p:txBody>
          <a:bodyPr wrap="square" rtlCol="0" anchor="ctr"/>
          <a:lstStyle/>
          <a:p>
            <a:pPr marL="0" indent="0">
              <a:buNone/>
            </a:pPr>
            <a:r>
              <a:rPr lang="en-US" sz="1300" b="1" dirty="0">
                <a:solidFill>
                  <a:srgbClr val="E8A838"/>
                </a:solidFill>
                <a:latin typeface="Baskerville" panose="02020502070401020303" pitchFamily="18" charset="0"/>
                <a:ea typeface="Baskerville" panose="02020502070401020303" pitchFamily="18" charset="0"/>
                <a:cs typeface="Calibri" pitchFamily="34" charset="-120"/>
              </a:rPr>
              <a:t>Central Question:  </a:t>
            </a:r>
            <a:r>
              <a:rPr lang="en-US" sz="1300" dirty="0">
                <a:solidFill>
                  <a:srgbClr val="FFFFFF"/>
                </a:solidFill>
                <a:latin typeface="Baskerville" panose="02020502070401020303" pitchFamily="18" charset="0"/>
                <a:ea typeface="Baskerville" panose="02020502070401020303" pitchFamily="18" charset="0"/>
                <a:cs typeface="Calibri" pitchFamily="34" charset="-120"/>
              </a:rPr>
              <a:t>Do large pretrained biological language models consistently outperform engineered baselines — or is their advantage task-dependent?</a:t>
            </a:r>
            <a:endParaRPr lang="en-US" sz="1300" dirty="0">
              <a:latin typeface="Baskerville" panose="02020502070401020303" pitchFamily="18" charset="0"/>
              <a:ea typeface="Baskerville" panose="02020502070401020303" pitchFamily="18" charset="0"/>
            </a:endParaRPr>
          </a:p>
        </p:txBody>
      </p:sp>
      <p:sp>
        <p:nvSpPr>
          <p:cNvPr id="27" name="Text 25"/>
          <p:cNvSpPr/>
          <p:nvPr/>
        </p:nvSpPr>
        <p:spPr>
          <a:xfrm>
            <a:off x="320040" y="3703320"/>
            <a:ext cx="8503920" cy="274320"/>
          </a:xfrm>
          <a:prstGeom prst="rect">
            <a:avLst/>
          </a:prstGeom>
          <a:noFill/>
          <a:ln/>
        </p:spPr>
        <p:txBody>
          <a:bodyPr wrap="square" rtlCol="0" anchor="ctr"/>
          <a:lstStyle/>
          <a:p>
            <a:pPr marL="0" indent="0">
              <a:buNone/>
            </a:pPr>
            <a:r>
              <a:rPr lang="en-US" sz="1200" b="1" dirty="0">
                <a:solidFill>
                  <a:srgbClr val="0D1B4B"/>
                </a:solidFill>
                <a:latin typeface="Baskerville" panose="02020502070401020303" pitchFamily="18" charset="0"/>
                <a:ea typeface="Baskerville" panose="02020502070401020303" pitchFamily="18" charset="0"/>
                <a:cs typeface="Calibri" pitchFamily="34" charset="-120"/>
              </a:rPr>
              <a:t>Success Criteria</a:t>
            </a:r>
            <a:endParaRPr lang="en-US" sz="1200" dirty="0">
              <a:latin typeface="Baskerville" panose="02020502070401020303" pitchFamily="18" charset="0"/>
              <a:ea typeface="Baskerville" panose="02020502070401020303" pitchFamily="18" charset="0"/>
            </a:endParaRPr>
          </a:p>
        </p:txBody>
      </p:sp>
      <p:sp>
        <p:nvSpPr>
          <p:cNvPr id="28" name="Shape 26"/>
          <p:cNvSpPr/>
          <p:nvPr/>
        </p:nvSpPr>
        <p:spPr>
          <a:xfrm>
            <a:off x="320040" y="3977640"/>
            <a:ext cx="1920240" cy="960120"/>
          </a:xfrm>
          <a:prstGeom prst="rect">
            <a:avLst/>
          </a:prstGeom>
          <a:solidFill>
            <a:srgbClr val="EBF3FF"/>
          </a:solidFill>
          <a:ln w="12700">
            <a:solidFill>
              <a:srgbClr val="4A90D9"/>
            </a:solidFill>
            <a:prstDash val="solid"/>
          </a:ln>
        </p:spPr>
        <p:txBody>
          <a:bodyPr/>
          <a:lstStyle/>
          <a:p>
            <a:endParaRPr lang="en-US"/>
          </a:p>
        </p:txBody>
      </p:sp>
      <p:sp>
        <p:nvSpPr>
          <p:cNvPr id="29" name="Text 27"/>
          <p:cNvSpPr/>
          <p:nvPr/>
        </p:nvSpPr>
        <p:spPr>
          <a:xfrm>
            <a:off x="320040" y="4005072"/>
            <a:ext cx="1920240" cy="347472"/>
          </a:xfrm>
          <a:prstGeom prst="rect">
            <a:avLst/>
          </a:prstGeom>
          <a:noFill/>
          <a:ln/>
        </p:spPr>
        <p:txBody>
          <a:bodyPr wrap="square" rtlCol="0" anchor="ctr"/>
          <a:lstStyle/>
          <a:p>
            <a:pPr marL="0" indent="0" algn="ctr">
              <a:buNone/>
            </a:pPr>
            <a:r>
              <a:rPr lang="en-US" sz="1000" b="1" dirty="0">
                <a:solidFill>
                  <a:srgbClr val="2451B7"/>
                </a:solidFill>
                <a:latin typeface="Baskerville" panose="02020502070401020303" pitchFamily="18" charset="0"/>
                <a:ea typeface="Baskerville" panose="02020502070401020303" pitchFamily="18" charset="0"/>
                <a:cs typeface="Calibri" pitchFamily="34" charset="-120"/>
              </a:rPr>
              <a:t>Transformer Advantage</a:t>
            </a:r>
            <a:endParaRPr lang="en-US" sz="1000" dirty="0">
              <a:latin typeface="Baskerville" panose="02020502070401020303" pitchFamily="18" charset="0"/>
              <a:ea typeface="Baskerville" panose="02020502070401020303" pitchFamily="18" charset="0"/>
            </a:endParaRPr>
          </a:p>
        </p:txBody>
      </p:sp>
      <p:sp>
        <p:nvSpPr>
          <p:cNvPr id="30" name="Text 28"/>
          <p:cNvSpPr/>
          <p:nvPr/>
        </p:nvSpPr>
        <p:spPr>
          <a:xfrm>
            <a:off x="411480" y="4343400"/>
            <a:ext cx="1737360" cy="548640"/>
          </a:xfrm>
          <a:prstGeom prst="rect">
            <a:avLst/>
          </a:prstGeom>
          <a:noFill/>
          <a:ln/>
        </p:spPr>
        <p:txBody>
          <a:bodyPr wrap="square" rtlCol="0" anchor="ctr"/>
          <a:lstStyle/>
          <a:p>
            <a:pPr marL="0" indent="0" algn="ctr">
              <a:buNone/>
            </a:pPr>
            <a:r>
              <a:rPr lang="en-US" sz="900" dirty="0">
                <a:solidFill>
                  <a:srgbClr val="334466"/>
                </a:solidFill>
                <a:latin typeface="Baskerville" panose="02020502070401020303" pitchFamily="18" charset="0"/>
                <a:ea typeface="Baskerville" panose="02020502070401020303" pitchFamily="18" charset="0"/>
                <a:cs typeface="Calibri" pitchFamily="34" charset="-120"/>
              </a:rPr>
              <a:t>Identify when transformers outperform other methods</a:t>
            </a:r>
            <a:endParaRPr lang="en-US" sz="900" dirty="0">
              <a:latin typeface="Baskerville" panose="02020502070401020303" pitchFamily="18" charset="0"/>
              <a:ea typeface="Baskerville" panose="02020502070401020303" pitchFamily="18" charset="0"/>
            </a:endParaRPr>
          </a:p>
        </p:txBody>
      </p:sp>
      <p:sp>
        <p:nvSpPr>
          <p:cNvPr id="31" name="Shape 29"/>
          <p:cNvSpPr/>
          <p:nvPr/>
        </p:nvSpPr>
        <p:spPr>
          <a:xfrm>
            <a:off x="2468880" y="3977640"/>
            <a:ext cx="1920240" cy="960120"/>
          </a:xfrm>
          <a:prstGeom prst="rect">
            <a:avLst/>
          </a:prstGeom>
          <a:solidFill>
            <a:srgbClr val="EBF3FF"/>
          </a:solidFill>
          <a:ln w="12700">
            <a:solidFill>
              <a:srgbClr val="4A90D9"/>
            </a:solidFill>
            <a:prstDash val="solid"/>
          </a:ln>
        </p:spPr>
        <p:txBody>
          <a:bodyPr/>
          <a:lstStyle/>
          <a:p>
            <a:endParaRPr lang="en-US"/>
          </a:p>
        </p:txBody>
      </p:sp>
      <p:sp>
        <p:nvSpPr>
          <p:cNvPr id="32" name="Text 30"/>
          <p:cNvSpPr/>
          <p:nvPr/>
        </p:nvSpPr>
        <p:spPr>
          <a:xfrm>
            <a:off x="2468880" y="4005072"/>
            <a:ext cx="1920240" cy="347472"/>
          </a:xfrm>
          <a:prstGeom prst="rect">
            <a:avLst/>
          </a:prstGeom>
          <a:noFill/>
          <a:ln/>
        </p:spPr>
        <p:txBody>
          <a:bodyPr wrap="square" rtlCol="0" anchor="ctr"/>
          <a:lstStyle/>
          <a:p>
            <a:pPr marL="0" indent="0" algn="ctr">
              <a:buNone/>
            </a:pPr>
            <a:r>
              <a:rPr lang="en-US" sz="1000" b="1" dirty="0">
                <a:solidFill>
                  <a:srgbClr val="2451B7"/>
                </a:solidFill>
                <a:latin typeface="Baskerville" panose="02020502070401020303" pitchFamily="18" charset="0"/>
                <a:ea typeface="Baskerville" panose="02020502070401020303" pitchFamily="18" charset="0"/>
                <a:cs typeface="Calibri" pitchFamily="34" charset="-120"/>
              </a:rPr>
              <a:t>Measurable Improvement</a:t>
            </a:r>
            <a:endParaRPr lang="en-US" sz="1000" dirty="0">
              <a:latin typeface="Baskerville" panose="02020502070401020303" pitchFamily="18" charset="0"/>
              <a:ea typeface="Baskerville" panose="02020502070401020303" pitchFamily="18" charset="0"/>
            </a:endParaRPr>
          </a:p>
        </p:txBody>
      </p:sp>
      <p:sp>
        <p:nvSpPr>
          <p:cNvPr id="33" name="Text 31"/>
          <p:cNvSpPr/>
          <p:nvPr/>
        </p:nvSpPr>
        <p:spPr>
          <a:xfrm>
            <a:off x="2560320" y="4343400"/>
            <a:ext cx="1737360" cy="548640"/>
          </a:xfrm>
          <a:prstGeom prst="rect">
            <a:avLst/>
          </a:prstGeom>
          <a:noFill/>
          <a:ln/>
        </p:spPr>
        <p:txBody>
          <a:bodyPr wrap="square" rtlCol="0" anchor="ctr"/>
          <a:lstStyle/>
          <a:p>
            <a:pPr marL="0" indent="0" algn="ctr">
              <a:buNone/>
            </a:pPr>
            <a:r>
              <a:rPr lang="en-US" sz="900" dirty="0">
                <a:solidFill>
                  <a:srgbClr val="334466"/>
                </a:solidFill>
                <a:latin typeface="Baskerville" panose="02020502070401020303" pitchFamily="18" charset="0"/>
                <a:ea typeface="Baskerville" panose="02020502070401020303" pitchFamily="18" charset="0"/>
                <a:cs typeface="Calibri" pitchFamily="34" charset="-120"/>
              </a:rPr>
              <a:t>Demonstrate quantified progress beyond baselines</a:t>
            </a:r>
            <a:endParaRPr lang="en-US" sz="900" dirty="0">
              <a:latin typeface="Baskerville" panose="02020502070401020303" pitchFamily="18" charset="0"/>
              <a:ea typeface="Baskerville" panose="02020502070401020303" pitchFamily="18" charset="0"/>
            </a:endParaRPr>
          </a:p>
        </p:txBody>
      </p:sp>
      <p:sp>
        <p:nvSpPr>
          <p:cNvPr id="34" name="Shape 32"/>
          <p:cNvSpPr/>
          <p:nvPr/>
        </p:nvSpPr>
        <p:spPr>
          <a:xfrm>
            <a:off x="4617720" y="3977640"/>
            <a:ext cx="1920240" cy="960120"/>
          </a:xfrm>
          <a:prstGeom prst="rect">
            <a:avLst/>
          </a:prstGeom>
          <a:solidFill>
            <a:srgbClr val="EBF3FF"/>
          </a:solidFill>
          <a:ln w="12700">
            <a:solidFill>
              <a:srgbClr val="4A90D9"/>
            </a:solidFill>
            <a:prstDash val="solid"/>
          </a:ln>
        </p:spPr>
        <p:txBody>
          <a:bodyPr/>
          <a:lstStyle/>
          <a:p>
            <a:endParaRPr lang="en-US"/>
          </a:p>
        </p:txBody>
      </p:sp>
      <p:sp>
        <p:nvSpPr>
          <p:cNvPr id="35" name="Text 33"/>
          <p:cNvSpPr/>
          <p:nvPr/>
        </p:nvSpPr>
        <p:spPr>
          <a:xfrm>
            <a:off x="4617720" y="4005072"/>
            <a:ext cx="1920240" cy="347472"/>
          </a:xfrm>
          <a:prstGeom prst="rect">
            <a:avLst/>
          </a:prstGeom>
          <a:noFill/>
          <a:ln/>
        </p:spPr>
        <p:txBody>
          <a:bodyPr wrap="square" rtlCol="0" anchor="ctr"/>
          <a:lstStyle/>
          <a:p>
            <a:pPr marL="0" indent="0" algn="ctr">
              <a:buNone/>
            </a:pPr>
            <a:r>
              <a:rPr lang="en-US" sz="1000" b="1" dirty="0">
                <a:solidFill>
                  <a:srgbClr val="2451B7"/>
                </a:solidFill>
                <a:latin typeface="Baskerville" panose="02020502070401020303" pitchFamily="18" charset="0"/>
                <a:ea typeface="Baskerville" panose="02020502070401020303" pitchFamily="18" charset="0"/>
                <a:cs typeface="Calibri" pitchFamily="34" charset="-120"/>
              </a:rPr>
              <a:t>Reproducible Evaluation</a:t>
            </a:r>
            <a:endParaRPr lang="en-US" sz="1000" dirty="0">
              <a:latin typeface="Baskerville" panose="02020502070401020303" pitchFamily="18" charset="0"/>
              <a:ea typeface="Baskerville" panose="02020502070401020303" pitchFamily="18" charset="0"/>
            </a:endParaRPr>
          </a:p>
        </p:txBody>
      </p:sp>
      <p:sp>
        <p:nvSpPr>
          <p:cNvPr id="36" name="Text 34"/>
          <p:cNvSpPr/>
          <p:nvPr/>
        </p:nvSpPr>
        <p:spPr>
          <a:xfrm>
            <a:off x="4709160" y="4343400"/>
            <a:ext cx="1737360" cy="548640"/>
          </a:xfrm>
          <a:prstGeom prst="rect">
            <a:avLst/>
          </a:prstGeom>
          <a:noFill/>
          <a:ln/>
        </p:spPr>
        <p:txBody>
          <a:bodyPr wrap="square" rtlCol="0" anchor="ctr"/>
          <a:lstStyle/>
          <a:p>
            <a:pPr marL="0" indent="0" algn="ctr">
              <a:buNone/>
            </a:pPr>
            <a:r>
              <a:rPr lang="en-US" sz="900" dirty="0">
                <a:solidFill>
                  <a:srgbClr val="334466"/>
                </a:solidFill>
                <a:latin typeface="Baskerville" panose="02020502070401020303" pitchFamily="18" charset="0"/>
                <a:ea typeface="Baskerville" panose="02020502070401020303" pitchFamily="18" charset="0"/>
                <a:cs typeface="Calibri" pitchFamily="34" charset="-120"/>
              </a:rPr>
              <a:t>Ensure methods are statistically sound and repeatable</a:t>
            </a:r>
            <a:endParaRPr lang="en-US" sz="900" dirty="0">
              <a:latin typeface="Baskerville" panose="02020502070401020303" pitchFamily="18" charset="0"/>
              <a:ea typeface="Baskerville" panose="02020502070401020303" pitchFamily="18" charset="0"/>
            </a:endParaRPr>
          </a:p>
        </p:txBody>
      </p:sp>
      <p:sp>
        <p:nvSpPr>
          <p:cNvPr id="37" name="Shape 35"/>
          <p:cNvSpPr/>
          <p:nvPr/>
        </p:nvSpPr>
        <p:spPr>
          <a:xfrm>
            <a:off x="6766560" y="3977640"/>
            <a:ext cx="1920240" cy="960120"/>
          </a:xfrm>
          <a:prstGeom prst="rect">
            <a:avLst/>
          </a:prstGeom>
          <a:solidFill>
            <a:srgbClr val="EBF3FF"/>
          </a:solidFill>
          <a:ln w="12700">
            <a:solidFill>
              <a:srgbClr val="4A90D9"/>
            </a:solidFill>
            <a:prstDash val="solid"/>
          </a:ln>
        </p:spPr>
        <p:txBody>
          <a:bodyPr/>
          <a:lstStyle/>
          <a:p>
            <a:endParaRPr lang="en-US"/>
          </a:p>
        </p:txBody>
      </p:sp>
      <p:sp>
        <p:nvSpPr>
          <p:cNvPr id="38" name="Text 36"/>
          <p:cNvSpPr/>
          <p:nvPr/>
        </p:nvSpPr>
        <p:spPr>
          <a:xfrm>
            <a:off x="6766560" y="4005072"/>
            <a:ext cx="1920240" cy="347472"/>
          </a:xfrm>
          <a:prstGeom prst="rect">
            <a:avLst/>
          </a:prstGeom>
          <a:noFill/>
          <a:ln/>
        </p:spPr>
        <p:txBody>
          <a:bodyPr wrap="square" rtlCol="0" anchor="ctr"/>
          <a:lstStyle/>
          <a:p>
            <a:pPr marL="0" indent="0" algn="ctr">
              <a:buNone/>
            </a:pPr>
            <a:r>
              <a:rPr lang="en-US" sz="1000" b="1" dirty="0">
                <a:solidFill>
                  <a:srgbClr val="2451B7"/>
                </a:solidFill>
                <a:latin typeface="Baskerville" panose="02020502070401020303" pitchFamily="18" charset="0"/>
                <a:ea typeface="Baskerville" panose="02020502070401020303" pitchFamily="18" charset="0"/>
                <a:cs typeface="Calibri" pitchFamily="34" charset="-120"/>
              </a:rPr>
              <a:t>Interpretability</a:t>
            </a:r>
            <a:endParaRPr lang="en-US" sz="1000" dirty="0">
              <a:latin typeface="Baskerville" panose="02020502070401020303" pitchFamily="18" charset="0"/>
              <a:ea typeface="Baskerville" panose="02020502070401020303" pitchFamily="18" charset="0"/>
            </a:endParaRPr>
          </a:p>
        </p:txBody>
      </p:sp>
      <p:sp>
        <p:nvSpPr>
          <p:cNvPr id="39" name="Text 37"/>
          <p:cNvSpPr/>
          <p:nvPr/>
        </p:nvSpPr>
        <p:spPr>
          <a:xfrm>
            <a:off x="6858000" y="4343400"/>
            <a:ext cx="1737360" cy="548640"/>
          </a:xfrm>
          <a:prstGeom prst="rect">
            <a:avLst/>
          </a:prstGeom>
          <a:noFill/>
          <a:ln/>
        </p:spPr>
        <p:txBody>
          <a:bodyPr wrap="square" rtlCol="0" anchor="ctr"/>
          <a:lstStyle/>
          <a:p>
            <a:pPr marL="0" indent="0" algn="ctr">
              <a:buNone/>
            </a:pPr>
            <a:r>
              <a:rPr lang="en-US" sz="900" dirty="0">
                <a:solidFill>
                  <a:srgbClr val="334466"/>
                </a:solidFill>
                <a:latin typeface="Baskerville" panose="02020502070401020303" pitchFamily="18" charset="0"/>
                <a:ea typeface="Baskerville" panose="02020502070401020303" pitchFamily="18" charset="0"/>
                <a:cs typeface="Calibri" pitchFamily="34" charset="-120"/>
              </a:rPr>
              <a:t>Provide biologically meaningful model insights</a:t>
            </a:r>
            <a:endParaRPr lang="en-US" sz="900" dirty="0">
              <a:latin typeface="Baskerville" panose="02020502070401020303" pitchFamily="18" charset="0"/>
              <a:ea typeface="Baskerville" panose="02020502070401020303"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1B4B"/>
          </a:solidFill>
          <a:ln w="12700">
            <a:solidFill>
              <a:srgbClr val="000000"/>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3" name="Text 1"/>
          <p:cNvSpPr/>
          <p:nvPr/>
        </p:nvSpPr>
        <p:spPr>
          <a:xfrm>
            <a:off x="365760" y="0"/>
            <a:ext cx="8229600" cy="640080"/>
          </a:xfrm>
          <a:prstGeom prst="rect">
            <a:avLst/>
          </a:prstGeom>
          <a:noFill/>
          <a:ln/>
        </p:spPr>
        <p:txBody>
          <a:bodyPr wrap="square" rtlCol="0" anchor="ctr"/>
          <a:lstStyle/>
          <a:p>
            <a:pPr marL="0" indent="0">
              <a:buNone/>
            </a:pPr>
            <a:r>
              <a:rPr lang="en-US" sz="2200" b="1" dirty="0">
                <a:solidFill>
                  <a:srgbClr val="FFFFFF"/>
                </a:solidFill>
                <a:latin typeface="Baskerville" panose="02020502070401020303" pitchFamily="18" charset="0"/>
                <a:ea typeface="Baskerville" panose="02020502070401020303" pitchFamily="18" charset="0"/>
                <a:cs typeface="Calibri" pitchFamily="34" charset="-120"/>
              </a:rPr>
              <a:t>Datasets &amp; Methodology</a:t>
            </a:r>
            <a:endParaRPr lang="en-US" sz="2200" dirty="0">
              <a:latin typeface="Baskerville" panose="02020502070401020303" pitchFamily="18" charset="0"/>
              <a:ea typeface="Baskerville" panose="02020502070401020303" pitchFamily="18" charset="0"/>
            </a:endParaRPr>
          </a:p>
        </p:txBody>
      </p:sp>
      <p:sp>
        <p:nvSpPr>
          <p:cNvPr id="4" name="Shape 2"/>
          <p:cNvSpPr/>
          <p:nvPr/>
        </p:nvSpPr>
        <p:spPr>
          <a:xfrm>
            <a:off x="274320" y="749808"/>
            <a:ext cx="3977640" cy="2057400"/>
          </a:xfrm>
          <a:prstGeom prst="rect">
            <a:avLst/>
          </a:prstGeom>
          <a:solidFill>
            <a:srgbClr val="FFFFFF"/>
          </a:solidFill>
          <a:ln w="19050">
            <a:solidFill>
              <a:srgbClr val="4A90D9"/>
            </a:solidFill>
            <a:prstDash val="solid"/>
          </a:ln>
          <a:effectLst>
            <a:outerShdw blurRad="101600" dist="38100" dir="8100000" algn="bl" rotWithShape="0">
              <a:srgbClr val="000000">
                <a:alpha val="18000"/>
              </a:srgbClr>
            </a:outerShdw>
          </a:effectLst>
        </p:spPr>
        <p:txBody>
          <a:bodyPr/>
          <a:lstStyle/>
          <a:p>
            <a:endParaRPr lang="en-US">
              <a:latin typeface="Baskerville" panose="02020502070401020303" pitchFamily="18" charset="0"/>
              <a:ea typeface="Baskerville" panose="02020502070401020303" pitchFamily="18" charset="0"/>
            </a:endParaRPr>
          </a:p>
        </p:txBody>
      </p:sp>
      <p:sp>
        <p:nvSpPr>
          <p:cNvPr id="5" name="Shape 3"/>
          <p:cNvSpPr/>
          <p:nvPr/>
        </p:nvSpPr>
        <p:spPr>
          <a:xfrm>
            <a:off x="274320" y="749808"/>
            <a:ext cx="3977640" cy="347472"/>
          </a:xfrm>
          <a:prstGeom prst="rect">
            <a:avLst/>
          </a:prstGeom>
          <a:solidFill>
            <a:srgbClr val="2451B7"/>
          </a:solidFill>
          <a:ln w="12700">
            <a:solidFill>
              <a:srgbClr val="000000"/>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6" name="Text 4"/>
          <p:cNvSpPr/>
          <p:nvPr/>
        </p:nvSpPr>
        <p:spPr>
          <a:xfrm>
            <a:off x="347472" y="768096"/>
            <a:ext cx="3840480" cy="310896"/>
          </a:xfrm>
          <a:prstGeom prst="rect">
            <a:avLst/>
          </a:prstGeom>
          <a:noFill/>
          <a:ln/>
        </p:spPr>
        <p:txBody>
          <a:bodyPr wrap="square" rtlCol="0" anchor="ctr"/>
          <a:lstStyle/>
          <a:p>
            <a:pPr marL="0" indent="0">
              <a:buNone/>
            </a:pPr>
            <a:r>
              <a:rPr lang="en-US" sz="1100" b="1" dirty="0">
                <a:solidFill>
                  <a:srgbClr val="FFFFFF"/>
                </a:solidFill>
                <a:latin typeface="Baskerville" panose="02020502070401020303" pitchFamily="18" charset="0"/>
                <a:ea typeface="Baskerville" panose="02020502070401020303" pitchFamily="18" charset="0"/>
                <a:cs typeface="Calibri" pitchFamily="34" charset="-120"/>
              </a:rPr>
              <a:t>🧬  DNA — Promoter Classification</a:t>
            </a:r>
            <a:endParaRPr lang="en-US" sz="1100" dirty="0">
              <a:latin typeface="Baskerville" panose="02020502070401020303" pitchFamily="18" charset="0"/>
              <a:ea typeface="Baskerville" panose="02020502070401020303" pitchFamily="18" charset="0"/>
            </a:endParaRPr>
          </a:p>
        </p:txBody>
      </p:sp>
      <p:sp>
        <p:nvSpPr>
          <p:cNvPr id="7" name="Text 5"/>
          <p:cNvSpPr/>
          <p:nvPr/>
        </p:nvSpPr>
        <p:spPr>
          <a:xfrm>
            <a:off x="365760" y="1161288"/>
            <a:ext cx="1188720" cy="292608"/>
          </a:xfrm>
          <a:prstGeom prst="rect">
            <a:avLst/>
          </a:prstGeom>
          <a:noFill/>
          <a:ln/>
        </p:spPr>
        <p:txBody>
          <a:bodyPr wrap="square" rtlCol="0" anchor="ctr"/>
          <a:lstStyle/>
          <a:p>
            <a:pPr marL="0" indent="0">
              <a:buNone/>
            </a:pPr>
            <a:r>
              <a:rPr lang="en-US" sz="950" b="1" dirty="0">
                <a:solidFill>
                  <a:srgbClr val="2451B7"/>
                </a:solidFill>
                <a:latin typeface="Baskerville" panose="02020502070401020303" pitchFamily="18" charset="0"/>
                <a:ea typeface="Baskerville" panose="02020502070401020303" pitchFamily="18" charset="0"/>
                <a:cs typeface="Calibri" pitchFamily="34" charset="-120"/>
              </a:rPr>
              <a:t>Source</a:t>
            </a:r>
            <a:endParaRPr lang="en-US" sz="950" dirty="0">
              <a:latin typeface="Baskerville" panose="02020502070401020303" pitchFamily="18" charset="0"/>
              <a:ea typeface="Baskerville" panose="02020502070401020303" pitchFamily="18" charset="0"/>
            </a:endParaRPr>
          </a:p>
        </p:txBody>
      </p:sp>
      <p:sp>
        <p:nvSpPr>
          <p:cNvPr id="8" name="Text 6"/>
          <p:cNvSpPr/>
          <p:nvPr/>
        </p:nvSpPr>
        <p:spPr>
          <a:xfrm>
            <a:off x="1572768" y="1161288"/>
            <a:ext cx="2606040" cy="292608"/>
          </a:xfrm>
          <a:prstGeom prst="rect">
            <a:avLst/>
          </a:prstGeom>
          <a:noFill/>
          <a:ln/>
        </p:spPr>
        <p:txBody>
          <a:bodyPr wrap="square" rtlCol="0" anchor="ctr"/>
          <a:lstStyle/>
          <a:p>
            <a:pPr marL="0" indent="0">
              <a:buNone/>
            </a:pPr>
            <a:r>
              <a:rPr lang="en-US" sz="950" dirty="0">
                <a:solidFill>
                  <a:srgbClr val="333355"/>
                </a:solidFill>
                <a:latin typeface="Baskerville" panose="02020502070401020303" pitchFamily="18" charset="0"/>
                <a:ea typeface="Baskerville" panose="02020502070401020303" pitchFamily="18" charset="0"/>
                <a:cs typeface="Calibri" pitchFamily="34" charset="-120"/>
              </a:rPr>
              <a:t>Ensembl GRCh38 (GTF + REST API)</a:t>
            </a:r>
            <a:endParaRPr lang="en-US" sz="950" dirty="0">
              <a:latin typeface="Baskerville" panose="02020502070401020303" pitchFamily="18" charset="0"/>
              <a:ea typeface="Baskerville" panose="02020502070401020303" pitchFamily="18" charset="0"/>
            </a:endParaRPr>
          </a:p>
        </p:txBody>
      </p:sp>
      <p:sp>
        <p:nvSpPr>
          <p:cNvPr id="9" name="Text 7"/>
          <p:cNvSpPr/>
          <p:nvPr/>
        </p:nvSpPr>
        <p:spPr>
          <a:xfrm>
            <a:off x="365760" y="1472184"/>
            <a:ext cx="1188720" cy="292608"/>
          </a:xfrm>
          <a:prstGeom prst="rect">
            <a:avLst/>
          </a:prstGeom>
          <a:noFill/>
          <a:ln/>
        </p:spPr>
        <p:txBody>
          <a:bodyPr wrap="square" rtlCol="0" anchor="ctr"/>
          <a:lstStyle/>
          <a:p>
            <a:pPr marL="0" indent="0">
              <a:buNone/>
            </a:pPr>
            <a:r>
              <a:rPr lang="en-US" sz="950" b="1" dirty="0">
                <a:solidFill>
                  <a:srgbClr val="2451B7"/>
                </a:solidFill>
                <a:latin typeface="Baskerville" panose="02020502070401020303" pitchFamily="18" charset="0"/>
                <a:ea typeface="Baskerville" panose="02020502070401020303" pitchFamily="18" charset="0"/>
                <a:cs typeface="Calibri" pitchFamily="34" charset="-120"/>
              </a:rPr>
              <a:t>Sequences</a:t>
            </a:r>
            <a:endParaRPr lang="en-US" sz="950" dirty="0">
              <a:latin typeface="Baskerville" panose="02020502070401020303" pitchFamily="18" charset="0"/>
              <a:ea typeface="Baskerville" panose="02020502070401020303" pitchFamily="18" charset="0"/>
            </a:endParaRPr>
          </a:p>
        </p:txBody>
      </p:sp>
      <p:sp>
        <p:nvSpPr>
          <p:cNvPr id="10" name="Text 8"/>
          <p:cNvSpPr/>
          <p:nvPr/>
        </p:nvSpPr>
        <p:spPr>
          <a:xfrm>
            <a:off x="1572768" y="1472184"/>
            <a:ext cx="2606040" cy="292608"/>
          </a:xfrm>
          <a:prstGeom prst="rect">
            <a:avLst/>
          </a:prstGeom>
          <a:noFill/>
          <a:ln/>
        </p:spPr>
        <p:txBody>
          <a:bodyPr wrap="square" rtlCol="0" anchor="ctr"/>
          <a:lstStyle/>
          <a:p>
            <a:pPr marL="0" indent="0">
              <a:buNone/>
            </a:pPr>
            <a:r>
              <a:rPr lang="en-US" sz="950" dirty="0">
                <a:solidFill>
                  <a:srgbClr val="333355"/>
                </a:solidFill>
                <a:latin typeface="Baskerville" panose="02020502070401020303" pitchFamily="18" charset="0"/>
                <a:ea typeface="Baskerville" panose="02020502070401020303" pitchFamily="18" charset="0"/>
                <a:cs typeface="Calibri" pitchFamily="34" charset="-120"/>
              </a:rPr>
              <a:t>4,000 total  (2,000 promoter / 2,000 non-promoter)</a:t>
            </a:r>
            <a:endParaRPr lang="en-US" sz="950" dirty="0">
              <a:latin typeface="Baskerville" panose="02020502070401020303" pitchFamily="18" charset="0"/>
              <a:ea typeface="Baskerville" panose="02020502070401020303" pitchFamily="18" charset="0"/>
            </a:endParaRPr>
          </a:p>
        </p:txBody>
      </p:sp>
      <p:sp>
        <p:nvSpPr>
          <p:cNvPr id="11" name="Text 9"/>
          <p:cNvSpPr/>
          <p:nvPr/>
        </p:nvSpPr>
        <p:spPr>
          <a:xfrm>
            <a:off x="365760" y="1783080"/>
            <a:ext cx="1188720" cy="292608"/>
          </a:xfrm>
          <a:prstGeom prst="rect">
            <a:avLst/>
          </a:prstGeom>
          <a:noFill/>
          <a:ln/>
        </p:spPr>
        <p:txBody>
          <a:bodyPr wrap="square" rtlCol="0" anchor="ctr"/>
          <a:lstStyle/>
          <a:p>
            <a:pPr marL="0" indent="0">
              <a:buNone/>
            </a:pPr>
            <a:r>
              <a:rPr lang="en-US" sz="950" b="1" dirty="0">
                <a:solidFill>
                  <a:srgbClr val="2451B7"/>
                </a:solidFill>
                <a:latin typeface="Baskerville" panose="02020502070401020303" pitchFamily="18" charset="0"/>
                <a:ea typeface="Baskerville" panose="02020502070401020303" pitchFamily="18" charset="0"/>
                <a:cs typeface="Calibri" pitchFamily="34" charset="-120"/>
              </a:rPr>
              <a:t>Length</a:t>
            </a:r>
            <a:endParaRPr lang="en-US" sz="950" dirty="0">
              <a:latin typeface="Baskerville" panose="02020502070401020303" pitchFamily="18" charset="0"/>
              <a:ea typeface="Baskerville" panose="02020502070401020303" pitchFamily="18" charset="0"/>
            </a:endParaRPr>
          </a:p>
        </p:txBody>
      </p:sp>
      <p:sp>
        <p:nvSpPr>
          <p:cNvPr id="12" name="Text 10"/>
          <p:cNvSpPr/>
          <p:nvPr/>
        </p:nvSpPr>
        <p:spPr>
          <a:xfrm>
            <a:off x="1572768" y="1783080"/>
            <a:ext cx="2606040" cy="292608"/>
          </a:xfrm>
          <a:prstGeom prst="rect">
            <a:avLst/>
          </a:prstGeom>
          <a:noFill/>
          <a:ln/>
        </p:spPr>
        <p:txBody>
          <a:bodyPr wrap="square" rtlCol="0" anchor="ctr"/>
          <a:lstStyle/>
          <a:p>
            <a:pPr marL="0" indent="0">
              <a:buNone/>
            </a:pPr>
            <a:r>
              <a:rPr lang="en-US" sz="950" dirty="0">
                <a:solidFill>
                  <a:srgbClr val="333355"/>
                </a:solidFill>
                <a:latin typeface="Baskerville" panose="02020502070401020303" pitchFamily="18" charset="0"/>
                <a:ea typeface="Baskerville" panose="02020502070401020303" pitchFamily="18" charset="0"/>
                <a:cs typeface="Calibri" pitchFamily="34" charset="-120"/>
              </a:rPr>
              <a:t>200 bp each  |  Class balance: 50/50</a:t>
            </a:r>
            <a:endParaRPr lang="en-US" sz="950" dirty="0">
              <a:latin typeface="Baskerville" panose="02020502070401020303" pitchFamily="18" charset="0"/>
              <a:ea typeface="Baskerville" panose="02020502070401020303" pitchFamily="18" charset="0"/>
            </a:endParaRPr>
          </a:p>
        </p:txBody>
      </p:sp>
      <p:sp>
        <p:nvSpPr>
          <p:cNvPr id="13" name="Text 11"/>
          <p:cNvSpPr/>
          <p:nvPr/>
        </p:nvSpPr>
        <p:spPr>
          <a:xfrm>
            <a:off x="365760" y="2093976"/>
            <a:ext cx="1188720" cy="292608"/>
          </a:xfrm>
          <a:prstGeom prst="rect">
            <a:avLst/>
          </a:prstGeom>
          <a:noFill/>
          <a:ln/>
        </p:spPr>
        <p:txBody>
          <a:bodyPr wrap="square" rtlCol="0" anchor="ctr"/>
          <a:lstStyle/>
          <a:p>
            <a:pPr marL="0" indent="0">
              <a:buNone/>
            </a:pPr>
            <a:r>
              <a:rPr lang="en-US" sz="950" b="1" dirty="0">
                <a:solidFill>
                  <a:srgbClr val="2451B7"/>
                </a:solidFill>
                <a:latin typeface="Baskerville" panose="02020502070401020303" pitchFamily="18" charset="0"/>
                <a:ea typeface="Baskerville" panose="02020502070401020303" pitchFamily="18" charset="0"/>
                <a:cs typeface="Calibri" pitchFamily="34" charset="-120"/>
              </a:rPr>
              <a:t>Task</a:t>
            </a:r>
            <a:endParaRPr lang="en-US" sz="950" dirty="0">
              <a:latin typeface="Baskerville" panose="02020502070401020303" pitchFamily="18" charset="0"/>
              <a:ea typeface="Baskerville" panose="02020502070401020303" pitchFamily="18" charset="0"/>
            </a:endParaRPr>
          </a:p>
        </p:txBody>
      </p:sp>
      <p:sp>
        <p:nvSpPr>
          <p:cNvPr id="14" name="Text 12"/>
          <p:cNvSpPr/>
          <p:nvPr/>
        </p:nvSpPr>
        <p:spPr>
          <a:xfrm>
            <a:off x="1572768" y="2093976"/>
            <a:ext cx="2606040" cy="292608"/>
          </a:xfrm>
          <a:prstGeom prst="rect">
            <a:avLst/>
          </a:prstGeom>
          <a:noFill/>
          <a:ln/>
        </p:spPr>
        <p:txBody>
          <a:bodyPr wrap="square" rtlCol="0" anchor="ctr"/>
          <a:lstStyle/>
          <a:p>
            <a:pPr marL="0" indent="0">
              <a:buNone/>
            </a:pPr>
            <a:r>
              <a:rPr lang="en-US" sz="950" dirty="0">
                <a:solidFill>
                  <a:srgbClr val="333355"/>
                </a:solidFill>
                <a:latin typeface="Baskerville" panose="02020502070401020303" pitchFamily="18" charset="0"/>
                <a:ea typeface="Baskerville" panose="02020502070401020303" pitchFamily="18" charset="0"/>
                <a:cs typeface="Calibri" pitchFamily="34" charset="-120"/>
              </a:rPr>
              <a:t>Binary classification (promoter vs non-promoter)</a:t>
            </a:r>
            <a:endParaRPr lang="en-US" sz="950" dirty="0">
              <a:latin typeface="Baskerville" panose="02020502070401020303" pitchFamily="18" charset="0"/>
              <a:ea typeface="Baskerville" panose="02020502070401020303" pitchFamily="18" charset="0"/>
            </a:endParaRPr>
          </a:p>
        </p:txBody>
      </p:sp>
      <p:sp>
        <p:nvSpPr>
          <p:cNvPr id="15" name="Text 13"/>
          <p:cNvSpPr/>
          <p:nvPr/>
        </p:nvSpPr>
        <p:spPr>
          <a:xfrm>
            <a:off x="365760" y="2404872"/>
            <a:ext cx="1188720" cy="292608"/>
          </a:xfrm>
          <a:prstGeom prst="rect">
            <a:avLst/>
          </a:prstGeom>
          <a:noFill/>
          <a:ln/>
        </p:spPr>
        <p:txBody>
          <a:bodyPr wrap="square" rtlCol="0" anchor="ctr"/>
          <a:lstStyle/>
          <a:p>
            <a:pPr marL="0" indent="0">
              <a:buNone/>
            </a:pPr>
            <a:r>
              <a:rPr lang="en-US" sz="950" b="1" dirty="0">
                <a:solidFill>
                  <a:srgbClr val="2451B7"/>
                </a:solidFill>
                <a:latin typeface="Baskerville" panose="02020502070401020303" pitchFamily="18" charset="0"/>
                <a:ea typeface="Baskerville" panose="02020502070401020303" pitchFamily="18" charset="0"/>
                <a:cs typeface="Calibri" pitchFamily="34" charset="-120"/>
              </a:rPr>
              <a:t>Features</a:t>
            </a:r>
            <a:endParaRPr lang="en-US" sz="950" dirty="0">
              <a:latin typeface="Baskerville" panose="02020502070401020303" pitchFamily="18" charset="0"/>
              <a:ea typeface="Baskerville" panose="02020502070401020303" pitchFamily="18" charset="0"/>
            </a:endParaRPr>
          </a:p>
        </p:txBody>
      </p:sp>
      <p:sp>
        <p:nvSpPr>
          <p:cNvPr id="16" name="Text 14"/>
          <p:cNvSpPr/>
          <p:nvPr/>
        </p:nvSpPr>
        <p:spPr>
          <a:xfrm>
            <a:off x="1572768" y="2404872"/>
            <a:ext cx="2606040" cy="292608"/>
          </a:xfrm>
          <a:prstGeom prst="rect">
            <a:avLst/>
          </a:prstGeom>
          <a:noFill/>
          <a:ln/>
        </p:spPr>
        <p:txBody>
          <a:bodyPr wrap="square" rtlCol="0" anchor="ctr"/>
          <a:lstStyle/>
          <a:p>
            <a:pPr marL="0" indent="0">
              <a:buNone/>
            </a:pPr>
            <a:r>
              <a:rPr lang="en-US" sz="950" dirty="0">
                <a:solidFill>
                  <a:srgbClr val="333355"/>
                </a:solidFill>
                <a:latin typeface="Baskerville" panose="02020502070401020303" pitchFamily="18" charset="0"/>
                <a:ea typeface="Baskerville" panose="02020502070401020303" pitchFamily="18" charset="0"/>
                <a:cs typeface="Calibri" pitchFamily="34" charset="-120"/>
              </a:rPr>
              <a:t>95 engineered: GC content, CpG O/E, k-mer, entropy</a:t>
            </a:r>
            <a:endParaRPr lang="en-US" sz="950" dirty="0">
              <a:latin typeface="Baskerville" panose="02020502070401020303" pitchFamily="18" charset="0"/>
              <a:ea typeface="Baskerville" panose="02020502070401020303" pitchFamily="18" charset="0"/>
            </a:endParaRPr>
          </a:p>
        </p:txBody>
      </p:sp>
      <p:sp>
        <p:nvSpPr>
          <p:cNvPr id="17" name="Shape 15"/>
          <p:cNvSpPr/>
          <p:nvPr/>
        </p:nvSpPr>
        <p:spPr>
          <a:xfrm>
            <a:off x="4892040" y="749808"/>
            <a:ext cx="3977640" cy="2057400"/>
          </a:xfrm>
          <a:prstGeom prst="rect">
            <a:avLst/>
          </a:prstGeom>
          <a:solidFill>
            <a:srgbClr val="FFFFFF"/>
          </a:solidFill>
          <a:ln w="19050">
            <a:solidFill>
              <a:srgbClr val="1B7B8A"/>
            </a:solidFill>
            <a:prstDash val="solid"/>
          </a:ln>
          <a:effectLst>
            <a:outerShdw blurRad="101600" dist="38100" dir="8100000" algn="bl" rotWithShape="0">
              <a:srgbClr val="000000">
                <a:alpha val="18000"/>
              </a:srgbClr>
            </a:outerShdw>
          </a:effectLst>
        </p:spPr>
        <p:txBody>
          <a:bodyPr/>
          <a:lstStyle/>
          <a:p>
            <a:endParaRPr lang="en-US">
              <a:latin typeface="Baskerville" panose="02020502070401020303" pitchFamily="18" charset="0"/>
              <a:ea typeface="Baskerville" panose="02020502070401020303" pitchFamily="18" charset="0"/>
            </a:endParaRPr>
          </a:p>
        </p:txBody>
      </p:sp>
      <p:sp>
        <p:nvSpPr>
          <p:cNvPr id="18" name="Shape 16"/>
          <p:cNvSpPr/>
          <p:nvPr/>
        </p:nvSpPr>
        <p:spPr>
          <a:xfrm>
            <a:off x="4892040" y="749808"/>
            <a:ext cx="3977640" cy="347472"/>
          </a:xfrm>
          <a:prstGeom prst="rect">
            <a:avLst/>
          </a:prstGeom>
          <a:solidFill>
            <a:srgbClr val="1B7B8A"/>
          </a:solidFill>
          <a:ln w="12700">
            <a:solidFill>
              <a:srgbClr val="000000"/>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19" name="Text 17"/>
          <p:cNvSpPr/>
          <p:nvPr/>
        </p:nvSpPr>
        <p:spPr>
          <a:xfrm>
            <a:off x="4965192" y="768096"/>
            <a:ext cx="3840480" cy="310896"/>
          </a:xfrm>
          <a:prstGeom prst="rect">
            <a:avLst/>
          </a:prstGeom>
          <a:noFill/>
          <a:ln/>
        </p:spPr>
        <p:txBody>
          <a:bodyPr wrap="square" rtlCol="0" anchor="ctr"/>
          <a:lstStyle/>
          <a:p>
            <a:pPr marL="0" indent="0">
              <a:buNone/>
            </a:pPr>
            <a:r>
              <a:rPr lang="en-US" sz="1100" b="1" dirty="0">
                <a:solidFill>
                  <a:srgbClr val="FFFFFF"/>
                </a:solidFill>
                <a:latin typeface="Baskerville" panose="02020502070401020303" pitchFamily="18" charset="0"/>
                <a:ea typeface="Baskerville" panose="02020502070401020303" pitchFamily="18" charset="0"/>
                <a:cs typeface="Calibri" pitchFamily="34" charset="-120"/>
              </a:rPr>
              <a:t>🔬  Protein — Pfam Classification</a:t>
            </a:r>
            <a:endParaRPr lang="en-US" sz="1100" dirty="0">
              <a:latin typeface="Baskerville" panose="02020502070401020303" pitchFamily="18" charset="0"/>
              <a:ea typeface="Baskerville" panose="02020502070401020303" pitchFamily="18" charset="0"/>
            </a:endParaRPr>
          </a:p>
        </p:txBody>
      </p:sp>
      <p:sp>
        <p:nvSpPr>
          <p:cNvPr id="20" name="Text 18"/>
          <p:cNvSpPr/>
          <p:nvPr/>
        </p:nvSpPr>
        <p:spPr>
          <a:xfrm>
            <a:off x="4983480" y="1161288"/>
            <a:ext cx="1097280" cy="292608"/>
          </a:xfrm>
          <a:prstGeom prst="rect">
            <a:avLst/>
          </a:prstGeom>
          <a:noFill/>
          <a:ln/>
        </p:spPr>
        <p:txBody>
          <a:bodyPr wrap="square" rtlCol="0" anchor="ctr"/>
          <a:lstStyle/>
          <a:p>
            <a:pPr marL="0" indent="0">
              <a:buNone/>
            </a:pPr>
            <a:r>
              <a:rPr lang="en-US" sz="950" b="1" dirty="0">
                <a:solidFill>
                  <a:srgbClr val="1B7B8A"/>
                </a:solidFill>
                <a:latin typeface="Baskerville" panose="02020502070401020303" pitchFamily="18" charset="0"/>
                <a:ea typeface="Baskerville" panose="02020502070401020303" pitchFamily="18" charset="0"/>
                <a:cs typeface="Calibri" pitchFamily="34" charset="-120"/>
              </a:rPr>
              <a:t>Source</a:t>
            </a:r>
            <a:endParaRPr lang="en-US" sz="950" dirty="0">
              <a:latin typeface="Baskerville" panose="02020502070401020303" pitchFamily="18" charset="0"/>
              <a:ea typeface="Baskerville" panose="02020502070401020303" pitchFamily="18" charset="0"/>
            </a:endParaRPr>
          </a:p>
        </p:txBody>
      </p:sp>
      <p:sp>
        <p:nvSpPr>
          <p:cNvPr id="21" name="Text 19"/>
          <p:cNvSpPr/>
          <p:nvPr/>
        </p:nvSpPr>
        <p:spPr>
          <a:xfrm>
            <a:off x="6099048" y="1161288"/>
            <a:ext cx="2697480" cy="292608"/>
          </a:xfrm>
          <a:prstGeom prst="rect">
            <a:avLst/>
          </a:prstGeom>
          <a:noFill/>
          <a:ln/>
        </p:spPr>
        <p:txBody>
          <a:bodyPr wrap="square" rtlCol="0" anchor="ctr"/>
          <a:lstStyle/>
          <a:p>
            <a:pPr marL="0" indent="0">
              <a:buNone/>
            </a:pPr>
            <a:r>
              <a:rPr lang="en-US" sz="950" dirty="0">
                <a:solidFill>
                  <a:srgbClr val="333355"/>
                </a:solidFill>
                <a:latin typeface="Baskerville" panose="02020502070401020303" pitchFamily="18" charset="0"/>
                <a:ea typeface="Baskerville" panose="02020502070401020303" pitchFamily="18" charset="0"/>
                <a:cs typeface="Calibri" pitchFamily="34" charset="-120"/>
              </a:rPr>
              <a:t>UniProtKB + Pfam database</a:t>
            </a:r>
            <a:endParaRPr lang="en-US" sz="950" dirty="0">
              <a:latin typeface="Baskerville" panose="02020502070401020303" pitchFamily="18" charset="0"/>
              <a:ea typeface="Baskerville" panose="02020502070401020303" pitchFamily="18" charset="0"/>
            </a:endParaRPr>
          </a:p>
        </p:txBody>
      </p:sp>
      <p:sp>
        <p:nvSpPr>
          <p:cNvPr id="22" name="Text 20"/>
          <p:cNvSpPr/>
          <p:nvPr/>
        </p:nvSpPr>
        <p:spPr>
          <a:xfrm>
            <a:off x="4983480" y="1472184"/>
            <a:ext cx="1097280" cy="292608"/>
          </a:xfrm>
          <a:prstGeom prst="rect">
            <a:avLst/>
          </a:prstGeom>
          <a:noFill/>
          <a:ln/>
        </p:spPr>
        <p:txBody>
          <a:bodyPr wrap="square" rtlCol="0" anchor="ctr"/>
          <a:lstStyle/>
          <a:p>
            <a:pPr marL="0" indent="0">
              <a:buNone/>
            </a:pPr>
            <a:r>
              <a:rPr lang="en-US" sz="950" b="1" dirty="0">
                <a:solidFill>
                  <a:srgbClr val="1B7B8A"/>
                </a:solidFill>
                <a:latin typeface="Baskerville" panose="02020502070401020303" pitchFamily="18" charset="0"/>
                <a:ea typeface="Baskerville" panose="02020502070401020303" pitchFamily="18" charset="0"/>
                <a:cs typeface="Calibri" pitchFamily="34" charset="-120"/>
              </a:rPr>
              <a:t>Sequences</a:t>
            </a:r>
            <a:endParaRPr lang="en-US" sz="950" dirty="0">
              <a:latin typeface="Baskerville" panose="02020502070401020303" pitchFamily="18" charset="0"/>
              <a:ea typeface="Baskerville" panose="02020502070401020303" pitchFamily="18" charset="0"/>
            </a:endParaRPr>
          </a:p>
        </p:txBody>
      </p:sp>
      <p:sp>
        <p:nvSpPr>
          <p:cNvPr id="23" name="Text 21"/>
          <p:cNvSpPr/>
          <p:nvPr/>
        </p:nvSpPr>
        <p:spPr>
          <a:xfrm>
            <a:off x="6099048" y="1472184"/>
            <a:ext cx="2697480" cy="292608"/>
          </a:xfrm>
          <a:prstGeom prst="rect">
            <a:avLst/>
          </a:prstGeom>
          <a:noFill/>
          <a:ln/>
        </p:spPr>
        <p:txBody>
          <a:bodyPr wrap="square" rtlCol="0" anchor="ctr"/>
          <a:lstStyle/>
          <a:p>
            <a:pPr marL="0" indent="0">
              <a:buNone/>
            </a:pPr>
            <a:r>
              <a:rPr lang="en-US" sz="950" dirty="0">
                <a:solidFill>
                  <a:srgbClr val="333355"/>
                </a:solidFill>
                <a:latin typeface="Baskerville" panose="02020502070401020303" pitchFamily="18" charset="0"/>
                <a:ea typeface="Baskerville" panose="02020502070401020303" pitchFamily="18" charset="0"/>
                <a:cs typeface="Calibri" pitchFamily="34" charset="-120"/>
              </a:rPr>
              <a:t>2,293 total  |  10 Pfam family classes</a:t>
            </a:r>
            <a:endParaRPr lang="en-US" sz="950" dirty="0">
              <a:latin typeface="Baskerville" panose="02020502070401020303" pitchFamily="18" charset="0"/>
              <a:ea typeface="Baskerville" panose="02020502070401020303" pitchFamily="18" charset="0"/>
            </a:endParaRPr>
          </a:p>
        </p:txBody>
      </p:sp>
      <p:sp>
        <p:nvSpPr>
          <p:cNvPr id="24" name="Text 22"/>
          <p:cNvSpPr/>
          <p:nvPr/>
        </p:nvSpPr>
        <p:spPr>
          <a:xfrm>
            <a:off x="4983480" y="1783080"/>
            <a:ext cx="1097280" cy="292608"/>
          </a:xfrm>
          <a:prstGeom prst="rect">
            <a:avLst/>
          </a:prstGeom>
          <a:noFill/>
          <a:ln/>
        </p:spPr>
        <p:txBody>
          <a:bodyPr wrap="square" rtlCol="0" anchor="ctr"/>
          <a:lstStyle/>
          <a:p>
            <a:pPr marL="0" indent="0">
              <a:buNone/>
            </a:pPr>
            <a:r>
              <a:rPr lang="en-US" sz="950" b="1" dirty="0">
                <a:solidFill>
                  <a:srgbClr val="1B7B8A"/>
                </a:solidFill>
                <a:latin typeface="Baskerville" panose="02020502070401020303" pitchFamily="18" charset="0"/>
                <a:ea typeface="Baskerville" panose="02020502070401020303" pitchFamily="18" charset="0"/>
                <a:cs typeface="Calibri" pitchFamily="34" charset="-120"/>
              </a:rPr>
              <a:t>Families</a:t>
            </a:r>
            <a:endParaRPr lang="en-US" sz="950" dirty="0">
              <a:latin typeface="Baskerville" panose="02020502070401020303" pitchFamily="18" charset="0"/>
              <a:ea typeface="Baskerville" panose="02020502070401020303" pitchFamily="18" charset="0"/>
            </a:endParaRPr>
          </a:p>
        </p:txBody>
      </p:sp>
      <p:sp>
        <p:nvSpPr>
          <p:cNvPr id="25" name="Text 23"/>
          <p:cNvSpPr/>
          <p:nvPr/>
        </p:nvSpPr>
        <p:spPr>
          <a:xfrm>
            <a:off x="6099048" y="1783080"/>
            <a:ext cx="2697480" cy="292608"/>
          </a:xfrm>
          <a:prstGeom prst="rect">
            <a:avLst/>
          </a:prstGeom>
          <a:noFill/>
          <a:ln/>
        </p:spPr>
        <p:txBody>
          <a:bodyPr wrap="square" rtlCol="0" anchor="ctr"/>
          <a:lstStyle/>
          <a:p>
            <a:pPr marL="0" indent="0">
              <a:buNone/>
            </a:pPr>
            <a:r>
              <a:rPr lang="en-US" sz="950" dirty="0">
                <a:solidFill>
                  <a:srgbClr val="333355"/>
                </a:solidFill>
                <a:latin typeface="Baskerville" panose="02020502070401020303" pitchFamily="18" charset="0"/>
                <a:ea typeface="Baskerville" panose="02020502070401020303" pitchFamily="18" charset="0"/>
                <a:cs typeface="Calibri" pitchFamily="34" charset="-120"/>
              </a:rPr>
              <a:t>GPCRs, kinases, GTPases, TFs, zinc fingers + more</a:t>
            </a:r>
            <a:endParaRPr lang="en-US" sz="950" dirty="0">
              <a:latin typeface="Baskerville" panose="02020502070401020303" pitchFamily="18" charset="0"/>
              <a:ea typeface="Baskerville" panose="02020502070401020303" pitchFamily="18" charset="0"/>
            </a:endParaRPr>
          </a:p>
        </p:txBody>
      </p:sp>
      <p:sp>
        <p:nvSpPr>
          <p:cNvPr id="26" name="Text 24"/>
          <p:cNvSpPr/>
          <p:nvPr/>
        </p:nvSpPr>
        <p:spPr>
          <a:xfrm>
            <a:off x="4983480" y="2093976"/>
            <a:ext cx="1097280" cy="292608"/>
          </a:xfrm>
          <a:prstGeom prst="rect">
            <a:avLst/>
          </a:prstGeom>
          <a:noFill/>
          <a:ln/>
        </p:spPr>
        <p:txBody>
          <a:bodyPr wrap="square" rtlCol="0" anchor="ctr"/>
          <a:lstStyle/>
          <a:p>
            <a:pPr marL="0" indent="0">
              <a:buNone/>
            </a:pPr>
            <a:r>
              <a:rPr lang="en-US" sz="950" b="1" dirty="0">
                <a:solidFill>
                  <a:srgbClr val="1B7B8A"/>
                </a:solidFill>
                <a:latin typeface="Baskerville" panose="02020502070401020303" pitchFamily="18" charset="0"/>
                <a:ea typeface="Baskerville" panose="02020502070401020303" pitchFamily="18" charset="0"/>
                <a:cs typeface="Calibri" pitchFamily="34" charset="-120"/>
              </a:rPr>
              <a:t>Task</a:t>
            </a:r>
            <a:endParaRPr lang="en-US" sz="950" dirty="0">
              <a:latin typeface="Baskerville" panose="02020502070401020303" pitchFamily="18" charset="0"/>
              <a:ea typeface="Baskerville" panose="02020502070401020303" pitchFamily="18" charset="0"/>
            </a:endParaRPr>
          </a:p>
        </p:txBody>
      </p:sp>
      <p:sp>
        <p:nvSpPr>
          <p:cNvPr id="27" name="Text 25"/>
          <p:cNvSpPr/>
          <p:nvPr/>
        </p:nvSpPr>
        <p:spPr>
          <a:xfrm>
            <a:off x="6099048" y="2093976"/>
            <a:ext cx="2697480" cy="292608"/>
          </a:xfrm>
          <a:prstGeom prst="rect">
            <a:avLst/>
          </a:prstGeom>
          <a:noFill/>
          <a:ln/>
        </p:spPr>
        <p:txBody>
          <a:bodyPr wrap="square" rtlCol="0" anchor="ctr"/>
          <a:lstStyle/>
          <a:p>
            <a:pPr marL="0" indent="0">
              <a:buNone/>
            </a:pPr>
            <a:r>
              <a:rPr lang="en-US" sz="950" dirty="0">
                <a:solidFill>
                  <a:srgbClr val="333355"/>
                </a:solidFill>
                <a:latin typeface="Baskerville" panose="02020502070401020303" pitchFamily="18" charset="0"/>
                <a:ea typeface="Baskerville" panose="02020502070401020303" pitchFamily="18" charset="0"/>
                <a:cs typeface="Calibri" pitchFamily="34" charset="-120"/>
              </a:rPr>
              <a:t>10-class multi-label classification</a:t>
            </a:r>
            <a:endParaRPr lang="en-US" sz="950" dirty="0">
              <a:latin typeface="Baskerville" panose="02020502070401020303" pitchFamily="18" charset="0"/>
              <a:ea typeface="Baskerville" panose="02020502070401020303" pitchFamily="18" charset="0"/>
            </a:endParaRPr>
          </a:p>
        </p:txBody>
      </p:sp>
      <p:sp>
        <p:nvSpPr>
          <p:cNvPr id="28" name="Text 26"/>
          <p:cNvSpPr/>
          <p:nvPr/>
        </p:nvSpPr>
        <p:spPr>
          <a:xfrm>
            <a:off x="4983480" y="2404872"/>
            <a:ext cx="1097280" cy="292608"/>
          </a:xfrm>
          <a:prstGeom prst="rect">
            <a:avLst/>
          </a:prstGeom>
          <a:noFill/>
          <a:ln/>
        </p:spPr>
        <p:txBody>
          <a:bodyPr wrap="square" rtlCol="0" anchor="ctr"/>
          <a:lstStyle/>
          <a:p>
            <a:pPr marL="0" indent="0">
              <a:buNone/>
            </a:pPr>
            <a:r>
              <a:rPr lang="en-US" sz="950" b="1" dirty="0">
                <a:solidFill>
                  <a:srgbClr val="1B7B8A"/>
                </a:solidFill>
                <a:latin typeface="Baskerville" panose="02020502070401020303" pitchFamily="18" charset="0"/>
                <a:ea typeface="Baskerville" panose="02020502070401020303" pitchFamily="18" charset="0"/>
                <a:cs typeface="Calibri" pitchFamily="34" charset="-120"/>
              </a:rPr>
              <a:t>Features</a:t>
            </a:r>
            <a:endParaRPr lang="en-US" sz="950" dirty="0">
              <a:latin typeface="Baskerville" panose="02020502070401020303" pitchFamily="18" charset="0"/>
              <a:ea typeface="Baskerville" panose="02020502070401020303" pitchFamily="18" charset="0"/>
            </a:endParaRPr>
          </a:p>
        </p:txBody>
      </p:sp>
      <p:sp>
        <p:nvSpPr>
          <p:cNvPr id="29" name="Text 27"/>
          <p:cNvSpPr/>
          <p:nvPr/>
        </p:nvSpPr>
        <p:spPr>
          <a:xfrm>
            <a:off x="6099048" y="2404872"/>
            <a:ext cx="2697480" cy="292608"/>
          </a:xfrm>
          <a:prstGeom prst="rect">
            <a:avLst/>
          </a:prstGeom>
          <a:noFill/>
          <a:ln/>
        </p:spPr>
        <p:txBody>
          <a:bodyPr wrap="square" rtlCol="0" anchor="ctr"/>
          <a:lstStyle/>
          <a:p>
            <a:pPr marL="0" indent="0">
              <a:buNone/>
            </a:pPr>
            <a:r>
              <a:rPr lang="en-US" sz="950" dirty="0">
                <a:solidFill>
                  <a:srgbClr val="333355"/>
                </a:solidFill>
                <a:latin typeface="Baskerville" panose="02020502070401020303" pitchFamily="18" charset="0"/>
                <a:ea typeface="Baskerville" panose="02020502070401020303" pitchFamily="18" charset="0"/>
                <a:cs typeface="Calibri" pitchFamily="34" charset="-120"/>
              </a:rPr>
              <a:t>176 engineered: CTD, PseAAC, reduced dipeptides</a:t>
            </a:r>
            <a:endParaRPr lang="en-US" sz="950" dirty="0">
              <a:latin typeface="Baskerville" panose="02020502070401020303" pitchFamily="18" charset="0"/>
              <a:ea typeface="Baskerville" panose="02020502070401020303" pitchFamily="18" charset="0"/>
            </a:endParaRPr>
          </a:p>
        </p:txBody>
      </p:sp>
      <p:sp>
        <p:nvSpPr>
          <p:cNvPr id="30" name="Text 28"/>
          <p:cNvSpPr/>
          <p:nvPr/>
        </p:nvSpPr>
        <p:spPr>
          <a:xfrm>
            <a:off x="274320" y="2898648"/>
            <a:ext cx="8595360" cy="274320"/>
          </a:xfrm>
          <a:prstGeom prst="rect">
            <a:avLst/>
          </a:prstGeom>
          <a:noFill/>
          <a:ln/>
        </p:spPr>
        <p:txBody>
          <a:bodyPr wrap="square" rtlCol="0" anchor="ctr"/>
          <a:lstStyle/>
          <a:p>
            <a:pPr marL="0" indent="0">
              <a:buNone/>
            </a:pPr>
            <a:r>
              <a:rPr lang="en-US" sz="1300" b="1" dirty="0">
                <a:solidFill>
                  <a:srgbClr val="0D1B4B"/>
                </a:solidFill>
                <a:latin typeface="Baskerville" panose="02020502070401020303" pitchFamily="18" charset="0"/>
                <a:ea typeface="Baskerville" panose="02020502070401020303" pitchFamily="18" charset="0"/>
                <a:cs typeface="Calibri" pitchFamily="34" charset="-120"/>
              </a:rPr>
              <a:t>Unified Modeling Pipeline</a:t>
            </a:r>
            <a:endParaRPr lang="en-US" sz="1300" dirty="0">
              <a:latin typeface="Baskerville" panose="02020502070401020303" pitchFamily="18" charset="0"/>
              <a:ea typeface="Baskerville" panose="02020502070401020303" pitchFamily="18" charset="0"/>
            </a:endParaRPr>
          </a:p>
        </p:txBody>
      </p:sp>
      <p:sp>
        <p:nvSpPr>
          <p:cNvPr id="31" name="Shape 29"/>
          <p:cNvSpPr/>
          <p:nvPr/>
        </p:nvSpPr>
        <p:spPr>
          <a:xfrm>
            <a:off x="274320" y="3246120"/>
            <a:ext cx="1508760" cy="1691640"/>
          </a:xfrm>
          <a:prstGeom prst="rect">
            <a:avLst/>
          </a:prstGeom>
          <a:solidFill>
            <a:srgbClr val="FFFFFF"/>
          </a:solidFill>
          <a:ln w="19050">
            <a:solidFill>
              <a:srgbClr val="0D1B4B"/>
            </a:solidFill>
            <a:prstDash val="solid"/>
          </a:ln>
          <a:effectLst>
            <a:outerShdw blurRad="101600" dist="38100" dir="8100000" algn="bl" rotWithShape="0">
              <a:srgbClr val="000000">
                <a:alpha val="18000"/>
              </a:srgbClr>
            </a:outerShdw>
          </a:effectLst>
        </p:spPr>
        <p:txBody>
          <a:bodyPr/>
          <a:lstStyle/>
          <a:p>
            <a:endParaRPr lang="en-US">
              <a:latin typeface="Baskerville" panose="02020502070401020303" pitchFamily="18" charset="0"/>
              <a:ea typeface="Baskerville" panose="02020502070401020303" pitchFamily="18" charset="0"/>
            </a:endParaRPr>
          </a:p>
        </p:txBody>
      </p:sp>
      <p:sp>
        <p:nvSpPr>
          <p:cNvPr id="32" name="Shape 30"/>
          <p:cNvSpPr/>
          <p:nvPr/>
        </p:nvSpPr>
        <p:spPr>
          <a:xfrm>
            <a:off x="274320" y="3246120"/>
            <a:ext cx="1508760" cy="292608"/>
          </a:xfrm>
          <a:prstGeom prst="rect">
            <a:avLst/>
          </a:prstGeom>
          <a:solidFill>
            <a:srgbClr val="0D1B4B"/>
          </a:solidFill>
          <a:ln w="12700">
            <a:solidFill>
              <a:srgbClr val="000000"/>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33" name="Text 31"/>
          <p:cNvSpPr/>
          <p:nvPr/>
        </p:nvSpPr>
        <p:spPr>
          <a:xfrm>
            <a:off x="274320" y="3246120"/>
            <a:ext cx="1508760" cy="292608"/>
          </a:xfrm>
          <a:prstGeom prst="rect">
            <a:avLst/>
          </a:prstGeom>
          <a:noFill/>
          <a:ln/>
        </p:spPr>
        <p:txBody>
          <a:bodyPr wrap="square" rtlCol="0" anchor="ctr"/>
          <a:lstStyle/>
          <a:p>
            <a:pPr marL="0" indent="0" algn="ctr">
              <a:buNone/>
            </a:pPr>
            <a:r>
              <a:rPr lang="en-US" sz="1100" b="1" dirty="0">
                <a:solidFill>
                  <a:srgbClr val="FFFFFF"/>
                </a:solidFill>
                <a:latin typeface="Baskerville" panose="02020502070401020303" pitchFamily="18" charset="0"/>
                <a:ea typeface="Baskerville" panose="02020502070401020303" pitchFamily="18" charset="0"/>
                <a:cs typeface="Calibri" pitchFamily="34" charset="-120"/>
              </a:rPr>
              <a:t>1</a:t>
            </a:r>
            <a:endParaRPr lang="en-US" sz="1100" dirty="0">
              <a:latin typeface="Baskerville" panose="02020502070401020303" pitchFamily="18" charset="0"/>
              <a:ea typeface="Baskerville" panose="02020502070401020303" pitchFamily="18" charset="0"/>
            </a:endParaRPr>
          </a:p>
        </p:txBody>
      </p:sp>
      <p:sp>
        <p:nvSpPr>
          <p:cNvPr id="34" name="Text 32"/>
          <p:cNvSpPr/>
          <p:nvPr/>
        </p:nvSpPr>
        <p:spPr>
          <a:xfrm>
            <a:off x="274320" y="3566160"/>
            <a:ext cx="1508760" cy="548640"/>
          </a:xfrm>
          <a:prstGeom prst="rect">
            <a:avLst/>
          </a:prstGeom>
          <a:noFill/>
          <a:ln/>
        </p:spPr>
        <p:txBody>
          <a:bodyPr wrap="square" rtlCol="0" anchor="ctr"/>
          <a:lstStyle/>
          <a:p>
            <a:pPr marL="0" indent="0" algn="ctr">
              <a:buNone/>
            </a:pPr>
            <a:r>
              <a:rPr lang="en-US" sz="1100" b="1" dirty="0">
                <a:solidFill>
                  <a:srgbClr val="0D1B4B"/>
                </a:solidFill>
                <a:latin typeface="Baskerville" panose="02020502070401020303" pitchFamily="18" charset="0"/>
                <a:ea typeface="Baskerville" panose="02020502070401020303" pitchFamily="18" charset="0"/>
                <a:cs typeface="Calibri" pitchFamily="34" charset="-120"/>
              </a:rPr>
              <a:t>Raw</a:t>
            </a:r>
            <a:endParaRPr lang="en-US" sz="1100" dirty="0">
              <a:latin typeface="Baskerville" panose="02020502070401020303" pitchFamily="18" charset="0"/>
              <a:ea typeface="Baskerville" panose="02020502070401020303" pitchFamily="18" charset="0"/>
            </a:endParaRPr>
          </a:p>
          <a:p>
            <a:pPr marL="0" indent="0" algn="ctr">
              <a:buNone/>
            </a:pPr>
            <a:r>
              <a:rPr lang="en-US" sz="1100" b="1" dirty="0">
                <a:solidFill>
                  <a:srgbClr val="0D1B4B"/>
                </a:solidFill>
                <a:latin typeface="Baskerville" panose="02020502070401020303" pitchFamily="18" charset="0"/>
                <a:ea typeface="Baskerville" panose="02020502070401020303" pitchFamily="18" charset="0"/>
                <a:cs typeface="Calibri" pitchFamily="34" charset="-120"/>
              </a:rPr>
              <a:t>Sequences</a:t>
            </a:r>
            <a:endParaRPr lang="en-US" sz="1100" dirty="0">
              <a:latin typeface="Baskerville" panose="02020502070401020303" pitchFamily="18" charset="0"/>
              <a:ea typeface="Baskerville" panose="02020502070401020303" pitchFamily="18" charset="0"/>
            </a:endParaRPr>
          </a:p>
        </p:txBody>
      </p:sp>
      <p:sp>
        <p:nvSpPr>
          <p:cNvPr id="35" name="Text 33"/>
          <p:cNvSpPr/>
          <p:nvPr/>
        </p:nvSpPr>
        <p:spPr>
          <a:xfrm>
            <a:off x="347472" y="4114800"/>
            <a:ext cx="1362456" cy="777240"/>
          </a:xfrm>
          <a:prstGeom prst="rect">
            <a:avLst/>
          </a:prstGeom>
          <a:noFill/>
          <a:ln/>
        </p:spPr>
        <p:txBody>
          <a:bodyPr wrap="square" rtlCol="0" anchor="ctr"/>
          <a:lstStyle/>
          <a:p>
            <a:pPr marL="0" indent="0" algn="ctr">
              <a:buNone/>
            </a:pPr>
            <a:r>
              <a:rPr lang="en-US" sz="850" dirty="0">
                <a:solidFill>
                  <a:srgbClr val="444455"/>
                </a:solidFill>
                <a:latin typeface="Baskerville" panose="02020502070401020303" pitchFamily="18" charset="0"/>
                <a:ea typeface="Baskerville" panose="02020502070401020303" pitchFamily="18" charset="0"/>
                <a:cs typeface="Calibri" pitchFamily="34" charset="-120"/>
              </a:rPr>
              <a:t>GRCh38 DNA</a:t>
            </a:r>
            <a:endParaRPr lang="en-US" sz="850" dirty="0">
              <a:latin typeface="Baskerville" panose="02020502070401020303" pitchFamily="18" charset="0"/>
              <a:ea typeface="Baskerville" panose="02020502070401020303" pitchFamily="18" charset="0"/>
            </a:endParaRPr>
          </a:p>
          <a:p>
            <a:pPr marL="0" indent="0" algn="ctr">
              <a:buNone/>
            </a:pPr>
            <a:r>
              <a:rPr lang="en-US" sz="850" dirty="0">
                <a:solidFill>
                  <a:srgbClr val="444455"/>
                </a:solidFill>
                <a:latin typeface="Baskerville" panose="02020502070401020303" pitchFamily="18" charset="0"/>
                <a:ea typeface="Baskerville" panose="02020502070401020303" pitchFamily="18" charset="0"/>
                <a:cs typeface="Calibri" pitchFamily="34" charset="-120"/>
              </a:rPr>
              <a:t>UniProt Protein</a:t>
            </a:r>
            <a:endParaRPr lang="en-US" sz="850" dirty="0">
              <a:latin typeface="Baskerville" panose="02020502070401020303" pitchFamily="18" charset="0"/>
              <a:ea typeface="Baskerville" panose="02020502070401020303" pitchFamily="18" charset="0"/>
            </a:endParaRPr>
          </a:p>
        </p:txBody>
      </p:sp>
      <p:sp>
        <p:nvSpPr>
          <p:cNvPr id="36" name="Shape 34"/>
          <p:cNvSpPr/>
          <p:nvPr/>
        </p:nvSpPr>
        <p:spPr>
          <a:xfrm>
            <a:off x="1783080" y="4087368"/>
            <a:ext cx="228600" cy="0"/>
          </a:xfrm>
          <a:prstGeom prst="line">
            <a:avLst/>
          </a:prstGeom>
          <a:noFill/>
          <a:ln w="25400">
            <a:solidFill>
              <a:srgbClr val="2451B7"/>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37" name="Text 35"/>
          <p:cNvSpPr/>
          <p:nvPr/>
        </p:nvSpPr>
        <p:spPr>
          <a:xfrm>
            <a:off x="1828800" y="3977640"/>
            <a:ext cx="182880" cy="228600"/>
          </a:xfrm>
          <a:prstGeom prst="rect">
            <a:avLst/>
          </a:prstGeom>
          <a:noFill/>
          <a:ln/>
        </p:spPr>
        <p:txBody>
          <a:bodyPr wrap="square" rtlCol="0" anchor="ctr"/>
          <a:lstStyle/>
          <a:p>
            <a:pPr marL="0" indent="0" algn="ctr">
              <a:buNone/>
            </a:pPr>
            <a:r>
              <a:rPr lang="en-US" sz="1000" dirty="0">
                <a:solidFill>
                  <a:srgbClr val="2451B7"/>
                </a:solidFill>
                <a:latin typeface="Baskerville" panose="02020502070401020303" pitchFamily="18" charset="0"/>
                <a:ea typeface="Baskerville" panose="02020502070401020303" pitchFamily="18" charset="0"/>
              </a:rPr>
              <a:t>▶</a:t>
            </a:r>
            <a:endParaRPr lang="en-US" sz="1000" dirty="0">
              <a:latin typeface="Baskerville" panose="02020502070401020303" pitchFamily="18" charset="0"/>
              <a:ea typeface="Baskerville" panose="02020502070401020303" pitchFamily="18" charset="0"/>
            </a:endParaRPr>
          </a:p>
        </p:txBody>
      </p:sp>
      <p:sp>
        <p:nvSpPr>
          <p:cNvPr id="38" name="Shape 36"/>
          <p:cNvSpPr/>
          <p:nvPr/>
        </p:nvSpPr>
        <p:spPr>
          <a:xfrm>
            <a:off x="2011680" y="3246120"/>
            <a:ext cx="1508760" cy="1691640"/>
          </a:xfrm>
          <a:prstGeom prst="rect">
            <a:avLst/>
          </a:prstGeom>
          <a:solidFill>
            <a:srgbClr val="FFFFFF"/>
          </a:solidFill>
          <a:ln w="19050">
            <a:solidFill>
              <a:srgbClr val="1A3A8F"/>
            </a:solidFill>
            <a:prstDash val="solid"/>
          </a:ln>
          <a:effectLst>
            <a:outerShdw blurRad="101600" dist="38100" dir="8100000" algn="bl" rotWithShape="0">
              <a:srgbClr val="000000">
                <a:alpha val="18000"/>
              </a:srgbClr>
            </a:outerShdw>
          </a:effectLst>
        </p:spPr>
        <p:txBody>
          <a:bodyPr/>
          <a:lstStyle/>
          <a:p>
            <a:endParaRPr lang="en-US">
              <a:latin typeface="Baskerville" panose="02020502070401020303" pitchFamily="18" charset="0"/>
              <a:ea typeface="Baskerville" panose="02020502070401020303" pitchFamily="18" charset="0"/>
            </a:endParaRPr>
          </a:p>
        </p:txBody>
      </p:sp>
      <p:sp>
        <p:nvSpPr>
          <p:cNvPr id="39" name="Shape 37"/>
          <p:cNvSpPr/>
          <p:nvPr/>
        </p:nvSpPr>
        <p:spPr>
          <a:xfrm>
            <a:off x="2011680" y="3246120"/>
            <a:ext cx="1508760" cy="292608"/>
          </a:xfrm>
          <a:prstGeom prst="rect">
            <a:avLst/>
          </a:prstGeom>
          <a:solidFill>
            <a:srgbClr val="1A3A8F"/>
          </a:solidFill>
          <a:ln w="12700">
            <a:solidFill>
              <a:srgbClr val="000000"/>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40" name="Text 38"/>
          <p:cNvSpPr/>
          <p:nvPr/>
        </p:nvSpPr>
        <p:spPr>
          <a:xfrm>
            <a:off x="2011680" y="3246120"/>
            <a:ext cx="1508760" cy="292608"/>
          </a:xfrm>
          <a:prstGeom prst="rect">
            <a:avLst/>
          </a:prstGeom>
          <a:noFill/>
          <a:ln/>
        </p:spPr>
        <p:txBody>
          <a:bodyPr wrap="square" rtlCol="0" anchor="ctr"/>
          <a:lstStyle/>
          <a:p>
            <a:pPr marL="0" indent="0" algn="ctr">
              <a:buNone/>
            </a:pPr>
            <a:r>
              <a:rPr lang="en-US" sz="1100" b="1" dirty="0">
                <a:solidFill>
                  <a:srgbClr val="FFFFFF"/>
                </a:solidFill>
                <a:latin typeface="Baskerville" panose="02020502070401020303" pitchFamily="18" charset="0"/>
                <a:ea typeface="Baskerville" panose="02020502070401020303" pitchFamily="18" charset="0"/>
                <a:cs typeface="Calibri" pitchFamily="34" charset="-120"/>
              </a:rPr>
              <a:t>2</a:t>
            </a:r>
            <a:endParaRPr lang="en-US" sz="1100" dirty="0">
              <a:latin typeface="Baskerville" panose="02020502070401020303" pitchFamily="18" charset="0"/>
              <a:ea typeface="Baskerville" panose="02020502070401020303" pitchFamily="18" charset="0"/>
            </a:endParaRPr>
          </a:p>
        </p:txBody>
      </p:sp>
      <p:sp>
        <p:nvSpPr>
          <p:cNvPr id="41" name="Text 39"/>
          <p:cNvSpPr/>
          <p:nvPr/>
        </p:nvSpPr>
        <p:spPr>
          <a:xfrm>
            <a:off x="2011680" y="3566160"/>
            <a:ext cx="1508760" cy="548640"/>
          </a:xfrm>
          <a:prstGeom prst="rect">
            <a:avLst/>
          </a:prstGeom>
          <a:noFill/>
          <a:ln/>
        </p:spPr>
        <p:txBody>
          <a:bodyPr wrap="square" rtlCol="0" anchor="ctr"/>
          <a:lstStyle/>
          <a:p>
            <a:pPr marL="0" indent="0" algn="ctr">
              <a:buNone/>
            </a:pPr>
            <a:r>
              <a:rPr lang="en-US" sz="1100" b="1" dirty="0">
                <a:solidFill>
                  <a:srgbClr val="1A3A8F"/>
                </a:solidFill>
                <a:latin typeface="Baskerville" panose="02020502070401020303" pitchFamily="18" charset="0"/>
                <a:ea typeface="Baskerville" panose="02020502070401020303" pitchFamily="18" charset="0"/>
                <a:cs typeface="Calibri" pitchFamily="34" charset="-120"/>
              </a:rPr>
              <a:t>Feature</a:t>
            </a:r>
            <a:endParaRPr lang="en-US" sz="1100" dirty="0">
              <a:latin typeface="Baskerville" panose="02020502070401020303" pitchFamily="18" charset="0"/>
              <a:ea typeface="Baskerville" panose="02020502070401020303" pitchFamily="18" charset="0"/>
            </a:endParaRPr>
          </a:p>
          <a:p>
            <a:pPr marL="0" indent="0" algn="ctr">
              <a:buNone/>
            </a:pPr>
            <a:r>
              <a:rPr lang="en-US" sz="1100" b="1" dirty="0">
                <a:solidFill>
                  <a:srgbClr val="1A3A8F"/>
                </a:solidFill>
                <a:latin typeface="Baskerville" panose="02020502070401020303" pitchFamily="18" charset="0"/>
                <a:ea typeface="Baskerville" panose="02020502070401020303" pitchFamily="18" charset="0"/>
                <a:cs typeface="Calibri" pitchFamily="34" charset="-120"/>
              </a:rPr>
              <a:t>Engineering</a:t>
            </a:r>
            <a:endParaRPr lang="en-US" sz="1100" dirty="0">
              <a:latin typeface="Baskerville" panose="02020502070401020303" pitchFamily="18" charset="0"/>
              <a:ea typeface="Baskerville" panose="02020502070401020303" pitchFamily="18" charset="0"/>
            </a:endParaRPr>
          </a:p>
        </p:txBody>
      </p:sp>
      <p:sp>
        <p:nvSpPr>
          <p:cNvPr id="42" name="Text 40"/>
          <p:cNvSpPr/>
          <p:nvPr/>
        </p:nvSpPr>
        <p:spPr>
          <a:xfrm>
            <a:off x="2084832" y="4114800"/>
            <a:ext cx="1362456" cy="777240"/>
          </a:xfrm>
          <a:prstGeom prst="rect">
            <a:avLst/>
          </a:prstGeom>
          <a:noFill/>
          <a:ln/>
        </p:spPr>
        <p:txBody>
          <a:bodyPr wrap="square" rtlCol="0" anchor="ctr"/>
          <a:lstStyle/>
          <a:p>
            <a:pPr marL="0" indent="0" algn="ctr">
              <a:buNone/>
            </a:pPr>
            <a:r>
              <a:rPr lang="en-US" sz="850" dirty="0">
                <a:solidFill>
                  <a:srgbClr val="444455"/>
                </a:solidFill>
                <a:latin typeface="Baskerville" panose="02020502070401020303" pitchFamily="18" charset="0"/>
                <a:ea typeface="Baskerville" panose="02020502070401020303" pitchFamily="18" charset="0"/>
                <a:cs typeface="Calibri" pitchFamily="34" charset="-120"/>
              </a:rPr>
              <a:t>95 DNA features</a:t>
            </a:r>
            <a:endParaRPr lang="en-US" sz="850" dirty="0">
              <a:latin typeface="Baskerville" panose="02020502070401020303" pitchFamily="18" charset="0"/>
              <a:ea typeface="Baskerville" panose="02020502070401020303" pitchFamily="18" charset="0"/>
            </a:endParaRPr>
          </a:p>
          <a:p>
            <a:pPr marL="0" indent="0" algn="ctr">
              <a:buNone/>
            </a:pPr>
            <a:r>
              <a:rPr lang="en-US" sz="850" dirty="0">
                <a:solidFill>
                  <a:srgbClr val="444455"/>
                </a:solidFill>
                <a:latin typeface="Baskerville" panose="02020502070401020303" pitchFamily="18" charset="0"/>
                <a:ea typeface="Baskerville" panose="02020502070401020303" pitchFamily="18" charset="0"/>
                <a:cs typeface="Calibri" pitchFamily="34" charset="-120"/>
              </a:rPr>
              <a:t>176 Protein features</a:t>
            </a:r>
            <a:endParaRPr lang="en-US" sz="850" dirty="0">
              <a:latin typeface="Baskerville" panose="02020502070401020303" pitchFamily="18" charset="0"/>
              <a:ea typeface="Baskerville" panose="02020502070401020303" pitchFamily="18" charset="0"/>
            </a:endParaRPr>
          </a:p>
        </p:txBody>
      </p:sp>
      <p:sp>
        <p:nvSpPr>
          <p:cNvPr id="43" name="Shape 41"/>
          <p:cNvSpPr/>
          <p:nvPr/>
        </p:nvSpPr>
        <p:spPr>
          <a:xfrm>
            <a:off x="3520440" y="4087368"/>
            <a:ext cx="228600" cy="0"/>
          </a:xfrm>
          <a:prstGeom prst="line">
            <a:avLst/>
          </a:prstGeom>
          <a:noFill/>
          <a:ln w="25400">
            <a:solidFill>
              <a:srgbClr val="2451B7"/>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44" name="Text 42"/>
          <p:cNvSpPr/>
          <p:nvPr/>
        </p:nvSpPr>
        <p:spPr>
          <a:xfrm>
            <a:off x="3566160" y="3977640"/>
            <a:ext cx="182880" cy="228600"/>
          </a:xfrm>
          <a:prstGeom prst="rect">
            <a:avLst/>
          </a:prstGeom>
          <a:noFill/>
          <a:ln/>
        </p:spPr>
        <p:txBody>
          <a:bodyPr wrap="square" rtlCol="0" anchor="ctr"/>
          <a:lstStyle/>
          <a:p>
            <a:pPr marL="0" indent="0" algn="ctr">
              <a:buNone/>
            </a:pPr>
            <a:r>
              <a:rPr lang="en-US" sz="1000" dirty="0">
                <a:solidFill>
                  <a:srgbClr val="2451B7"/>
                </a:solidFill>
                <a:latin typeface="Baskerville" panose="02020502070401020303" pitchFamily="18" charset="0"/>
                <a:ea typeface="Baskerville" panose="02020502070401020303" pitchFamily="18" charset="0"/>
              </a:rPr>
              <a:t>▶</a:t>
            </a:r>
            <a:endParaRPr lang="en-US" sz="1000" dirty="0">
              <a:latin typeface="Baskerville" panose="02020502070401020303" pitchFamily="18" charset="0"/>
              <a:ea typeface="Baskerville" panose="02020502070401020303" pitchFamily="18" charset="0"/>
            </a:endParaRPr>
          </a:p>
        </p:txBody>
      </p:sp>
      <p:sp>
        <p:nvSpPr>
          <p:cNvPr id="45" name="Shape 43"/>
          <p:cNvSpPr/>
          <p:nvPr/>
        </p:nvSpPr>
        <p:spPr>
          <a:xfrm>
            <a:off x="3749040" y="3246120"/>
            <a:ext cx="1508760" cy="1691640"/>
          </a:xfrm>
          <a:prstGeom prst="rect">
            <a:avLst/>
          </a:prstGeom>
          <a:solidFill>
            <a:srgbClr val="FFFFFF"/>
          </a:solidFill>
          <a:ln w="19050">
            <a:solidFill>
              <a:srgbClr val="2451B7"/>
            </a:solidFill>
            <a:prstDash val="solid"/>
          </a:ln>
          <a:effectLst>
            <a:outerShdw blurRad="101600" dist="38100" dir="8100000" algn="bl" rotWithShape="0">
              <a:srgbClr val="000000">
                <a:alpha val="18000"/>
              </a:srgbClr>
            </a:outerShdw>
          </a:effectLst>
        </p:spPr>
        <p:txBody>
          <a:bodyPr/>
          <a:lstStyle/>
          <a:p>
            <a:endParaRPr lang="en-US">
              <a:latin typeface="Baskerville" panose="02020502070401020303" pitchFamily="18" charset="0"/>
              <a:ea typeface="Baskerville" panose="02020502070401020303" pitchFamily="18" charset="0"/>
            </a:endParaRPr>
          </a:p>
        </p:txBody>
      </p:sp>
      <p:sp>
        <p:nvSpPr>
          <p:cNvPr id="46" name="Shape 44"/>
          <p:cNvSpPr/>
          <p:nvPr/>
        </p:nvSpPr>
        <p:spPr>
          <a:xfrm>
            <a:off x="3749040" y="3246120"/>
            <a:ext cx="1508760" cy="292608"/>
          </a:xfrm>
          <a:prstGeom prst="rect">
            <a:avLst/>
          </a:prstGeom>
          <a:solidFill>
            <a:srgbClr val="2451B7"/>
          </a:solidFill>
          <a:ln w="12700">
            <a:solidFill>
              <a:srgbClr val="000000"/>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47" name="Text 45"/>
          <p:cNvSpPr/>
          <p:nvPr/>
        </p:nvSpPr>
        <p:spPr>
          <a:xfrm>
            <a:off x="3749040" y="3246120"/>
            <a:ext cx="1508760" cy="292608"/>
          </a:xfrm>
          <a:prstGeom prst="rect">
            <a:avLst/>
          </a:prstGeom>
          <a:noFill/>
          <a:ln/>
        </p:spPr>
        <p:txBody>
          <a:bodyPr wrap="square" rtlCol="0" anchor="ctr"/>
          <a:lstStyle/>
          <a:p>
            <a:pPr marL="0" indent="0" algn="ctr">
              <a:buNone/>
            </a:pPr>
            <a:r>
              <a:rPr lang="en-US" sz="1100" b="1" dirty="0">
                <a:solidFill>
                  <a:srgbClr val="FFFFFF"/>
                </a:solidFill>
                <a:latin typeface="Baskerville" panose="02020502070401020303" pitchFamily="18" charset="0"/>
                <a:ea typeface="Baskerville" panose="02020502070401020303" pitchFamily="18" charset="0"/>
                <a:cs typeface="Calibri" pitchFamily="34" charset="-120"/>
              </a:rPr>
              <a:t>3</a:t>
            </a:r>
            <a:endParaRPr lang="en-US" sz="1100" dirty="0">
              <a:latin typeface="Baskerville" panose="02020502070401020303" pitchFamily="18" charset="0"/>
              <a:ea typeface="Baskerville" panose="02020502070401020303" pitchFamily="18" charset="0"/>
            </a:endParaRPr>
          </a:p>
        </p:txBody>
      </p:sp>
      <p:sp>
        <p:nvSpPr>
          <p:cNvPr id="48" name="Text 46"/>
          <p:cNvSpPr/>
          <p:nvPr/>
        </p:nvSpPr>
        <p:spPr>
          <a:xfrm>
            <a:off x="3749040" y="3566160"/>
            <a:ext cx="1508760" cy="548640"/>
          </a:xfrm>
          <a:prstGeom prst="rect">
            <a:avLst/>
          </a:prstGeom>
          <a:noFill/>
          <a:ln/>
        </p:spPr>
        <p:txBody>
          <a:bodyPr wrap="square" rtlCol="0" anchor="ctr"/>
          <a:lstStyle/>
          <a:p>
            <a:pPr marL="0" indent="0" algn="ctr">
              <a:buNone/>
            </a:pPr>
            <a:r>
              <a:rPr lang="en-US" sz="1100" b="1" dirty="0">
                <a:solidFill>
                  <a:srgbClr val="2451B7"/>
                </a:solidFill>
                <a:latin typeface="Baskerville" panose="02020502070401020303" pitchFamily="18" charset="0"/>
                <a:ea typeface="Baskerville" panose="02020502070401020303" pitchFamily="18" charset="0"/>
                <a:cs typeface="Calibri" pitchFamily="34" charset="-120"/>
              </a:rPr>
              <a:t>Transformer</a:t>
            </a:r>
            <a:endParaRPr lang="en-US" sz="1100" dirty="0">
              <a:latin typeface="Baskerville" panose="02020502070401020303" pitchFamily="18" charset="0"/>
              <a:ea typeface="Baskerville" panose="02020502070401020303" pitchFamily="18" charset="0"/>
            </a:endParaRPr>
          </a:p>
          <a:p>
            <a:pPr marL="0" indent="0" algn="ctr">
              <a:buNone/>
            </a:pPr>
            <a:r>
              <a:rPr lang="en-US" sz="1100" b="1" dirty="0">
                <a:solidFill>
                  <a:srgbClr val="2451B7"/>
                </a:solidFill>
                <a:latin typeface="Baskerville" panose="02020502070401020303" pitchFamily="18" charset="0"/>
                <a:ea typeface="Baskerville" panose="02020502070401020303" pitchFamily="18" charset="0"/>
                <a:cs typeface="Calibri" pitchFamily="34" charset="-120"/>
              </a:rPr>
              <a:t>Embeddings</a:t>
            </a:r>
            <a:endParaRPr lang="en-US" sz="1100" dirty="0">
              <a:latin typeface="Baskerville" panose="02020502070401020303" pitchFamily="18" charset="0"/>
              <a:ea typeface="Baskerville" panose="02020502070401020303" pitchFamily="18" charset="0"/>
            </a:endParaRPr>
          </a:p>
        </p:txBody>
      </p:sp>
      <p:sp>
        <p:nvSpPr>
          <p:cNvPr id="49" name="Text 47"/>
          <p:cNvSpPr/>
          <p:nvPr/>
        </p:nvSpPr>
        <p:spPr>
          <a:xfrm>
            <a:off x="3822192" y="4114800"/>
            <a:ext cx="1362456" cy="777240"/>
          </a:xfrm>
          <a:prstGeom prst="rect">
            <a:avLst/>
          </a:prstGeom>
          <a:noFill/>
          <a:ln/>
        </p:spPr>
        <p:txBody>
          <a:bodyPr wrap="square" rtlCol="0" anchor="ctr"/>
          <a:lstStyle/>
          <a:p>
            <a:pPr marL="0" indent="0" algn="ctr">
              <a:buNone/>
            </a:pPr>
            <a:r>
              <a:rPr lang="en-US" sz="850" dirty="0">
                <a:solidFill>
                  <a:srgbClr val="444455"/>
                </a:solidFill>
                <a:latin typeface="Baskerville" panose="02020502070401020303" pitchFamily="18" charset="0"/>
                <a:ea typeface="Baskerville" panose="02020502070401020303" pitchFamily="18" charset="0"/>
                <a:cs typeface="Calibri" pitchFamily="34" charset="-120"/>
              </a:rPr>
              <a:t>DNABERT-2 · NT-500M</a:t>
            </a:r>
            <a:endParaRPr lang="en-US" sz="850" dirty="0">
              <a:latin typeface="Baskerville" panose="02020502070401020303" pitchFamily="18" charset="0"/>
              <a:ea typeface="Baskerville" panose="02020502070401020303" pitchFamily="18" charset="0"/>
            </a:endParaRPr>
          </a:p>
          <a:p>
            <a:pPr marL="0" indent="0" algn="ctr">
              <a:buNone/>
            </a:pPr>
            <a:r>
              <a:rPr lang="en-US" sz="850" dirty="0">
                <a:solidFill>
                  <a:srgbClr val="444455"/>
                </a:solidFill>
                <a:latin typeface="Baskerville" panose="02020502070401020303" pitchFamily="18" charset="0"/>
                <a:ea typeface="Baskerville" panose="02020502070401020303" pitchFamily="18" charset="0"/>
                <a:cs typeface="Calibri" pitchFamily="34" charset="-120"/>
              </a:rPr>
              <a:t>ESM-2 · ProtBERT</a:t>
            </a:r>
            <a:endParaRPr lang="en-US" sz="850" dirty="0">
              <a:latin typeface="Baskerville" panose="02020502070401020303" pitchFamily="18" charset="0"/>
              <a:ea typeface="Baskerville" panose="02020502070401020303" pitchFamily="18" charset="0"/>
            </a:endParaRPr>
          </a:p>
        </p:txBody>
      </p:sp>
      <p:sp>
        <p:nvSpPr>
          <p:cNvPr id="50" name="Shape 48"/>
          <p:cNvSpPr/>
          <p:nvPr/>
        </p:nvSpPr>
        <p:spPr>
          <a:xfrm>
            <a:off x="5257800" y="4087368"/>
            <a:ext cx="228600" cy="0"/>
          </a:xfrm>
          <a:prstGeom prst="line">
            <a:avLst/>
          </a:prstGeom>
          <a:noFill/>
          <a:ln w="25400">
            <a:solidFill>
              <a:srgbClr val="2451B7"/>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51" name="Text 49"/>
          <p:cNvSpPr/>
          <p:nvPr/>
        </p:nvSpPr>
        <p:spPr>
          <a:xfrm>
            <a:off x="5303520" y="3977640"/>
            <a:ext cx="182880" cy="228600"/>
          </a:xfrm>
          <a:prstGeom prst="rect">
            <a:avLst/>
          </a:prstGeom>
          <a:noFill/>
          <a:ln/>
        </p:spPr>
        <p:txBody>
          <a:bodyPr wrap="square" rtlCol="0" anchor="ctr"/>
          <a:lstStyle/>
          <a:p>
            <a:pPr marL="0" indent="0" algn="ctr">
              <a:buNone/>
            </a:pPr>
            <a:r>
              <a:rPr lang="en-US" sz="1000" dirty="0">
                <a:solidFill>
                  <a:srgbClr val="2451B7"/>
                </a:solidFill>
                <a:latin typeface="Baskerville" panose="02020502070401020303" pitchFamily="18" charset="0"/>
                <a:ea typeface="Baskerville" panose="02020502070401020303" pitchFamily="18" charset="0"/>
              </a:rPr>
              <a:t>▶</a:t>
            </a:r>
            <a:endParaRPr lang="en-US" sz="1000" dirty="0">
              <a:latin typeface="Baskerville" panose="02020502070401020303" pitchFamily="18" charset="0"/>
              <a:ea typeface="Baskerville" panose="02020502070401020303" pitchFamily="18" charset="0"/>
            </a:endParaRPr>
          </a:p>
        </p:txBody>
      </p:sp>
      <p:sp>
        <p:nvSpPr>
          <p:cNvPr id="52" name="Shape 50"/>
          <p:cNvSpPr/>
          <p:nvPr/>
        </p:nvSpPr>
        <p:spPr>
          <a:xfrm>
            <a:off x="5486400" y="3246120"/>
            <a:ext cx="1508760" cy="1691640"/>
          </a:xfrm>
          <a:prstGeom prst="rect">
            <a:avLst/>
          </a:prstGeom>
          <a:solidFill>
            <a:srgbClr val="FFFFFF"/>
          </a:solidFill>
          <a:ln w="19050">
            <a:solidFill>
              <a:srgbClr val="1B7B8A"/>
            </a:solidFill>
            <a:prstDash val="solid"/>
          </a:ln>
          <a:effectLst>
            <a:outerShdw blurRad="101600" dist="38100" dir="8100000" algn="bl" rotWithShape="0">
              <a:srgbClr val="000000">
                <a:alpha val="18000"/>
              </a:srgbClr>
            </a:outerShdw>
          </a:effectLst>
        </p:spPr>
        <p:txBody>
          <a:bodyPr/>
          <a:lstStyle/>
          <a:p>
            <a:endParaRPr lang="en-US">
              <a:latin typeface="Baskerville" panose="02020502070401020303" pitchFamily="18" charset="0"/>
              <a:ea typeface="Baskerville" panose="02020502070401020303" pitchFamily="18" charset="0"/>
            </a:endParaRPr>
          </a:p>
        </p:txBody>
      </p:sp>
      <p:sp>
        <p:nvSpPr>
          <p:cNvPr id="53" name="Shape 51"/>
          <p:cNvSpPr/>
          <p:nvPr/>
        </p:nvSpPr>
        <p:spPr>
          <a:xfrm>
            <a:off x="5486400" y="3246120"/>
            <a:ext cx="1508760" cy="292608"/>
          </a:xfrm>
          <a:prstGeom prst="rect">
            <a:avLst/>
          </a:prstGeom>
          <a:solidFill>
            <a:srgbClr val="1B7B8A"/>
          </a:solidFill>
          <a:ln w="12700">
            <a:solidFill>
              <a:srgbClr val="000000"/>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54" name="Text 52"/>
          <p:cNvSpPr/>
          <p:nvPr/>
        </p:nvSpPr>
        <p:spPr>
          <a:xfrm>
            <a:off x="5486400" y="3246120"/>
            <a:ext cx="1508760" cy="292608"/>
          </a:xfrm>
          <a:prstGeom prst="rect">
            <a:avLst/>
          </a:prstGeom>
          <a:noFill/>
          <a:ln/>
        </p:spPr>
        <p:txBody>
          <a:bodyPr wrap="square" rtlCol="0" anchor="ctr"/>
          <a:lstStyle/>
          <a:p>
            <a:pPr marL="0" indent="0" algn="ctr">
              <a:buNone/>
            </a:pPr>
            <a:r>
              <a:rPr lang="en-US" sz="1100" b="1" dirty="0">
                <a:solidFill>
                  <a:srgbClr val="FFFFFF"/>
                </a:solidFill>
                <a:latin typeface="Baskerville" panose="02020502070401020303" pitchFamily="18" charset="0"/>
                <a:ea typeface="Baskerville" panose="02020502070401020303" pitchFamily="18" charset="0"/>
                <a:cs typeface="Calibri" pitchFamily="34" charset="-120"/>
              </a:rPr>
              <a:t>4</a:t>
            </a:r>
            <a:endParaRPr lang="en-US" sz="1100" dirty="0">
              <a:latin typeface="Baskerville" panose="02020502070401020303" pitchFamily="18" charset="0"/>
              <a:ea typeface="Baskerville" panose="02020502070401020303" pitchFamily="18" charset="0"/>
            </a:endParaRPr>
          </a:p>
        </p:txBody>
      </p:sp>
      <p:sp>
        <p:nvSpPr>
          <p:cNvPr id="55" name="Text 53"/>
          <p:cNvSpPr/>
          <p:nvPr/>
        </p:nvSpPr>
        <p:spPr>
          <a:xfrm>
            <a:off x="5486400" y="3566160"/>
            <a:ext cx="1508760" cy="548640"/>
          </a:xfrm>
          <a:prstGeom prst="rect">
            <a:avLst/>
          </a:prstGeom>
          <a:noFill/>
          <a:ln/>
        </p:spPr>
        <p:txBody>
          <a:bodyPr wrap="square" rtlCol="0" anchor="ctr"/>
          <a:lstStyle/>
          <a:p>
            <a:pPr marL="0" indent="0" algn="ctr">
              <a:buNone/>
            </a:pPr>
            <a:r>
              <a:rPr lang="en-US" sz="1100" b="1" dirty="0">
                <a:solidFill>
                  <a:srgbClr val="1B7B8A"/>
                </a:solidFill>
                <a:latin typeface="Baskerville" panose="02020502070401020303" pitchFamily="18" charset="0"/>
                <a:ea typeface="Baskerville" panose="02020502070401020303" pitchFamily="18" charset="0"/>
                <a:cs typeface="Calibri" pitchFamily="34" charset="-120"/>
              </a:rPr>
              <a:t>Downstream</a:t>
            </a:r>
            <a:endParaRPr lang="en-US" sz="1100" dirty="0">
              <a:latin typeface="Baskerville" panose="02020502070401020303" pitchFamily="18" charset="0"/>
              <a:ea typeface="Baskerville" panose="02020502070401020303" pitchFamily="18" charset="0"/>
            </a:endParaRPr>
          </a:p>
          <a:p>
            <a:pPr marL="0" indent="0" algn="ctr">
              <a:buNone/>
            </a:pPr>
            <a:r>
              <a:rPr lang="en-US" sz="1100" b="1" dirty="0">
                <a:solidFill>
                  <a:srgbClr val="1B7B8A"/>
                </a:solidFill>
                <a:latin typeface="Baskerville" panose="02020502070401020303" pitchFamily="18" charset="0"/>
                <a:ea typeface="Baskerville" panose="02020502070401020303" pitchFamily="18" charset="0"/>
                <a:cs typeface="Calibri" pitchFamily="34" charset="-120"/>
              </a:rPr>
              <a:t>Classifiers</a:t>
            </a:r>
            <a:endParaRPr lang="en-US" sz="1100" dirty="0">
              <a:latin typeface="Baskerville" panose="02020502070401020303" pitchFamily="18" charset="0"/>
              <a:ea typeface="Baskerville" panose="02020502070401020303" pitchFamily="18" charset="0"/>
            </a:endParaRPr>
          </a:p>
        </p:txBody>
      </p:sp>
      <p:sp>
        <p:nvSpPr>
          <p:cNvPr id="56" name="Text 54"/>
          <p:cNvSpPr/>
          <p:nvPr/>
        </p:nvSpPr>
        <p:spPr>
          <a:xfrm>
            <a:off x="5559552" y="4114800"/>
            <a:ext cx="1362456" cy="777240"/>
          </a:xfrm>
          <a:prstGeom prst="rect">
            <a:avLst/>
          </a:prstGeom>
          <a:noFill/>
          <a:ln/>
        </p:spPr>
        <p:txBody>
          <a:bodyPr wrap="square" rtlCol="0" anchor="ctr"/>
          <a:lstStyle/>
          <a:p>
            <a:pPr marL="0" indent="0" algn="ctr">
              <a:buNone/>
            </a:pPr>
            <a:r>
              <a:rPr lang="en-US" sz="850" dirty="0">
                <a:solidFill>
                  <a:srgbClr val="444455"/>
                </a:solidFill>
                <a:latin typeface="Baskerville" panose="02020502070401020303" pitchFamily="18" charset="0"/>
                <a:ea typeface="Baskerville" panose="02020502070401020303" pitchFamily="18" charset="0"/>
                <a:cs typeface="Calibri" pitchFamily="34" charset="-120"/>
              </a:rPr>
              <a:t>LR · SVM · RF</a:t>
            </a:r>
            <a:endParaRPr lang="en-US" sz="850" dirty="0">
              <a:latin typeface="Baskerville" panose="02020502070401020303" pitchFamily="18" charset="0"/>
              <a:ea typeface="Baskerville" panose="02020502070401020303" pitchFamily="18" charset="0"/>
            </a:endParaRPr>
          </a:p>
          <a:p>
            <a:pPr marL="0" indent="0" algn="ctr">
              <a:buNone/>
            </a:pPr>
            <a:r>
              <a:rPr lang="en-US" sz="850" dirty="0">
                <a:solidFill>
                  <a:srgbClr val="444455"/>
                </a:solidFill>
                <a:latin typeface="Baskerville" panose="02020502070401020303" pitchFamily="18" charset="0"/>
                <a:ea typeface="Baskerville" panose="02020502070401020303" pitchFamily="18" charset="0"/>
                <a:cs typeface="Calibri" pitchFamily="34" charset="-120"/>
              </a:rPr>
              <a:t>XGBoost</a:t>
            </a:r>
            <a:endParaRPr lang="en-US" sz="850" dirty="0">
              <a:latin typeface="Baskerville" panose="02020502070401020303" pitchFamily="18" charset="0"/>
              <a:ea typeface="Baskerville" panose="02020502070401020303" pitchFamily="18" charset="0"/>
            </a:endParaRPr>
          </a:p>
        </p:txBody>
      </p:sp>
      <p:sp>
        <p:nvSpPr>
          <p:cNvPr id="57" name="Shape 55"/>
          <p:cNvSpPr/>
          <p:nvPr/>
        </p:nvSpPr>
        <p:spPr>
          <a:xfrm>
            <a:off x="6995160" y="4087368"/>
            <a:ext cx="228600" cy="0"/>
          </a:xfrm>
          <a:prstGeom prst="line">
            <a:avLst/>
          </a:prstGeom>
          <a:noFill/>
          <a:ln w="25400">
            <a:solidFill>
              <a:srgbClr val="2451B7"/>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58" name="Text 56"/>
          <p:cNvSpPr/>
          <p:nvPr/>
        </p:nvSpPr>
        <p:spPr>
          <a:xfrm>
            <a:off x="7040880" y="3977640"/>
            <a:ext cx="182880" cy="228600"/>
          </a:xfrm>
          <a:prstGeom prst="rect">
            <a:avLst/>
          </a:prstGeom>
          <a:noFill/>
          <a:ln/>
        </p:spPr>
        <p:txBody>
          <a:bodyPr wrap="square" rtlCol="0" anchor="ctr"/>
          <a:lstStyle/>
          <a:p>
            <a:pPr marL="0" indent="0" algn="ctr">
              <a:buNone/>
            </a:pPr>
            <a:r>
              <a:rPr lang="en-US" sz="1000" dirty="0">
                <a:solidFill>
                  <a:srgbClr val="2451B7"/>
                </a:solidFill>
                <a:latin typeface="Baskerville" panose="02020502070401020303" pitchFamily="18" charset="0"/>
                <a:ea typeface="Baskerville" panose="02020502070401020303" pitchFamily="18" charset="0"/>
              </a:rPr>
              <a:t>▶</a:t>
            </a:r>
            <a:endParaRPr lang="en-US" sz="1000" dirty="0">
              <a:latin typeface="Baskerville" panose="02020502070401020303" pitchFamily="18" charset="0"/>
              <a:ea typeface="Baskerville" panose="02020502070401020303" pitchFamily="18" charset="0"/>
            </a:endParaRPr>
          </a:p>
        </p:txBody>
      </p:sp>
      <p:sp>
        <p:nvSpPr>
          <p:cNvPr id="59" name="Shape 57"/>
          <p:cNvSpPr/>
          <p:nvPr/>
        </p:nvSpPr>
        <p:spPr>
          <a:xfrm>
            <a:off x="7223760" y="3246120"/>
            <a:ext cx="1508760" cy="1691640"/>
          </a:xfrm>
          <a:prstGeom prst="rect">
            <a:avLst/>
          </a:prstGeom>
          <a:solidFill>
            <a:srgbClr val="FFFFFF"/>
          </a:solidFill>
          <a:ln w="19050">
            <a:solidFill>
              <a:srgbClr val="B07A10"/>
            </a:solidFill>
            <a:prstDash val="solid"/>
          </a:ln>
          <a:effectLst>
            <a:outerShdw blurRad="101600" dist="38100" dir="8100000" algn="bl" rotWithShape="0">
              <a:srgbClr val="000000">
                <a:alpha val="18000"/>
              </a:srgbClr>
            </a:outerShdw>
          </a:effectLst>
        </p:spPr>
        <p:txBody>
          <a:bodyPr/>
          <a:lstStyle/>
          <a:p>
            <a:endParaRPr lang="en-US">
              <a:latin typeface="Baskerville" panose="02020502070401020303" pitchFamily="18" charset="0"/>
              <a:ea typeface="Baskerville" panose="02020502070401020303" pitchFamily="18" charset="0"/>
            </a:endParaRPr>
          </a:p>
        </p:txBody>
      </p:sp>
      <p:sp>
        <p:nvSpPr>
          <p:cNvPr id="60" name="Shape 58"/>
          <p:cNvSpPr/>
          <p:nvPr/>
        </p:nvSpPr>
        <p:spPr>
          <a:xfrm>
            <a:off x="7223760" y="3246120"/>
            <a:ext cx="1508760" cy="292608"/>
          </a:xfrm>
          <a:prstGeom prst="rect">
            <a:avLst/>
          </a:prstGeom>
          <a:solidFill>
            <a:srgbClr val="B07A10"/>
          </a:solidFill>
          <a:ln w="12700">
            <a:solidFill>
              <a:srgbClr val="000000"/>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61" name="Text 59"/>
          <p:cNvSpPr/>
          <p:nvPr/>
        </p:nvSpPr>
        <p:spPr>
          <a:xfrm>
            <a:off x="7223760" y="3246120"/>
            <a:ext cx="1508760" cy="292608"/>
          </a:xfrm>
          <a:prstGeom prst="rect">
            <a:avLst/>
          </a:prstGeom>
          <a:noFill/>
          <a:ln/>
        </p:spPr>
        <p:txBody>
          <a:bodyPr wrap="square" rtlCol="0" anchor="ctr"/>
          <a:lstStyle/>
          <a:p>
            <a:pPr marL="0" indent="0" algn="ctr">
              <a:buNone/>
            </a:pPr>
            <a:r>
              <a:rPr lang="en-US" sz="1100" b="1" dirty="0">
                <a:solidFill>
                  <a:srgbClr val="FFFFFF"/>
                </a:solidFill>
                <a:latin typeface="Baskerville" panose="02020502070401020303" pitchFamily="18" charset="0"/>
                <a:ea typeface="Baskerville" panose="02020502070401020303" pitchFamily="18" charset="0"/>
                <a:cs typeface="Calibri" pitchFamily="34" charset="-120"/>
              </a:rPr>
              <a:t>5</a:t>
            </a:r>
            <a:endParaRPr lang="en-US" sz="1100" dirty="0">
              <a:latin typeface="Baskerville" panose="02020502070401020303" pitchFamily="18" charset="0"/>
              <a:ea typeface="Baskerville" panose="02020502070401020303" pitchFamily="18" charset="0"/>
            </a:endParaRPr>
          </a:p>
        </p:txBody>
      </p:sp>
      <p:sp>
        <p:nvSpPr>
          <p:cNvPr id="62" name="Text 60"/>
          <p:cNvSpPr/>
          <p:nvPr/>
        </p:nvSpPr>
        <p:spPr>
          <a:xfrm>
            <a:off x="7223760" y="3566160"/>
            <a:ext cx="1508760" cy="548640"/>
          </a:xfrm>
          <a:prstGeom prst="rect">
            <a:avLst/>
          </a:prstGeom>
          <a:noFill/>
          <a:ln/>
        </p:spPr>
        <p:txBody>
          <a:bodyPr wrap="square" rtlCol="0" anchor="ctr"/>
          <a:lstStyle/>
          <a:p>
            <a:pPr marL="0" indent="0" algn="ctr">
              <a:buNone/>
            </a:pPr>
            <a:r>
              <a:rPr lang="en-US" sz="1100" b="1" dirty="0">
                <a:solidFill>
                  <a:srgbClr val="B07A10"/>
                </a:solidFill>
                <a:latin typeface="Baskerville" panose="02020502070401020303" pitchFamily="18" charset="0"/>
                <a:ea typeface="Baskerville" panose="02020502070401020303" pitchFamily="18" charset="0"/>
                <a:cs typeface="Calibri" pitchFamily="34" charset="-120"/>
              </a:rPr>
              <a:t>Evaluation</a:t>
            </a:r>
            <a:endParaRPr lang="en-US" sz="1100" dirty="0">
              <a:latin typeface="Baskerville" panose="02020502070401020303" pitchFamily="18" charset="0"/>
              <a:ea typeface="Baskerville" panose="02020502070401020303" pitchFamily="18" charset="0"/>
            </a:endParaRPr>
          </a:p>
          <a:p>
            <a:pPr marL="0" indent="0" algn="ctr">
              <a:buNone/>
            </a:pPr>
            <a:r>
              <a:rPr lang="en-US" sz="1100" b="1" dirty="0">
                <a:solidFill>
                  <a:srgbClr val="B07A10"/>
                </a:solidFill>
                <a:latin typeface="Baskerville" panose="02020502070401020303" pitchFamily="18" charset="0"/>
                <a:ea typeface="Baskerville" panose="02020502070401020303" pitchFamily="18" charset="0"/>
                <a:cs typeface="Calibri" pitchFamily="34" charset="-120"/>
              </a:rPr>
              <a:t>&amp; Comparison</a:t>
            </a:r>
            <a:endParaRPr lang="en-US" sz="1100" dirty="0">
              <a:latin typeface="Baskerville" panose="02020502070401020303" pitchFamily="18" charset="0"/>
              <a:ea typeface="Baskerville" panose="02020502070401020303" pitchFamily="18" charset="0"/>
            </a:endParaRPr>
          </a:p>
        </p:txBody>
      </p:sp>
      <p:sp>
        <p:nvSpPr>
          <p:cNvPr id="63" name="Text 61"/>
          <p:cNvSpPr/>
          <p:nvPr/>
        </p:nvSpPr>
        <p:spPr>
          <a:xfrm>
            <a:off x="7296912" y="4114800"/>
            <a:ext cx="1362456" cy="777240"/>
          </a:xfrm>
          <a:prstGeom prst="rect">
            <a:avLst/>
          </a:prstGeom>
          <a:noFill/>
          <a:ln/>
        </p:spPr>
        <p:txBody>
          <a:bodyPr wrap="square" rtlCol="0" anchor="ctr"/>
          <a:lstStyle/>
          <a:p>
            <a:pPr marL="0" indent="0" algn="ctr">
              <a:buNone/>
            </a:pPr>
            <a:r>
              <a:rPr lang="en-US" sz="850" dirty="0">
                <a:solidFill>
                  <a:srgbClr val="444455"/>
                </a:solidFill>
                <a:latin typeface="Baskerville" panose="02020502070401020303" pitchFamily="18" charset="0"/>
                <a:ea typeface="Baskerville" panose="02020502070401020303" pitchFamily="18" charset="0"/>
                <a:cs typeface="Calibri" pitchFamily="34" charset="-120"/>
              </a:rPr>
              <a:t>ROC-AUC (DNA)</a:t>
            </a:r>
            <a:endParaRPr lang="en-US" sz="850" dirty="0">
              <a:latin typeface="Baskerville" panose="02020502070401020303" pitchFamily="18" charset="0"/>
              <a:ea typeface="Baskerville" panose="02020502070401020303" pitchFamily="18" charset="0"/>
            </a:endParaRPr>
          </a:p>
          <a:p>
            <a:pPr marL="0" indent="0" algn="ctr">
              <a:buNone/>
            </a:pPr>
            <a:r>
              <a:rPr lang="en-US" sz="850" dirty="0">
                <a:solidFill>
                  <a:srgbClr val="444455"/>
                </a:solidFill>
                <a:latin typeface="Baskerville" panose="02020502070401020303" pitchFamily="18" charset="0"/>
                <a:ea typeface="Baskerville" panose="02020502070401020303" pitchFamily="18" charset="0"/>
                <a:cs typeface="Calibri" pitchFamily="34" charset="-120"/>
              </a:rPr>
              <a:t>Accuracy (Protein)</a:t>
            </a:r>
            <a:endParaRPr lang="en-US" sz="850" dirty="0">
              <a:latin typeface="Baskerville" panose="02020502070401020303" pitchFamily="18" charset="0"/>
              <a:ea typeface="Baskerville" panose="02020502070401020303" pitchFamily="18" charset="0"/>
            </a:endParaRPr>
          </a:p>
        </p:txBody>
      </p:sp>
      <p:sp>
        <p:nvSpPr>
          <p:cNvPr id="64" name="Text 62"/>
          <p:cNvSpPr/>
          <p:nvPr/>
        </p:nvSpPr>
        <p:spPr>
          <a:xfrm>
            <a:off x="274320" y="4956048"/>
            <a:ext cx="8595360" cy="164592"/>
          </a:xfrm>
          <a:prstGeom prst="rect">
            <a:avLst/>
          </a:prstGeom>
          <a:noFill/>
          <a:ln/>
        </p:spPr>
        <p:txBody>
          <a:bodyPr wrap="square" rtlCol="0" anchor="ctr"/>
          <a:lstStyle/>
          <a:p>
            <a:pPr marL="0" indent="0">
              <a:buNone/>
            </a:pPr>
            <a:r>
              <a:rPr lang="en-US" sz="850" i="1" dirty="0">
                <a:solidFill>
                  <a:srgbClr val="8BA4CC"/>
                </a:solidFill>
                <a:latin typeface="Baskerville" panose="02020502070401020303" pitchFamily="18" charset="0"/>
                <a:ea typeface="Baskerville" panose="02020502070401020303" pitchFamily="18" charset="0"/>
                <a:cs typeface="Calibri" pitchFamily="34" charset="-120"/>
              </a:rPr>
              <a:t>Infrastructure: UF HiPerGator HPC  |  NVIDIA A100 GPUs  |  SLURM  |  5-fold CV  |  Stratified 80/20 split</a:t>
            </a:r>
            <a:endParaRPr lang="en-US" sz="850" dirty="0">
              <a:latin typeface="Baskerville" panose="02020502070401020303" pitchFamily="18" charset="0"/>
              <a:ea typeface="Baskerville" panose="02020502070401020303"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1B4B"/>
          </a:solidFill>
          <a:ln w="12700">
            <a:solidFill>
              <a:srgbClr val="000000"/>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3" name="Text 1"/>
          <p:cNvSpPr/>
          <p:nvPr/>
        </p:nvSpPr>
        <p:spPr>
          <a:xfrm>
            <a:off x="365760" y="0"/>
            <a:ext cx="8229600" cy="640080"/>
          </a:xfrm>
          <a:prstGeom prst="rect">
            <a:avLst/>
          </a:prstGeom>
          <a:noFill/>
          <a:ln/>
        </p:spPr>
        <p:txBody>
          <a:bodyPr wrap="square" rtlCol="0" anchor="ctr"/>
          <a:lstStyle/>
          <a:p>
            <a:pPr marL="0" indent="0">
              <a:buNone/>
            </a:pPr>
            <a:r>
              <a:rPr lang="en-US" sz="2200" b="1" dirty="0">
                <a:solidFill>
                  <a:srgbClr val="FFFFFF"/>
                </a:solidFill>
                <a:latin typeface="Baskerville" panose="02020502070401020303" pitchFamily="18" charset="0"/>
                <a:ea typeface="Baskerville" panose="02020502070401020303" pitchFamily="18" charset="0"/>
                <a:cs typeface="Calibri" pitchFamily="34" charset="-120"/>
              </a:rPr>
              <a:t>Transformer Models Evaluated</a:t>
            </a:r>
            <a:endParaRPr lang="en-US" sz="2200" dirty="0">
              <a:latin typeface="Baskerville" panose="02020502070401020303" pitchFamily="18" charset="0"/>
              <a:ea typeface="Baskerville" panose="02020502070401020303" pitchFamily="18" charset="0"/>
            </a:endParaRPr>
          </a:p>
        </p:txBody>
      </p:sp>
      <p:sp>
        <p:nvSpPr>
          <p:cNvPr id="4" name="Shape 2"/>
          <p:cNvSpPr/>
          <p:nvPr/>
        </p:nvSpPr>
        <p:spPr>
          <a:xfrm>
            <a:off x="274320" y="777240"/>
            <a:ext cx="1920240" cy="3200400"/>
          </a:xfrm>
          <a:prstGeom prst="rect">
            <a:avLst/>
          </a:prstGeom>
          <a:solidFill>
            <a:srgbClr val="FFFFFF"/>
          </a:solidFill>
          <a:ln w="19050">
            <a:solidFill>
              <a:srgbClr val="2451B7"/>
            </a:solidFill>
            <a:prstDash val="solid"/>
          </a:ln>
          <a:effectLst>
            <a:outerShdw blurRad="101600" dist="38100" dir="8100000" algn="bl" rotWithShape="0">
              <a:srgbClr val="000000">
                <a:alpha val="18000"/>
              </a:srgbClr>
            </a:outerShdw>
          </a:effectLst>
        </p:spPr>
        <p:txBody>
          <a:bodyPr/>
          <a:lstStyle/>
          <a:p>
            <a:endParaRPr lang="en-US">
              <a:latin typeface="Baskerville" panose="02020502070401020303" pitchFamily="18" charset="0"/>
              <a:ea typeface="Baskerville" panose="02020502070401020303" pitchFamily="18" charset="0"/>
            </a:endParaRPr>
          </a:p>
        </p:txBody>
      </p:sp>
      <p:sp>
        <p:nvSpPr>
          <p:cNvPr id="5" name="Shape 3"/>
          <p:cNvSpPr/>
          <p:nvPr/>
        </p:nvSpPr>
        <p:spPr>
          <a:xfrm>
            <a:off x="274320" y="777240"/>
            <a:ext cx="1920240" cy="411480"/>
          </a:xfrm>
          <a:prstGeom prst="rect">
            <a:avLst/>
          </a:prstGeom>
          <a:solidFill>
            <a:srgbClr val="2451B7"/>
          </a:solidFill>
          <a:ln w="12700">
            <a:solidFill>
              <a:srgbClr val="000000"/>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6" name="Text 4"/>
          <p:cNvSpPr/>
          <p:nvPr/>
        </p:nvSpPr>
        <p:spPr>
          <a:xfrm>
            <a:off x="274320" y="795528"/>
            <a:ext cx="1920240" cy="374904"/>
          </a:xfrm>
          <a:prstGeom prst="rect">
            <a:avLst/>
          </a:prstGeom>
          <a:noFill/>
          <a:ln/>
        </p:spPr>
        <p:txBody>
          <a:bodyPr wrap="square" rtlCol="0" anchor="ctr"/>
          <a:lstStyle/>
          <a:p>
            <a:pPr marL="0" indent="0" algn="ctr">
              <a:buNone/>
            </a:pPr>
            <a:r>
              <a:rPr lang="en-US" sz="1000" b="1" dirty="0">
                <a:solidFill>
                  <a:srgbClr val="FFFFFF"/>
                </a:solidFill>
                <a:latin typeface="Baskerville" panose="02020502070401020303" pitchFamily="18" charset="0"/>
                <a:ea typeface="Baskerville" panose="02020502070401020303" pitchFamily="18" charset="0"/>
                <a:cs typeface="Calibri" pitchFamily="34" charset="-120"/>
              </a:rPr>
              <a:t>🧬  DNA</a:t>
            </a:r>
            <a:endParaRPr lang="en-US" sz="1000" dirty="0">
              <a:latin typeface="Baskerville" panose="02020502070401020303" pitchFamily="18" charset="0"/>
              <a:ea typeface="Baskerville" panose="02020502070401020303" pitchFamily="18" charset="0"/>
            </a:endParaRPr>
          </a:p>
        </p:txBody>
      </p:sp>
      <p:sp>
        <p:nvSpPr>
          <p:cNvPr id="7" name="Text 5"/>
          <p:cNvSpPr/>
          <p:nvPr/>
        </p:nvSpPr>
        <p:spPr>
          <a:xfrm>
            <a:off x="274320" y="1234440"/>
            <a:ext cx="1920240" cy="502920"/>
          </a:xfrm>
          <a:prstGeom prst="rect">
            <a:avLst/>
          </a:prstGeom>
          <a:noFill/>
          <a:ln/>
        </p:spPr>
        <p:txBody>
          <a:bodyPr wrap="square" rtlCol="0" anchor="ctr"/>
          <a:lstStyle/>
          <a:p>
            <a:pPr marL="0" indent="0" algn="ctr">
              <a:buNone/>
            </a:pPr>
            <a:r>
              <a:rPr lang="en-US" sz="1300" b="1" dirty="0">
                <a:solidFill>
                  <a:srgbClr val="2451B7"/>
                </a:solidFill>
                <a:latin typeface="Baskerville" panose="02020502070401020303" pitchFamily="18" charset="0"/>
                <a:ea typeface="Baskerville" panose="02020502070401020303" pitchFamily="18" charset="0"/>
                <a:cs typeface="Calibri" pitchFamily="34" charset="-120"/>
              </a:rPr>
              <a:t>DNABERT-2</a:t>
            </a:r>
            <a:endParaRPr lang="en-US" sz="1300" dirty="0">
              <a:latin typeface="Baskerville" panose="02020502070401020303" pitchFamily="18" charset="0"/>
              <a:ea typeface="Baskerville" panose="02020502070401020303" pitchFamily="18" charset="0"/>
            </a:endParaRPr>
          </a:p>
        </p:txBody>
      </p:sp>
      <p:sp>
        <p:nvSpPr>
          <p:cNvPr id="8" name="Shape 6"/>
          <p:cNvSpPr/>
          <p:nvPr/>
        </p:nvSpPr>
        <p:spPr>
          <a:xfrm>
            <a:off x="365760" y="1801368"/>
            <a:ext cx="1737360" cy="594360"/>
          </a:xfrm>
          <a:prstGeom prst="rect">
            <a:avLst/>
          </a:prstGeom>
          <a:solidFill>
            <a:srgbClr val="EEF4FF"/>
          </a:solidFill>
          <a:ln w="6350">
            <a:solidFill>
              <a:srgbClr val="D8E2F0"/>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9" name="Text 7"/>
          <p:cNvSpPr/>
          <p:nvPr/>
        </p:nvSpPr>
        <p:spPr>
          <a:xfrm>
            <a:off x="384048" y="1810512"/>
            <a:ext cx="1700784" cy="228600"/>
          </a:xfrm>
          <a:prstGeom prst="rect">
            <a:avLst/>
          </a:prstGeom>
          <a:noFill/>
          <a:ln/>
        </p:spPr>
        <p:txBody>
          <a:bodyPr wrap="square" rtlCol="0" anchor="ctr"/>
          <a:lstStyle/>
          <a:p>
            <a:pPr marL="0" indent="0" algn="ctr">
              <a:buNone/>
            </a:pPr>
            <a:r>
              <a:rPr lang="en-US" sz="850" b="1" dirty="0">
                <a:solidFill>
                  <a:srgbClr val="2451B7"/>
                </a:solidFill>
                <a:latin typeface="Baskerville" panose="02020502070401020303" pitchFamily="18" charset="0"/>
                <a:ea typeface="Baskerville" panose="02020502070401020303" pitchFamily="18" charset="0"/>
                <a:cs typeface="Calibri" pitchFamily="34" charset="-120"/>
              </a:rPr>
              <a:t>Parameters</a:t>
            </a:r>
            <a:endParaRPr lang="en-US" sz="850" dirty="0">
              <a:latin typeface="Baskerville" panose="02020502070401020303" pitchFamily="18" charset="0"/>
              <a:ea typeface="Baskerville" panose="02020502070401020303" pitchFamily="18" charset="0"/>
            </a:endParaRPr>
          </a:p>
        </p:txBody>
      </p:sp>
      <p:sp>
        <p:nvSpPr>
          <p:cNvPr id="10" name="Text 8"/>
          <p:cNvSpPr/>
          <p:nvPr/>
        </p:nvSpPr>
        <p:spPr>
          <a:xfrm>
            <a:off x="384048" y="2029968"/>
            <a:ext cx="1700784" cy="347472"/>
          </a:xfrm>
          <a:prstGeom prst="rect">
            <a:avLst/>
          </a:prstGeom>
          <a:noFill/>
          <a:ln/>
        </p:spPr>
        <p:txBody>
          <a:bodyPr wrap="square" rtlCol="0" anchor="ctr"/>
          <a:lstStyle/>
          <a:p>
            <a:pPr marL="0" indent="0" algn="ctr">
              <a:buNone/>
            </a:pPr>
            <a:r>
              <a:rPr lang="en-US" sz="950" dirty="0">
                <a:solidFill>
                  <a:srgbClr val="333355"/>
                </a:solidFill>
                <a:latin typeface="Baskerville" panose="02020502070401020303" pitchFamily="18" charset="0"/>
                <a:ea typeface="Baskerville" panose="02020502070401020303" pitchFamily="18" charset="0"/>
                <a:cs typeface="Calibri" pitchFamily="34" charset="-120"/>
              </a:rPr>
              <a:t>117M</a:t>
            </a:r>
            <a:endParaRPr lang="en-US" sz="950" dirty="0">
              <a:latin typeface="Baskerville" panose="02020502070401020303" pitchFamily="18" charset="0"/>
              <a:ea typeface="Baskerville" panose="02020502070401020303" pitchFamily="18" charset="0"/>
            </a:endParaRPr>
          </a:p>
        </p:txBody>
      </p:sp>
      <p:sp>
        <p:nvSpPr>
          <p:cNvPr id="11" name="Shape 9"/>
          <p:cNvSpPr/>
          <p:nvPr/>
        </p:nvSpPr>
        <p:spPr>
          <a:xfrm>
            <a:off x="365760" y="2459736"/>
            <a:ext cx="1737360" cy="594360"/>
          </a:xfrm>
          <a:prstGeom prst="rect">
            <a:avLst/>
          </a:prstGeom>
          <a:solidFill>
            <a:srgbClr val="EEF4FF"/>
          </a:solidFill>
          <a:ln w="6350">
            <a:solidFill>
              <a:srgbClr val="D8E2F0"/>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12" name="Text 10"/>
          <p:cNvSpPr/>
          <p:nvPr/>
        </p:nvSpPr>
        <p:spPr>
          <a:xfrm>
            <a:off x="384048" y="2468880"/>
            <a:ext cx="1700784" cy="228600"/>
          </a:xfrm>
          <a:prstGeom prst="rect">
            <a:avLst/>
          </a:prstGeom>
          <a:noFill/>
          <a:ln/>
        </p:spPr>
        <p:txBody>
          <a:bodyPr wrap="square" rtlCol="0" anchor="ctr"/>
          <a:lstStyle/>
          <a:p>
            <a:pPr marL="0" indent="0" algn="ctr">
              <a:buNone/>
            </a:pPr>
            <a:r>
              <a:rPr lang="en-US" sz="850" b="1" dirty="0">
                <a:solidFill>
                  <a:srgbClr val="2451B7"/>
                </a:solidFill>
                <a:latin typeface="Baskerville" panose="02020502070401020303" pitchFamily="18" charset="0"/>
                <a:ea typeface="Baskerville" panose="02020502070401020303" pitchFamily="18" charset="0"/>
                <a:cs typeface="Calibri" pitchFamily="34" charset="-120"/>
              </a:rPr>
              <a:t>Pretrained on</a:t>
            </a:r>
            <a:endParaRPr lang="en-US" sz="850" dirty="0">
              <a:latin typeface="Baskerville" panose="02020502070401020303" pitchFamily="18" charset="0"/>
              <a:ea typeface="Baskerville" panose="02020502070401020303" pitchFamily="18" charset="0"/>
            </a:endParaRPr>
          </a:p>
        </p:txBody>
      </p:sp>
      <p:sp>
        <p:nvSpPr>
          <p:cNvPr id="13" name="Text 11"/>
          <p:cNvSpPr/>
          <p:nvPr/>
        </p:nvSpPr>
        <p:spPr>
          <a:xfrm>
            <a:off x="384048" y="2688336"/>
            <a:ext cx="1700784" cy="347472"/>
          </a:xfrm>
          <a:prstGeom prst="rect">
            <a:avLst/>
          </a:prstGeom>
          <a:noFill/>
          <a:ln/>
        </p:spPr>
        <p:txBody>
          <a:bodyPr wrap="square" rtlCol="0" anchor="ctr"/>
          <a:lstStyle/>
          <a:p>
            <a:pPr marL="0" indent="0" algn="ctr">
              <a:buNone/>
            </a:pPr>
            <a:r>
              <a:rPr lang="en-US" sz="950" dirty="0">
                <a:solidFill>
                  <a:srgbClr val="333355"/>
                </a:solidFill>
                <a:latin typeface="Baskerville" panose="02020502070401020303" pitchFamily="18" charset="0"/>
                <a:ea typeface="Baskerville" panose="02020502070401020303" pitchFamily="18" charset="0"/>
                <a:cs typeface="Calibri" pitchFamily="34" charset="-120"/>
              </a:rPr>
              <a:t>135-species</a:t>
            </a:r>
            <a:endParaRPr lang="en-US" sz="950" dirty="0">
              <a:latin typeface="Baskerville" panose="02020502070401020303" pitchFamily="18" charset="0"/>
              <a:ea typeface="Baskerville" panose="02020502070401020303" pitchFamily="18" charset="0"/>
            </a:endParaRPr>
          </a:p>
          <a:p>
            <a:pPr marL="0" indent="0" algn="ctr">
              <a:buNone/>
            </a:pPr>
            <a:r>
              <a:rPr lang="en-US" sz="950" dirty="0">
                <a:solidFill>
                  <a:srgbClr val="333355"/>
                </a:solidFill>
                <a:latin typeface="Baskerville" panose="02020502070401020303" pitchFamily="18" charset="0"/>
                <a:ea typeface="Baskerville" panose="02020502070401020303" pitchFamily="18" charset="0"/>
                <a:cs typeface="Calibri" pitchFamily="34" charset="-120"/>
              </a:rPr>
              <a:t>genomes</a:t>
            </a:r>
            <a:endParaRPr lang="en-US" sz="950" dirty="0">
              <a:latin typeface="Baskerville" panose="02020502070401020303" pitchFamily="18" charset="0"/>
              <a:ea typeface="Baskerville" panose="02020502070401020303" pitchFamily="18" charset="0"/>
            </a:endParaRPr>
          </a:p>
        </p:txBody>
      </p:sp>
      <p:sp>
        <p:nvSpPr>
          <p:cNvPr id="14" name="Shape 12"/>
          <p:cNvSpPr/>
          <p:nvPr/>
        </p:nvSpPr>
        <p:spPr>
          <a:xfrm>
            <a:off x="365760" y="3118104"/>
            <a:ext cx="1737360" cy="594360"/>
          </a:xfrm>
          <a:prstGeom prst="rect">
            <a:avLst/>
          </a:prstGeom>
          <a:solidFill>
            <a:srgbClr val="EEF4FF"/>
          </a:solidFill>
          <a:ln w="6350">
            <a:solidFill>
              <a:srgbClr val="D8E2F0"/>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15" name="Text 13"/>
          <p:cNvSpPr/>
          <p:nvPr/>
        </p:nvSpPr>
        <p:spPr>
          <a:xfrm>
            <a:off x="384048" y="3127248"/>
            <a:ext cx="1700784" cy="228600"/>
          </a:xfrm>
          <a:prstGeom prst="rect">
            <a:avLst/>
          </a:prstGeom>
          <a:noFill/>
          <a:ln/>
        </p:spPr>
        <p:txBody>
          <a:bodyPr wrap="square" rtlCol="0" anchor="ctr"/>
          <a:lstStyle/>
          <a:p>
            <a:pPr marL="0" indent="0" algn="ctr">
              <a:buNone/>
            </a:pPr>
            <a:r>
              <a:rPr lang="en-US" sz="850" b="1" dirty="0">
                <a:solidFill>
                  <a:srgbClr val="2451B7"/>
                </a:solidFill>
                <a:latin typeface="Baskerville" panose="02020502070401020303" pitchFamily="18" charset="0"/>
                <a:ea typeface="Baskerville" panose="02020502070401020303" pitchFamily="18" charset="0"/>
                <a:cs typeface="Calibri" pitchFamily="34" charset="-120"/>
              </a:rPr>
              <a:t>Tokenization</a:t>
            </a:r>
            <a:endParaRPr lang="en-US" sz="850" dirty="0">
              <a:latin typeface="Baskerville" panose="02020502070401020303" pitchFamily="18" charset="0"/>
              <a:ea typeface="Baskerville" panose="02020502070401020303" pitchFamily="18" charset="0"/>
            </a:endParaRPr>
          </a:p>
        </p:txBody>
      </p:sp>
      <p:sp>
        <p:nvSpPr>
          <p:cNvPr id="16" name="Text 14"/>
          <p:cNvSpPr/>
          <p:nvPr/>
        </p:nvSpPr>
        <p:spPr>
          <a:xfrm>
            <a:off x="384048" y="3346704"/>
            <a:ext cx="1700784" cy="347472"/>
          </a:xfrm>
          <a:prstGeom prst="rect">
            <a:avLst/>
          </a:prstGeom>
          <a:noFill/>
          <a:ln/>
        </p:spPr>
        <p:txBody>
          <a:bodyPr wrap="square" rtlCol="0" anchor="ctr"/>
          <a:lstStyle/>
          <a:p>
            <a:pPr marL="0" indent="0" algn="ctr">
              <a:buNone/>
            </a:pPr>
            <a:r>
              <a:rPr lang="en-US" sz="950" dirty="0">
                <a:solidFill>
                  <a:srgbClr val="333355"/>
                </a:solidFill>
                <a:latin typeface="Baskerville" panose="02020502070401020303" pitchFamily="18" charset="0"/>
                <a:ea typeface="Baskerville" panose="02020502070401020303" pitchFamily="18" charset="0"/>
                <a:cs typeface="Calibri" pitchFamily="34" charset="-120"/>
              </a:rPr>
              <a:t>BPE tokenizer</a:t>
            </a:r>
            <a:endParaRPr lang="en-US" sz="950" dirty="0">
              <a:latin typeface="Baskerville" panose="02020502070401020303" pitchFamily="18" charset="0"/>
              <a:ea typeface="Baskerville" panose="02020502070401020303" pitchFamily="18" charset="0"/>
            </a:endParaRPr>
          </a:p>
        </p:txBody>
      </p:sp>
      <p:sp>
        <p:nvSpPr>
          <p:cNvPr id="17" name="Shape 15"/>
          <p:cNvSpPr/>
          <p:nvPr/>
        </p:nvSpPr>
        <p:spPr>
          <a:xfrm>
            <a:off x="2450592" y="777240"/>
            <a:ext cx="1920240" cy="3200400"/>
          </a:xfrm>
          <a:prstGeom prst="rect">
            <a:avLst/>
          </a:prstGeom>
          <a:solidFill>
            <a:srgbClr val="FFFFFF"/>
          </a:solidFill>
          <a:ln w="19050">
            <a:solidFill>
              <a:srgbClr val="1A3A8F"/>
            </a:solidFill>
            <a:prstDash val="solid"/>
          </a:ln>
          <a:effectLst>
            <a:outerShdw blurRad="101600" dist="38100" dir="8100000" algn="bl" rotWithShape="0">
              <a:srgbClr val="000000">
                <a:alpha val="18000"/>
              </a:srgbClr>
            </a:outerShdw>
          </a:effectLst>
        </p:spPr>
        <p:txBody>
          <a:bodyPr/>
          <a:lstStyle/>
          <a:p>
            <a:endParaRPr lang="en-US">
              <a:latin typeface="Baskerville" panose="02020502070401020303" pitchFamily="18" charset="0"/>
              <a:ea typeface="Baskerville" panose="02020502070401020303" pitchFamily="18" charset="0"/>
            </a:endParaRPr>
          </a:p>
        </p:txBody>
      </p:sp>
      <p:sp>
        <p:nvSpPr>
          <p:cNvPr id="18" name="Shape 16"/>
          <p:cNvSpPr/>
          <p:nvPr/>
        </p:nvSpPr>
        <p:spPr>
          <a:xfrm>
            <a:off x="2450592" y="777240"/>
            <a:ext cx="1920240" cy="411480"/>
          </a:xfrm>
          <a:prstGeom prst="rect">
            <a:avLst/>
          </a:prstGeom>
          <a:solidFill>
            <a:srgbClr val="1A3A8F"/>
          </a:solidFill>
          <a:ln w="12700">
            <a:solidFill>
              <a:srgbClr val="000000"/>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19" name="Text 17"/>
          <p:cNvSpPr/>
          <p:nvPr/>
        </p:nvSpPr>
        <p:spPr>
          <a:xfrm>
            <a:off x="2450592" y="795528"/>
            <a:ext cx="1920240" cy="374904"/>
          </a:xfrm>
          <a:prstGeom prst="rect">
            <a:avLst/>
          </a:prstGeom>
          <a:noFill/>
          <a:ln/>
        </p:spPr>
        <p:txBody>
          <a:bodyPr wrap="square" rtlCol="0" anchor="ctr"/>
          <a:lstStyle/>
          <a:p>
            <a:pPr marL="0" indent="0" algn="ctr">
              <a:buNone/>
            </a:pPr>
            <a:r>
              <a:rPr lang="en-US" sz="1000" b="1" dirty="0">
                <a:solidFill>
                  <a:srgbClr val="FFFFFF"/>
                </a:solidFill>
                <a:latin typeface="Baskerville" panose="02020502070401020303" pitchFamily="18" charset="0"/>
                <a:ea typeface="Baskerville" panose="02020502070401020303" pitchFamily="18" charset="0"/>
                <a:cs typeface="Calibri" pitchFamily="34" charset="-120"/>
              </a:rPr>
              <a:t>🔗  DNA</a:t>
            </a:r>
            <a:endParaRPr lang="en-US" sz="1000" dirty="0">
              <a:latin typeface="Baskerville" panose="02020502070401020303" pitchFamily="18" charset="0"/>
              <a:ea typeface="Baskerville" panose="02020502070401020303" pitchFamily="18" charset="0"/>
            </a:endParaRPr>
          </a:p>
        </p:txBody>
      </p:sp>
      <p:sp>
        <p:nvSpPr>
          <p:cNvPr id="20" name="Text 18"/>
          <p:cNvSpPr/>
          <p:nvPr/>
        </p:nvSpPr>
        <p:spPr>
          <a:xfrm>
            <a:off x="2450592" y="1234440"/>
            <a:ext cx="1920240" cy="502920"/>
          </a:xfrm>
          <a:prstGeom prst="rect">
            <a:avLst/>
          </a:prstGeom>
          <a:noFill/>
          <a:ln/>
        </p:spPr>
        <p:txBody>
          <a:bodyPr wrap="square" rtlCol="0" anchor="ctr"/>
          <a:lstStyle/>
          <a:p>
            <a:pPr marL="0" indent="0" algn="ctr">
              <a:buNone/>
            </a:pPr>
            <a:r>
              <a:rPr lang="en-US" sz="1300" b="1" dirty="0">
                <a:solidFill>
                  <a:srgbClr val="1A3A8F"/>
                </a:solidFill>
                <a:latin typeface="Baskerville" panose="02020502070401020303" pitchFamily="18" charset="0"/>
                <a:ea typeface="Baskerville" panose="02020502070401020303" pitchFamily="18" charset="0"/>
                <a:cs typeface="Calibri" pitchFamily="34" charset="-120"/>
              </a:rPr>
              <a:t>Nucleotide</a:t>
            </a:r>
            <a:endParaRPr lang="en-US" sz="1300" dirty="0">
              <a:latin typeface="Baskerville" panose="02020502070401020303" pitchFamily="18" charset="0"/>
              <a:ea typeface="Baskerville" panose="02020502070401020303" pitchFamily="18" charset="0"/>
            </a:endParaRPr>
          </a:p>
          <a:p>
            <a:pPr marL="0" indent="0" algn="ctr">
              <a:buNone/>
            </a:pPr>
            <a:r>
              <a:rPr lang="en-US" sz="1300" b="1" dirty="0">
                <a:solidFill>
                  <a:srgbClr val="1A3A8F"/>
                </a:solidFill>
                <a:latin typeface="Baskerville" panose="02020502070401020303" pitchFamily="18" charset="0"/>
                <a:ea typeface="Baskerville" panose="02020502070401020303" pitchFamily="18" charset="0"/>
                <a:cs typeface="Calibri" pitchFamily="34" charset="-120"/>
              </a:rPr>
              <a:t>Transformer 500M</a:t>
            </a:r>
            <a:endParaRPr lang="en-US" sz="1300" dirty="0">
              <a:latin typeface="Baskerville" panose="02020502070401020303" pitchFamily="18" charset="0"/>
              <a:ea typeface="Baskerville" panose="02020502070401020303" pitchFamily="18" charset="0"/>
            </a:endParaRPr>
          </a:p>
        </p:txBody>
      </p:sp>
      <p:sp>
        <p:nvSpPr>
          <p:cNvPr id="21" name="Shape 19"/>
          <p:cNvSpPr/>
          <p:nvPr/>
        </p:nvSpPr>
        <p:spPr>
          <a:xfrm>
            <a:off x="2542032" y="1801368"/>
            <a:ext cx="1737360" cy="594360"/>
          </a:xfrm>
          <a:prstGeom prst="rect">
            <a:avLst/>
          </a:prstGeom>
          <a:solidFill>
            <a:srgbClr val="EEF4FF"/>
          </a:solidFill>
          <a:ln w="6350">
            <a:solidFill>
              <a:srgbClr val="D8E2F0"/>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22" name="Text 20"/>
          <p:cNvSpPr/>
          <p:nvPr/>
        </p:nvSpPr>
        <p:spPr>
          <a:xfrm>
            <a:off x="2560320" y="1810512"/>
            <a:ext cx="1700784" cy="228600"/>
          </a:xfrm>
          <a:prstGeom prst="rect">
            <a:avLst/>
          </a:prstGeom>
          <a:noFill/>
          <a:ln/>
        </p:spPr>
        <p:txBody>
          <a:bodyPr wrap="square" rtlCol="0" anchor="ctr"/>
          <a:lstStyle/>
          <a:p>
            <a:pPr marL="0" indent="0" algn="ctr">
              <a:buNone/>
            </a:pPr>
            <a:r>
              <a:rPr lang="en-US" sz="850" b="1" dirty="0">
                <a:solidFill>
                  <a:srgbClr val="1A3A8F"/>
                </a:solidFill>
                <a:latin typeface="Baskerville" panose="02020502070401020303" pitchFamily="18" charset="0"/>
                <a:ea typeface="Baskerville" panose="02020502070401020303" pitchFamily="18" charset="0"/>
                <a:cs typeface="Calibri" pitchFamily="34" charset="-120"/>
              </a:rPr>
              <a:t>Parameters</a:t>
            </a:r>
            <a:endParaRPr lang="en-US" sz="850" dirty="0">
              <a:latin typeface="Baskerville" panose="02020502070401020303" pitchFamily="18" charset="0"/>
              <a:ea typeface="Baskerville" panose="02020502070401020303" pitchFamily="18" charset="0"/>
            </a:endParaRPr>
          </a:p>
        </p:txBody>
      </p:sp>
      <p:sp>
        <p:nvSpPr>
          <p:cNvPr id="23" name="Text 21"/>
          <p:cNvSpPr/>
          <p:nvPr/>
        </p:nvSpPr>
        <p:spPr>
          <a:xfrm>
            <a:off x="2560320" y="2029968"/>
            <a:ext cx="1700784" cy="347472"/>
          </a:xfrm>
          <a:prstGeom prst="rect">
            <a:avLst/>
          </a:prstGeom>
          <a:noFill/>
          <a:ln/>
        </p:spPr>
        <p:txBody>
          <a:bodyPr wrap="square" rtlCol="0" anchor="ctr"/>
          <a:lstStyle/>
          <a:p>
            <a:pPr marL="0" indent="0" algn="ctr">
              <a:buNone/>
            </a:pPr>
            <a:r>
              <a:rPr lang="en-US" sz="950" dirty="0">
                <a:solidFill>
                  <a:srgbClr val="333355"/>
                </a:solidFill>
                <a:latin typeface="Baskerville" panose="02020502070401020303" pitchFamily="18" charset="0"/>
                <a:ea typeface="Baskerville" panose="02020502070401020303" pitchFamily="18" charset="0"/>
                <a:cs typeface="Calibri" pitchFamily="34" charset="-120"/>
              </a:rPr>
              <a:t>500M</a:t>
            </a:r>
            <a:endParaRPr lang="en-US" sz="950" dirty="0">
              <a:latin typeface="Baskerville" panose="02020502070401020303" pitchFamily="18" charset="0"/>
              <a:ea typeface="Baskerville" panose="02020502070401020303" pitchFamily="18" charset="0"/>
            </a:endParaRPr>
          </a:p>
        </p:txBody>
      </p:sp>
      <p:sp>
        <p:nvSpPr>
          <p:cNvPr id="24" name="Shape 22"/>
          <p:cNvSpPr/>
          <p:nvPr/>
        </p:nvSpPr>
        <p:spPr>
          <a:xfrm>
            <a:off x="2542032" y="2459736"/>
            <a:ext cx="1737360" cy="594360"/>
          </a:xfrm>
          <a:prstGeom prst="rect">
            <a:avLst/>
          </a:prstGeom>
          <a:solidFill>
            <a:srgbClr val="EEF4FF"/>
          </a:solidFill>
          <a:ln w="6350">
            <a:solidFill>
              <a:srgbClr val="D8E2F0"/>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25" name="Text 23"/>
          <p:cNvSpPr/>
          <p:nvPr/>
        </p:nvSpPr>
        <p:spPr>
          <a:xfrm>
            <a:off x="2560320" y="2468880"/>
            <a:ext cx="1700784" cy="228600"/>
          </a:xfrm>
          <a:prstGeom prst="rect">
            <a:avLst/>
          </a:prstGeom>
          <a:noFill/>
          <a:ln/>
        </p:spPr>
        <p:txBody>
          <a:bodyPr wrap="square" rtlCol="0" anchor="ctr"/>
          <a:lstStyle/>
          <a:p>
            <a:pPr marL="0" indent="0" algn="ctr">
              <a:buNone/>
            </a:pPr>
            <a:r>
              <a:rPr lang="en-US" sz="850" b="1" dirty="0">
                <a:solidFill>
                  <a:srgbClr val="1A3A8F"/>
                </a:solidFill>
                <a:latin typeface="Baskerville" panose="02020502070401020303" pitchFamily="18" charset="0"/>
                <a:ea typeface="Baskerville" panose="02020502070401020303" pitchFamily="18" charset="0"/>
                <a:cs typeface="Calibri" pitchFamily="34" charset="-120"/>
              </a:rPr>
              <a:t>Pretrained on</a:t>
            </a:r>
            <a:endParaRPr lang="en-US" sz="850" dirty="0">
              <a:latin typeface="Baskerville" panose="02020502070401020303" pitchFamily="18" charset="0"/>
              <a:ea typeface="Baskerville" panose="02020502070401020303" pitchFamily="18" charset="0"/>
            </a:endParaRPr>
          </a:p>
        </p:txBody>
      </p:sp>
      <p:sp>
        <p:nvSpPr>
          <p:cNvPr id="26" name="Text 24"/>
          <p:cNvSpPr/>
          <p:nvPr/>
        </p:nvSpPr>
        <p:spPr>
          <a:xfrm>
            <a:off x="2560320" y="2688336"/>
            <a:ext cx="1700784" cy="347472"/>
          </a:xfrm>
          <a:prstGeom prst="rect">
            <a:avLst/>
          </a:prstGeom>
          <a:noFill/>
          <a:ln/>
        </p:spPr>
        <p:txBody>
          <a:bodyPr wrap="square" rtlCol="0" anchor="ctr"/>
          <a:lstStyle/>
          <a:p>
            <a:pPr marL="0" indent="0" algn="ctr">
              <a:buNone/>
            </a:pPr>
            <a:r>
              <a:rPr lang="en-US" sz="950" dirty="0">
                <a:solidFill>
                  <a:srgbClr val="333355"/>
                </a:solidFill>
                <a:latin typeface="Baskerville" panose="02020502070401020303" pitchFamily="18" charset="0"/>
                <a:ea typeface="Baskerville" panose="02020502070401020303" pitchFamily="18" charset="0"/>
                <a:cs typeface="Calibri" pitchFamily="34" charset="-120"/>
              </a:rPr>
              <a:t>GRCh38 human</a:t>
            </a:r>
            <a:endParaRPr lang="en-US" sz="950" dirty="0">
              <a:latin typeface="Baskerville" panose="02020502070401020303" pitchFamily="18" charset="0"/>
              <a:ea typeface="Baskerville" panose="02020502070401020303" pitchFamily="18" charset="0"/>
            </a:endParaRPr>
          </a:p>
          <a:p>
            <a:pPr marL="0" indent="0" algn="ctr">
              <a:buNone/>
            </a:pPr>
            <a:r>
              <a:rPr lang="en-US" sz="950" dirty="0">
                <a:solidFill>
                  <a:srgbClr val="333355"/>
                </a:solidFill>
                <a:latin typeface="Baskerville" panose="02020502070401020303" pitchFamily="18" charset="0"/>
                <a:ea typeface="Baskerville" panose="02020502070401020303" pitchFamily="18" charset="0"/>
                <a:cs typeface="Calibri" pitchFamily="34" charset="-120"/>
              </a:rPr>
              <a:t>genome</a:t>
            </a:r>
            <a:endParaRPr lang="en-US" sz="950" dirty="0">
              <a:latin typeface="Baskerville" panose="02020502070401020303" pitchFamily="18" charset="0"/>
              <a:ea typeface="Baskerville" panose="02020502070401020303" pitchFamily="18" charset="0"/>
            </a:endParaRPr>
          </a:p>
        </p:txBody>
      </p:sp>
      <p:sp>
        <p:nvSpPr>
          <p:cNvPr id="27" name="Shape 25"/>
          <p:cNvSpPr/>
          <p:nvPr/>
        </p:nvSpPr>
        <p:spPr>
          <a:xfrm>
            <a:off x="2542032" y="3118104"/>
            <a:ext cx="1737360" cy="594360"/>
          </a:xfrm>
          <a:prstGeom prst="rect">
            <a:avLst/>
          </a:prstGeom>
          <a:solidFill>
            <a:srgbClr val="EEF4FF"/>
          </a:solidFill>
          <a:ln w="6350">
            <a:solidFill>
              <a:srgbClr val="D8E2F0"/>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28" name="Text 26"/>
          <p:cNvSpPr/>
          <p:nvPr/>
        </p:nvSpPr>
        <p:spPr>
          <a:xfrm>
            <a:off x="2560320" y="3127248"/>
            <a:ext cx="1700784" cy="228600"/>
          </a:xfrm>
          <a:prstGeom prst="rect">
            <a:avLst/>
          </a:prstGeom>
          <a:noFill/>
          <a:ln/>
        </p:spPr>
        <p:txBody>
          <a:bodyPr wrap="square" rtlCol="0" anchor="ctr"/>
          <a:lstStyle/>
          <a:p>
            <a:pPr marL="0" indent="0" algn="ctr">
              <a:buNone/>
            </a:pPr>
            <a:r>
              <a:rPr lang="en-US" sz="850" b="1" dirty="0">
                <a:solidFill>
                  <a:srgbClr val="1A3A8F"/>
                </a:solidFill>
                <a:latin typeface="Baskerville" panose="02020502070401020303" pitchFamily="18" charset="0"/>
                <a:ea typeface="Baskerville" panose="02020502070401020303" pitchFamily="18" charset="0"/>
                <a:cs typeface="Calibri" pitchFamily="34" charset="-120"/>
              </a:rPr>
              <a:t>Tokenization</a:t>
            </a:r>
            <a:endParaRPr lang="en-US" sz="850" dirty="0">
              <a:latin typeface="Baskerville" panose="02020502070401020303" pitchFamily="18" charset="0"/>
              <a:ea typeface="Baskerville" panose="02020502070401020303" pitchFamily="18" charset="0"/>
            </a:endParaRPr>
          </a:p>
        </p:txBody>
      </p:sp>
      <p:sp>
        <p:nvSpPr>
          <p:cNvPr id="29" name="Text 27"/>
          <p:cNvSpPr/>
          <p:nvPr/>
        </p:nvSpPr>
        <p:spPr>
          <a:xfrm>
            <a:off x="2560320" y="3346704"/>
            <a:ext cx="1700784" cy="347472"/>
          </a:xfrm>
          <a:prstGeom prst="rect">
            <a:avLst/>
          </a:prstGeom>
          <a:noFill/>
          <a:ln/>
        </p:spPr>
        <p:txBody>
          <a:bodyPr wrap="square" rtlCol="0" anchor="ctr"/>
          <a:lstStyle/>
          <a:p>
            <a:pPr marL="0" indent="0" algn="ctr">
              <a:buNone/>
            </a:pPr>
            <a:r>
              <a:rPr lang="en-US" sz="950" dirty="0">
                <a:solidFill>
                  <a:srgbClr val="333355"/>
                </a:solidFill>
                <a:latin typeface="Baskerville" panose="02020502070401020303" pitchFamily="18" charset="0"/>
                <a:ea typeface="Baskerville" panose="02020502070401020303" pitchFamily="18" charset="0"/>
                <a:cs typeface="Calibri" pitchFamily="34" charset="-120"/>
              </a:rPr>
              <a:t>6-mer k-mer</a:t>
            </a:r>
            <a:endParaRPr lang="en-US" sz="950" dirty="0">
              <a:latin typeface="Baskerville" panose="02020502070401020303" pitchFamily="18" charset="0"/>
              <a:ea typeface="Baskerville" panose="02020502070401020303" pitchFamily="18" charset="0"/>
            </a:endParaRPr>
          </a:p>
        </p:txBody>
      </p:sp>
      <p:sp>
        <p:nvSpPr>
          <p:cNvPr id="30" name="Shape 28"/>
          <p:cNvSpPr/>
          <p:nvPr/>
        </p:nvSpPr>
        <p:spPr>
          <a:xfrm>
            <a:off x="4626864" y="777240"/>
            <a:ext cx="1920240" cy="3200400"/>
          </a:xfrm>
          <a:prstGeom prst="rect">
            <a:avLst/>
          </a:prstGeom>
          <a:solidFill>
            <a:srgbClr val="FFFFFF"/>
          </a:solidFill>
          <a:ln w="19050">
            <a:solidFill>
              <a:srgbClr val="1B7B8A"/>
            </a:solidFill>
            <a:prstDash val="solid"/>
          </a:ln>
          <a:effectLst>
            <a:outerShdw blurRad="101600" dist="38100" dir="8100000" algn="bl" rotWithShape="0">
              <a:srgbClr val="000000">
                <a:alpha val="18000"/>
              </a:srgbClr>
            </a:outerShdw>
          </a:effectLst>
        </p:spPr>
        <p:txBody>
          <a:bodyPr/>
          <a:lstStyle/>
          <a:p>
            <a:endParaRPr lang="en-US">
              <a:latin typeface="Baskerville" panose="02020502070401020303" pitchFamily="18" charset="0"/>
              <a:ea typeface="Baskerville" panose="02020502070401020303" pitchFamily="18" charset="0"/>
            </a:endParaRPr>
          </a:p>
        </p:txBody>
      </p:sp>
      <p:sp>
        <p:nvSpPr>
          <p:cNvPr id="31" name="Shape 29"/>
          <p:cNvSpPr/>
          <p:nvPr/>
        </p:nvSpPr>
        <p:spPr>
          <a:xfrm>
            <a:off x="4626864" y="777240"/>
            <a:ext cx="1920240" cy="411480"/>
          </a:xfrm>
          <a:prstGeom prst="rect">
            <a:avLst/>
          </a:prstGeom>
          <a:solidFill>
            <a:srgbClr val="1B7B8A"/>
          </a:solidFill>
          <a:ln w="12700">
            <a:solidFill>
              <a:srgbClr val="000000"/>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32" name="Text 30"/>
          <p:cNvSpPr/>
          <p:nvPr/>
        </p:nvSpPr>
        <p:spPr>
          <a:xfrm>
            <a:off x="4626864" y="795528"/>
            <a:ext cx="1920240" cy="374904"/>
          </a:xfrm>
          <a:prstGeom prst="rect">
            <a:avLst/>
          </a:prstGeom>
          <a:noFill/>
          <a:ln/>
        </p:spPr>
        <p:txBody>
          <a:bodyPr wrap="square" rtlCol="0" anchor="ctr"/>
          <a:lstStyle/>
          <a:p>
            <a:pPr marL="0" indent="0" algn="ctr">
              <a:buNone/>
            </a:pPr>
            <a:r>
              <a:rPr lang="en-US" sz="1000" b="1" dirty="0">
                <a:solidFill>
                  <a:srgbClr val="FFFFFF"/>
                </a:solidFill>
                <a:latin typeface="Baskerville" panose="02020502070401020303" pitchFamily="18" charset="0"/>
                <a:ea typeface="Baskerville" panose="02020502070401020303" pitchFamily="18" charset="0"/>
                <a:cs typeface="Calibri" pitchFamily="34" charset="-120"/>
              </a:rPr>
              <a:t>🔬  Protein</a:t>
            </a:r>
            <a:endParaRPr lang="en-US" sz="1000" dirty="0">
              <a:latin typeface="Baskerville" panose="02020502070401020303" pitchFamily="18" charset="0"/>
              <a:ea typeface="Baskerville" panose="02020502070401020303" pitchFamily="18" charset="0"/>
            </a:endParaRPr>
          </a:p>
        </p:txBody>
      </p:sp>
      <p:sp>
        <p:nvSpPr>
          <p:cNvPr id="33" name="Text 31"/>
          <p:cNvSpPr/>
          <p:nvPr/>
        </p:nvSpPr>
        <p:spPr>
          <a:xfrm>
            <a:off x="4626864" y="1234440"/>
            <a:ext cx="1920240" cy="502920"/>
          </a:xfrm>
          <a:prstGeom prst="rect">
            <a:avLst/>
          </a:prstGeom>
          <a:noFill/>
          <a:ln/>
        </p:spPr>
        <p:txBody>
          <a:bodyPr wrap="square" rtlCol="0" anchor="ctr"/>
          <a:lstStyle/>
          <a:p>
            <a:pPr marL="0" indent="0" algn="ctr">
              <a:buNone/>
            </a:pPr>
            <a:r>
              <a:rPr lang="en-US" sz="1300" b="1" dirty="0">
                <a:solidFill>
                  <a:srgbClr val="1B7B8A"/>
                </a:solidFill>
                <a:latin typeface="Baskerville" panose="02020502070401020303" pitchFamily="18" charset="0"/>
                <a:ea typeface="Baskerville" panose="02020502070401020303" pitchFamily="18" charset="0"/>
                <a:cs typeface="Calibri" pitchFamily="34" charset="-120"/>
              </a:rPr>
              <a:t>ESM-2</a:t>
            </a:r>
            <a:endParaRPr lang="en-US" sz="1300" dirty="0">
              <a:latin typeface="Baskerville" panose="02020502070401020303" pitchFamily="18" charset="0"/>
              <a:ea typeface="Baskerville" panose="02020502070401020303" pitchFamily="18" charset="0"/>
            </a:endParaRPr>
          </a:p>
        </p:txBody>
      </p:sp>
      <p:sp>
        <p:nvSpPr>
          <p:cNvPr id="34" name="Shape 32"/>
          <p:cNvSpPr/>
          <p:nvPr/>
        </p:nvSpPr>
        <p:spPr>
          <a:xfrm>
            <a:off x="4718304" y="1801368"/>
            <a:ext cx="1737360" cy="594360"/>
          </a:xfrm>
          <a:prstGeom prst="rect">
            <a:avLst/>
          </a:prstGeom>
          <a:solidFill>
            <a:srgbClr val="EEF4FF"/>
          </a:solidFill>
          <a:ln w="6350">
            <a:solidFill>
              <a:srgbClr val="D8E2F0"/>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35" name="Text 33"/>
          <p:cNvSpPr/>
          <p:nvPr/>
        </p:nvSpPr>
        <p:spPr>
          <a:xfrm>
            <a:off x="4736592" y="1810512"/>
            <a:ext cx="1700784" cy="228600"/>
          </a:xfrm>
          <a:prstGeom prst="rect">
            <a:avLst/>
          </a:prstGeom>
          <a:noFill/>
          <a:ln/>
        </p:spPr>
        <p:txBody>
          <a:bodyPr wrap="square" rtlCol="0" anchor="ctr"/>
          <a:lstStyle/>
          <a:p>
            <a:pPr marL="0" indent="0" algn="ctr">
              <a:buNone/>
            </a:pPr>
            <a:r>
              <a:rPr lang="en-US" sz="850" b="1" dirty="0">
                <a:solidFill>
                  <a:srgbClr val="1B7B8A"/>
                </a:solidFill>
                <a:latin typeface="Baskerville" panose="02020502070401020303" pitchFamily="18" charset="0"/>
                <a:ea typeface="Baskerville" panose="02020502070401020303" pitchFamily="18" charset="0"/>
                <a:cs typeface="Calibri" pitchFamily="34" charset="-120"/>
              </a:rPr>
              <a:t>Parameters</a:t>
            </a:r>
            <a:endParaRPr lang="en-US" sz="850" dirty="0">
              <a:latin typeface="Baskerville" panose="02020502070401020303" pitchFamily="18" charset="0"/>
              <a:ea typeface="Baskerville" panose="02020502070401020303" pitchFamily="18" charset="0"/>
            </a:endParaRPr>
          </a:p>
        </p:txBody>
      </p:sp>
      <p:sp>
        <p:nvSpPr>
          <p:cNvPr id="36" name="Text 34"/>
          <p:cNvSpPr/>
          <p:nvPr/>
        </p:nvSpPr>
        <p:spPr>
          <a:xfrm>
            <a:off x="4736592" y="2029968"/>
            <a:ext cx="1700784" cy="347472"/>
          </a:xfrm>
          <a:prstGeom prst="rect">
            <a:avLst/>
          </a:prstGeom>
          <a:noFill/>
          <a:ln/>
        </p:spPr>
        <p:txBody>
          <a:bodyPr wrap="square" rtlCol="0" anchor="ctr"/>
          <a:lstStyle/>
          <a:p>
            <a:pPr marL="0" indent="0" algn="ctr">
              <a:buNone/>
            </a:pPr>
            <a:r>
              <a:rPr lang="en-US" sz="950" dirty="0">
                <a:solidFill>
                  <a:srgbClr val="333355"/>
                </a:solidFill>
                <a:latin typeface="Baskerville" panose="02020502070401020303" pitchFamily="18" charset="0"/>
                <a:ea typeface="Baskerville" panose="02020502070401020303" pitchFamily="18" charset="0"/>
                <a:cs typeface="Calibri" pitchFamily="34" charset="-120"/>
              </a:rPr>
              <a:t>35M</a:t>
            </a:r>
            <a:endParaRPr lang="en-US" sz="950" dirty="0">
              <a:latin typeface="Baskerville" panose="02020502070401020303" pitchFamily="18" charset="0"/>
              <a:ea typeface="Baskerville" panose="02020502070401020303" pitchFamily="18" charset="0"/>
            </a:endParaRPr>
          </a:p>
        </p:txBody>
      </p:sp>
      <p:sp>
        <p:nvSpPr>
          <p:cNvPr id="37" name="Shape 35"/>
          <p:cNvSpPr/>
          <p:nvPr/>
        </p:nvSpPr>
        <p:spPr>
          <a:xfrm>
            <a:off x="4718304" y="2459736"/>
            <a:ext cx="1737360" cy="594360"/>
          </a:xfrm>
          <a:prstGeom prst="rect">
            <a:avLst/>
          </a:prstGeom>
          <a:solidFill>
            <a:srgbClr val="EEF4FF"/>
          </a:solidFill>
          <a:ln w="6350">
            <a:solidFill>
              <a:srgbClr val="D8E2F0"/>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38" name="Text 36"/>
          <p:cNvSpPr/>
          <p:nvPr/>
        </p:nvSpPr>
        <p:spPr>
          <a:xfrm>
            <a:off x="4736592" y="2468880"/>
            <a:ext cx="1700784" cy="228600"/>
          </a:xfrm>
          <a:prstGeom prst="rect">
            <a:avLst/>
          </a:prstGeom>
          <a:noFill/>
          <a:ln/>
        </p:spPr>
        <p:txBody>
          <a:bodyPr wrap="square" rtlCol="0" anchor="ctr"/>
          <a:lstStyle/>
          <a:p>
            <a:pPr marL="0" indent="0" algn="ctr">
              <a:buNone/>
            </a:pPr>
            <a:r>
              <a:rPr lang="en-US" sz="850" b="1" dirty="0">
                <a:solidFill>
                  <a:srgbClr val="1B7B8A"/>
                </a:solidFill>
                <a:latin typeface="Baskerville" panose="02020502070401020303" pitchFamily="18" charset="0"/>
                <a:ea typeface="Baskerville" panose="02020502070401020303" pitchFamily="18" charset="0"/>
                <a:cs typeface="Calibri" pitchFamily="34" charset="-120"/>
              </a:rPr>
              <a:t>Pretrained on</a:t>
            </a:r>
            <a:endParaRPr lang="en-US" sz="850" dirty="0">
              <a:latin typeface="Baskerville" panose="02020502070401020303" pitchFamily="18" charset="0"/>
              <a:ea typeface="Baskerville" panose="02020502070401020303" pitchFamily="18" charset="0"/>
            </a:endParaRPr>
          </a:p>
        </p:txBody>
      </p:sp>
      <p:sp>
        <p:nvSpPr>
          <p:cNvPr id="39" name="Text 37"/>
          <p:cNvSpPr/>
          <p:nvPr/>
        </p:nvSpPr>
        <p:spPr>
          <a:xfrm>
            <a:off x="4736592" y="2688336"/>
            <a:ext cx="1700784" cy="347472"/>
          </a:xfrm>
          <a:prstGeom prst="rect">
            <a:avLst/>
          </a:prstGeom>
          <a:noFill/>
          <a:ln/>
        </p:spPr>
        <p:txBody>
          <a:bodyPr wrap="square" rtlCol="0" anchor="ctr"/>
          <a:lstStyle/>
          <a:p>
            <a:pPr marL="0" indent="0" algn="ctr">
              <a:buNone/>
            </a:pPr>
            <a:r>
              <a:rPr lang="en-US" sz="950" dirty="0">
                <a:solidFill>
                  <a:srgbClr val="333355"/>
                </a:solidFill>
                <a:latin typeface="Baskerville" panose="02020502070401020303" pitchFamily="18" charset="0"/>
                <a:ea typeface="Baskerville" panose="02020502070401020303" pitchFamily="18" charset="0"/>
                <a:cs typeface="Calibri" pitchFamily="34" charset="-120"/>
              </a:rPr>
              <a:t>65M UR50D</a:t>
            </a:r>
            <a:endParaRPr lang="en-US" sz="950" dirty="0">
              <a:latin typeface="Baskerville" panose="02020502070401020303" pitchFamily="18" charset="0"/>
              <a:ea typeface="Baskerville" panose="02020502070401020303" pitchFamily="18" charset="0"/>
            </a:endParaRPr>
          </a:p>
          <a:p>
            <a:pPr marL="0" indent="0" algn="ctr">
              <a:buNone/>
            </a:pPr>
            <a:r>
              <a:rPr lang="en-US" sz="950" dirty="0">
                <a:solidFill>
                  <a:srgbClr val="333355"/>
                </a:solidFill>
                <a:latin typeface="Baskerville" panose="02020502070401020303" pitchFamily="18" charset="0"/>
                <a:ea typeface="Baskerville" panose="02020502070401020303" pitchFamily="18" charset="0"/>
                <a:cs typeface="Calibri" pitchFamily="34" charset="-120"/>
              </a:rPr>
              <a:t>proteins</a:t>
            </a:r>
            <a:endParaRPr lang="en-US" sz="950" dirty="0">
              <a:latin typeface="Baskerville" panose="02020502070401020303" pitchFamily="18" charset="0"/>
              <a:ea typeface="Baskerville" panose="02020502070401020303" pitchFamily="18" charset="0"/>
            </a:endParaRPr>
          </a:p>
        </p:txBody>
      </p:sp>
      <p:sp>
        <p:nvSpPr>
          <p:cNvPr id="40" name="Shape 38"/>
          <p:cNvSpPr/>
          <p:nvPr/>
        </p:nvSpPr>
        <p:spPr>
          <a:xfrm>
            <a:off x="4718304" y="3118104"/>
            <a:ext cx="1737360" cy="594360"/>
          </a:xfrm>
          <a:prstGeom prst="rect">
            <a:avLst/>
          </a:prstGeom>
          <a:solidFill>
            <a:srgbClr val="EEF4FF"/>
          </a:solidFill>
          <a:ln w="6350">
            <a:solidFill>
              <a:srgbClr val="D8E2F0"/>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41" name="Text 39"/>
          <p:cNvSpPr/>
          <p:nvPr/>
        </p:nvSpPr>
        <p:spPr>
          <a:xfrm>
            <a:off x="4736592" y="3127248"/>
            <a:ext cx="1700784" cy="228600"/>
          </a:xfrm>
          <a:prstGeom prst="rect">
            <a:avLst/>
          </a:prstGeom>
          <a:noFill/>
          <a:ln/>
        </p:spPr>
        <p:txBody>
          <a:bodyPr wrap="square" rtlCol="0" anchor="ctr"/>
          <a:lstStyle/>
          <a:p>
            <a:pPr marL="0" indent="0" algn="ctr">
              <a:buNone/>
            </a:pPr>
            <a:r>
              <a:rPr lang="en-US" sz="850" b="1" dirty="0">
                <a:solidFill>
                  <a:srgbClr val="1B7B8A"/>
                </a:solidFill>
                <a:latin typeface="Baskerville" panose="02020502070401020303" pitchFamily="18" charset="0"/>
                <a:ea typeface="Baskerville" panose="02020502070401020303" pitchFamily="18" charset="0"/>
                <a:cs typeface="Calibri" pitchFamily="34" charset="-120"/>
              </a:rPr>
              <a:t>Tokenization</a:t>
            </a:r>
            <a:endParaRPr lang="en-US" sz="850" dirty="0">
              <a:latin typeface="Baskerville" panose="02020502070401020303" pitchFamily="18" charset="0"/>
              <a:ea typeface="Baskerville" panose="02020502070401020303" pitchFamily="18" charset="0"/>
            </a:endParaRPr>
          </a:p>
        </p:txBody>
      </p:sp>
      <p:sp>
        <p:nvSpPr>
          <p:cNvPr id="42" name="Text 40"/>
          <p:cNvSpPr/>
          <p:nvPr/>
        </p:nvSpPr>
        <p:spPr>
          <a:xfrm>
            <a:off x="4736592" y="3346704"/>
            <a:ext cx="1700784" cy="347472"/>
          </a:xfrm>
          <a:prstGeom prst="rect">
            <a:avLst/>
          </a:prstGeom>
          <a:noFill/>
          <a:ln/>
        </p:spPr>
        <p:txBody>
          <a:bodyPr wrap="square" rtlCol="0" anchor="ctr"/>
          <a:lstStyle/>
          <a:p>
            <a:pPr marL="0" indent="0" algn="ctr">
              <a:buNone/>
            </a:pPr>
            <a:r>
              <a:rPr lang="en-US" sz="950" dirty="0">
                <a:solidFill>
                  <a:srgbClr val="333355"/>
                </a:solidFill>
                <a:latin typeface="Baskerville" panose="02020502070401020303" pitchFamily="18" charset="0"/>
                <a:ea typeface="Baskerville" panose="02020502070401020303" pitchFamily="18" charset="0"/>
                <a:cs typeface="Calibri" pitchFamily="34" charset="-120"/>
              </a:rPr>
              <a:t>Residue tokens</a:t>
            </a:r>
            <a:endParaRPr lang="en-US" sz="950" dirty="0">
              <a:latin typeface="Baskerville" panose="02020502070401020303" pitchFamily="18" charset="0"/>
              <a:ea typeface="Baskerville" panose="02020502070401020303" pitchFamily="18" charset="0"/>
            </a:endParaRPr>
          </a:p>
        </p:txBody>
      </p:sp>
      <p:sp>
        <p:nvSpPr>
          <p:cNvPr id="43" name="Shape 41"/>
          <p:cNvSpPr/>
          <p:nvPr/>
        </p:nvSpPr>
        <p:spPr>
          <a:xfrm>
            <a:off x="6803136" y="777240"/>
            <a:ext cx="1920240" cy="3200400"/>
          </a:xfrm>
          <a:prstGeom prst="rect">
            <a:avLst/>
          </a:prstGeom>
          <a:solidFill>
            <a:srgbClr val="FFFFFF"/>
          </a:solidFill>
          <a:ln w="19050">
            <a:solidFill>
              <a:srgbClr val="1B6B4A"/>
            </a:solidFill>
            <a:prstDash val="solid"/>
          </a:ln>
          <a:effectLst>
            <a:outerShdw blurRad="101600" dist="38100" dir="8100000" algn="bl" rotWithShape="0">
              <a:srgbClr val="000000">
                <a:alpha val="18000"/>
              </a:srgbClr>
            </a:outerShdw>
          </a:effectLst>
        </p:spPr>
        <p:txBody>
          <a:bodyPr/>
          <a:lstStyle/>
          <a:p>
            <a:endParaRPr lang="en-US">
              <a:latin typeface="Baskerville" panose="02020502070401020303" pitchFamily="18" charset="0"/>
              <a:ea typeface="Baskerville" panose="02020502070401020303" pitchFamily="18" charset="0"/>
            </a:endParaRPr>
          </a:p>
        </p:txBody>
      </p:sp>
      <p:sp>
        <p:nvSpPr>
          <p:cNvPr id="44" name="Shape 42"/>
          <p:cNvSpPr/>
          <p:nvPr/>
        </p:nvSpPr>
        <p:spPr>
          <a:xfrm>
            <a:off x="6803136" y="777240"/>
            <a:ext cx="1920240" cy="411480"/>
          </a:xfrm>
          <a:prstGeom prst="rect">
            <a:avLst/>
          </a:prstGeom>
          <a:solidFill>
            <a:srgbClr val="1B6B4A"/>
          </a:solidFill>
          <a:ln w="12700">
            <a:solidFill>
              <a:srgbClr val="000000"/>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45" name="Text 43"/>
          <p:cNvSpPr/>
          <p:nvPr/>
        </p:nvSpPr>
        <p:spPr>
          <a:xfrm>
            <a:off x="6803136" y="795528"/>
            <a:ext cx="1920240" cy="374904"/>
          </a:xfrm>
          <a:prstGeom prst="rect">
            <a:avLst/>
          </a:prstGeom>
          <a:noFill/>
          <a:ln/>
        </p:spPr>
        <p:txBody>
          <a:bodyPr wrap="square" rtlCol="0" anchor="ctr"/>
          <a:lstStyle/>
          <a:p>
            <a:pPr marL="0" indent="0" algn="ctr">
              <a:buNone/>
            </a:pPr>
            <a:r>
              <a:rPr lang="en-US" sz="1000" b="1" dirty="0">
                <a:solidFill>
                  <a:srgbClr val="FFFFFF"/>
                </a:solidFill>
                <a:latin typeface="Baskerville" panose="02020502070401020303" pitchFamily="18" charset="0"/>
                <a:ea typeface="Baskerville" panose="02020502070401020303" pitchFamily="18" charset="0"/>
                <a:cs typeface="Calibri" pitchFamily="34" charset="-120"/>
              </a:rPr>
              <a:t>⚗️  Protein</a:t>
            </a:r>
            <a:endParaRPr lang="en-US" sz="1000" dirty="0">
              <a:latin typeface="Baskerville" panose="02020502070401020303" pitchFamily="18" charset="0"/>
              <a:ea typeface="Baskerville" panose="02020502070401020303" pitchFamily="18" charset="0"/>
            </a:endParaRPr>
          </a:p>
        </p:txBody>
      </p:sp>
      <p:sp>
        <p:nvSpPr>
          <p:cNvPr id="46" name="Text 44"/>
          <p:cNvSpPr/>
          <p:nvPr/>
        </p:nvSpPr>
        <p:spPr>
          <a:xfrm>
            <a:off x="6803136" y="1234440"/>
            <a:ext cx="1920240" cy="502920"/>
          </a:xfrm>
          <a:prstGeom prst="rect">
            <a:avLst/>
          </a:prstGeom>
          <a:noFill/>
          <a:ln/>
        </p:spPr>
        <p:txBody>
          <a:bodyPr wrap="square" rtlCol="0" anchor="ctr"/>
          <a:lstStyle/>
          <a:p>
            <a:pPr marL="0" indent="0" algn="ctr">
              <a:buNone/>
            </a:pPr>
            <a:r>
              <a:rPr lang="en-US" sz="1300" b="1" dirty="0">
                <a:solidFill>
                  <a:srgbClr val="1B6B4A"/>
                </a:solidFill>
                <a:latin typeface="Baskerville" panose="02020502070401020303" pitchFamily="18" charset="0"/>
                <a:ea typeface="Baskerville" panose="02020502070401020303" pitchFamily="18" charset="0"/>
                <a:cs typeface="Calibri" pitchFamily="34" charset="-120"/>
              </a:rPr>
              <a:t>ProtBERT</a:t>
            </a:r>
            <a:endParaRPr lang="en-US" sz="1300" dirty="0">
              <a:latin typeface="Baskerville" panose="02020502070401020303" pitchFamily="18" charset="0"/>
              <a:ea typeface="Baskerville" panose="02020502070401020303" pitchFamily="18" charset="0"/>
            </a:endParaRPr>
          </a:p>
        </p:txBody>
      </p:sp>
      <p:sp>
        <p:nvSpPr>
          <p:cNvPr id="47" name="Shape 45"/>
          <p:cNvSpPr/>
          <p:nvPr/>
        </p:nvSpPr>
        <p:spPr>
          <a:xfrm>
            <a:off x="6894576" y="1801368"/>
            <a:ext cx="1737360" cy="594360"/>
          </a:xfrm>
          <a:prstGeom prst="rect">
            <a:avLst/>
          </a:prstGeom>
          <a:solidFill>
            <a:srgbClr val="EEF4FF"/>
          </a:solidFill>
          <a:ln w="6350">
            <a:solidFill>
              <a:srgbClr val="D8E2F0"/>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48" name="Text 46"/>
          <p:cNvSpPr/>
          <p:nvPr/>
        </p:nvSpPr>
        <p:spPr>
          <a:xfrm>
            <a:off x="6912864" y="1810512"/>
            <a:ext cx="1700784" cy="228600"/>
          </a:xfrm>
          <a:prstGeom prst="rect">
            <a:avLst/>
          </a:prstGeom>
          <a:noFill/>
          <a:ln/>
        </p:spPr>
        <p:txBody>
          <a:bodyPr wrap="square" rtlCol="0" anchor="ctr"/>
          <a:lstStyle/>
          <a:p>
            <a:pPr marL="0" indent="0" algn="ctr">
              <a:buNone/>
            </a:pPr>
            <a:r>
              <a:rPr lang="en-US" sz="850" b="1" dirty="0">
                <a:solidFill>
                  <a:srgbClr val="1B6B4A"/>
                </a:solidFill>
                <a:latin typeface="Baskerville" panose="02020502070401020303" pitchFamily="18" charset="0"/>
                <a:ea typeface="Baskerville" panose="02020502070401020303" pitchFamily="18" charset="0"/>
                <a:cs typeface="Calibri" pitchFamily="34" charset="-120"/>
              </a:rPr>
              <a:t>Parameters</a:t>
            </a:r>
            <a:endParaRPr lang="en-US" sz="850" dirty="0">
              <a:latin typeface="Baskerville" panose="02020502070401020303" pitchFamily="18" charset="0"/>
              <a:ea typeface="Baskerville" panose="02020502070401020303" pitchFamily="18" charset="0"/>
            </a:endParaRPr>
          </a:p>
        </p:txBody>
      </p:sp>
      <p:sp>
        <p:nvSpPr>
          <p:cNvPr id="49" name="Text 47"/>
          <p:cNvSpPr/>
          <p:nvPr/>
        </p:nvSpPr>
        <p:spPr>
          <a:xfrm>
            <a:off x="6912864" y="2029968"/>
            <a:ext cx="1700784" cy="347472"/>
          </a:xfrm>
          <a:prstGeom prst="rect">
            <a:avLst/>
          </a:prstGeom>
          <a:noFill/>
          <a:ln/>
        </p:spPr>
        <p:txBody>
          <a:bodyPr wrap="square" rtlCol="0" anchor="ctr"/>
          <a:lstStyle/>
          <a:p>
            <a:pPr marL="0" indent="0" algn="ctr">
              <a:buNone/>
            </a:pPr>
            <a:r>
              <a:rPr lang="en-US" sz="950" dirty="0">
                <a:solidFill>
                  <a:srgbClr val="333355"/>
                </a:solidFill>
                <a:latin typeface="Baskerville" panose="02020502070401020303" pitchFamily="18" charset="0"/>
                <a:ea typeface="Baskerville" panose="02020502070401020303" pitchFamily="18" charset="0"/>
                <a:cs typeface="Calibri" pitchFamily="34" charset="-120"/>
              </a:rPr>
              <a:t>420M</a:t>
            </a:r>
            <a:endParaRPr lang="en-US" sz="950" dirty="0">
              <a:latin typeface="Baskerville" panose="02020502070401020303" pitchFamily="18" charset="0"/>
              <a:ea typeface="Baskerville" panose="02020502070401020303" pitchFamily="18" charset="0"/>
            </a:endParaRPr>
          </a:p>
        </p:txBody>
      </p:sp>
      <p:sp>
        <p:nvSpPr>
          <p:cNvPr id="50" name="Shape 48"/>
          <p:cNvSpPr/>
          <p:nvPr/>
        </p:nvSpPr>
        <p:spPr>
          <a:xfrm>
            <a:off x="6894576" y="2459736"/>
            <a:ext cx="1737360" cy="594360"/>
          </a:xfrm>
          <a:prstGeom prst="rect">
            <a:avLst/>
          </a:prstGeom>
          <a:solidFill>
            <a:srgbClr val="EEF4FF"/>
          </a:solidFill>
          <a:ln w="6350">
            <a:solidFill>
              <a:srgbClr val="D8E2F0"/>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51" name="Text 49"/>
          <p:cNvSpPr/>
          <p:nvPr/>
        </p:nvSpPr>
        <p:spPr>
          <a:xfrm>
            <a:off x="6912864" y="2468880"/>
            <a:ext cx="1700784" cy="228600"/>
          </a:xfrm>
          <a:prstGeom prst="rect">
            <a:avLst/>
          </a:prstGeom>
          <a:noFill/>
          <a:ln/>
        </p:spPr>
        <p:txBody>
          <a:bodyPr wrap="square" rtlCol="0" anchor="ctr"/>
          <a:lstStyle/>
          <a:p>
            <a:pPr marL="0" indent="0" algn="ctr">
              <a:buNone/>
            </a:pPr>
            <a:r>
              <a:rPr lang="en-US" sz="850" b="1" dirty="0">
                <a:solidFill>
                  <a:srgbClr val="1B6B4A"/>
                </a:solidFill>
                <a:latin typeface="Baskerville" panose="02020502070401020303" pitchFamily="18" charset="0"/>
                <a:ea typeface="Baskerville" panose="02020502070401020303" pitchFamily="18" charset="0"/>
                <a:cs typeface="Calibri" pitchFamily="34" charset="-120"/>
              </a:rPr>
              <a:t>Pretrained on</a:t>
            </a:r>
            <a:endParaRPr lang="en-US" sz="850" dirty="0">
              <a:latin typeface="Baskerville" panose="02020502070401020303" pitchFamily="18" charset="0"/>
              <a:ea typeface="Baskerville" panose="02020502070401020303" pitchFamily="18" charset="0"/>
            </a:endParaRPr>
          </a:p>
        </p:txBody>
      </p:sp>
      <p:sp>
        <p:nvSpPr>
          <p:cNvPr id="52" name="Text 50"/>
          <p:cNvSpPr/>
          <p:nvPr/>
        </p:nvSpPr>
        <p:spPr>
          <a:xfrm>
            <a:off x="6912864" y="2688336"/>
            <a:ext cx="1700784" cy="347472"/>
          </a:xfrm>
          <a:prstGeom prst="rect">
            <a:avLst/>
          </a:prstGeom>
          <a:noFill/>
          <a:ln/>
        </p:spPr>
        <p:txBody>
          <a:bodyPr wrap="square" rtlCol="0" anchor="ctr"/>
          <a:lstStyle/>
          <a:p>
            <a:pPr marL="0" indent="0" algn="ctr">
              <a:buNone/>
            </a:pPr>
            <a:r>
              <a:rPr lang="en-US" sz="950" dirty="0">
                <a:solidFill>
                  <a:srgbClr val="333355"/>
                </a:solidFill>
                <a:latin typeface="Baskerville" panose="02020502070401020303" pitchFamily="18" charset="0"/>
                <a:ea typeface="Baskerville" panose="02020502070401020303" pitchFamily="18" charset="0"/>
                <a:cs typeface="Calibri" pitchFamily="34" charset="-120"/>
              </a:rPr>
              <a:t>217M UniRef100</a:t>
            </a:r>
            <a:endParaRPr lang="en-US" sz="950" dirty="0">
              <a:latin typeface="Baskerville" panose="02020502070401020303" pitchFamily="18" charset="0"/>
              <a:ea typeface="Baskerville" panose="02020502070401020303" pitchFamily="18" charset="0"/>
            </a:endParaRPr>
          </a:p>
          <a:p>
            <a:pPr marL="0" indent="0" algn="ctr">
              <a:buNone/>
            </a:pPr>
            <a:r>
              <a:rPr lang="en-US" sz="950" dirty="0">
                <a:solidFill>
                  <a:srgbClr val="333355"/>
                </a:solidFill>
                <a:latin typeface="Baskerville" panose="02020502070401020303" pitchFamily="18" charset="0"/>
                <a:ea typeface="Baskerville" panose="02020502070401020303" pitchFamily="18" charset="0"/>
                <a:cs typeface="Calibri" pitchFamily="34" charset="-120"/>
              </a:rPr>
              <a:t>sequences</a:t>
            </a:r>
            <a:endParaRPr lang="en-US" sz="950" dirty="0">
              <a:latin typeface="Baskerville" panose="02020502070401020303" pitchFamily="18" charset="0"/>
              <a:ea typeface="Baskerville" panose="02020502070401020303" pitchFamily="18" charset="0"/>
            </a:endParaRPr>
          </a:p>
        </p:txBody>
      </p:sp>
      <p:sp>
        <p:nvSpPr>
          <p:cNvPr id="53" name="Shape 51"/>
          <p:cNvSpPr/>
          <p:nvPr/>
        </p:nvSpPr>
        <p:spPr>
          <a:xfrm>
            <a:off x="6894576" y="3118104"/>
            <a:ext cx="1737360" cy="594360"/>
          </a:xfrm>
          <a:prstGeom prst="rect">
            <a:avLst/>
          </a:prstGeom>
          <a:solidFill>
            <a:srgbClr val="EEF4FF"/>
          </a:solidFill>
          <a:ln w="6350">
            <a:solidFill>
              <a:srgbClr val="D8E2F0"/>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54" name="Text 52"/>
          <p:cNvSpPr/>
          <p:nvPr/>
        </p:nvSpPr>
        <p:spPr>
          <a:xfrm>
            <a:off x="6912864" y="3127248"/>
            <a:ext cx="1700784" cy="228600"/>
          </a:xfrm>
          <a:prstGeom prst="rect">
            <a:avLst/>
          </a:prstGeom>
          <a:noFill/>
          <a:ln/>
        </p:spPr>
        <p:txBody>
          <a:bodyPr wrap="square" rtlCol="0" anchor="ctr"/>
          <a:lstStyle/>
          <a:p>
            <a:pPr marL="0" indent="0" algn="ctr">
              <a:buNone/>
            </a:pPr>
            <a:r>
              <a:rPr lang="en-US" sz="850" b="1" dirty="0">
                <a:solidFill>
                  <a:srgbClr val="1B6B4A"/>
                </a:solidFill>
                <a:latin typeface="Baskerville" panose="02020502070401020303" pitchFamily="18" charset="0"/>
                <a:ea typeface="Baskerville" panose="02020502070401020303" pitchFamily="18" charset="0"/>
                <a:cs typeface="Calibri" pitchFamily="34" charset="-120"/>
              </a:rPr>
              <a:t>Tokenization</a:t>
            </a:r>
            <a:endParaRPr lang="en-US" sz="850" dirty="0">
              <a:latin typeface="Baskerville" panose="02020502070401020303" pitchFamily="18" charset="0"/>
              <a:ea typeface="Baskerville" panose="02020502070401020303" pitchFamily="18" charset="0"/>
            </a:endParaRPr>
          </a:p>
        </p:txBody>
      </p:sp>
      <p:sp>
        <p:nvSpPr>
          <p:cNvPr id="55" name="Text 53"/>
          <p:cNvSpPr/>
          <p:nvPr/>
        </p:nvSpPr>
        <p:spPr>
          <a:xfrm>
            <a:off x="6912864" y="3346704"/>
            <a:ext cx="1700784" cy="347472"/>
          </a:xfrm>
          <a:prstGeom prst="rect">
            <a:avLst/>
          </a:prstGeom>
          <a:noFill/>
          <a:ln/>
        </p:spPr>
        <p:txBody>
          <a:bodyPr wrap="square" rtlCol="0" anchor="ctr"/>
          <a:lstStyle/>
          <a:p>
            <a:pPr marL="0" indent="0" algn="ctr">
              <a:buNone/>
            </a:pPr>
            <a:r>
              <a:rPr lang="en-US" sz="950" dirty="0">
                <a:solidFill>
                  <a:srgbClr val="333355"/>
                </a:solidFill>
                <a:latin typeface="Baskerville" panose="02020502070401020303" pitchFamily="18" charset="0"/>
                <a:ea typeface="Baskerville" panose="02020502070401020303" pitchFamily="18" charset="0"/>
                <a:cs typeface="Calibri" pitchFamily="34" charset="-120"/>
              </a:rPr>
              <a:t>Residue tokens</a:t>
            </a:r>
            <a:endParaRPr lang="en-US" sz="950" dirty="0">
              <a:latin typeface="Baskerville" panose="02020502070401020303" pitchFamily="18" charset="0"/>
              <a:ea typeface="Baskerville" panose="02020502070401020303" pitchFamily="18" charset="0"/>
            </a:endParaRPr>
          </a:p>
        </p:txBody>
      </p:sp>
      <p:sp>
        <p:nvSpPr>
          <p:cNvPr id="56" name="Shape 54"/>
          <p:cNvSpPr/>
          <p:nvPr/>
        </p:nvSpPr>
        <p:spPr>
          <a:xfrm>
            <a:off x="274320" y="4069080"/>
            <a:ext cx="8595360" cy="822960"/>
          </a:xfrm>
          <a:prstGeom prst="rect">
            <a:avLst/>
          </a:prstGeom>
          <a:solidFill>
            <a:srgbClr val="E8F0FE"/>
          </a:solidFill>
          <a:ln w="12700">
            <a:solidFill>
              <a:srgbClr val="2451B7"/>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57" name="Text 55"/>
          <p:cNvSpPr/>
          <p:nvPr/>
        </p:nvSpPr>
        <p:spPr>
          <a:xfrm>
            <a:off x="411480" y="4096512"/>
            <a:ext cx="8321040" cy="768096"/>
          </a:xfrm>
          <a:prstGeom prst="rect">
            <a:avLst/>
          </a:prstGeom>
          <a:noFill/>
          <a:ln/>
        </p:spPr>
        <p:txBody>
          <a:bodyPr wrap="square" rtlCol="0" anchor="ctr"/>
          <a:lstStyle/>
          <a:p>
            <a:pPr marL="0" indent="0">
              <a:buNone/>
            </a:pPr>
            <a:r>
              <a:rPr lang="en-US" sz="1100" b="1" dirty="0">
                <a:solidFill>
                  <a:srgbClr val="2451B7"/>
                </a:solidFill>
                <a:latin typeface="Baskerville" panose="02020502070401020303" pitchFamily="18" charset="0"/>
                <a:ea typeface="Baskerville" panose="02020502070401020303" pitchFamily="18" charset="0"/>
                <a:cs typeface="Calibri" pitchFamily="34" charset="-120"/>
              </a:rPr>
              <a:t>Evaluation Strategy:  </a:t>
            </a:r>
            <a:r>
              <a:rPr lang="en-US" sz="1100" dirty="0">
                <a:solidFill>
                  <a:srgbClr val="333355"/>
                </a:solidFill>
                <a:latin typeface="Baskerville" panose="02020502070401020303" pitchFamily="18" charset="0"/>
                <a:ea typeface="Baskerville" panose="02020502070401020303" pitchFamily="18" charset="0"/>
                <a:cs typeface="Calibri" pitchFamily="34" charset="-120"/>
              </a:rPr>
              <a:t>All transformer models used as frozen feature extractors — embeddings extracted from [CLS] token (proteins) or mean-pooled hidden states (DNA). Same downstream classifiers (LR, SVM, RF, XGBoost) applied uniformly across all paradigms for a fair apples-to-apples comparison. No fine-tuning to avoid overfitting on small labeled datasets.</a:t>
            </a:r>
            <a:endParaRPr lang="en-US" sz="1100" dirty="0">
              <a:latin typeface="Baskerville" panose="02020502070401020303" pitchFamily="18" charset="0"/>
              <a:ea typeface="Baskerville" panose="02020502070401020303"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2451B7"/>
          </a:solidFill>
          <a:ln w="12700">
            <a:solidFill>
              <a:srgbClr val="000000"/>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3" name="Text 1"/>
          <p:cNvSpPr/>
          <p:nvPr/>
        </p:nvSpPr>
        <p:spPr>
          <a:xfrm>
            <a:off x="365760" y="0"/>
            <a:ext cx="8412480" cy="640080"/>
          </a:xfrm>
          <a:prstGeom prst="rect">
            <a:avLst/>
          </a:prstGeom>
          <a:noFill/>
          <a:ln/>
        </p:spPr>
        <p:txBody>
          <a:bodyPr wrap="square" rtlCol="0" anchor="ctr"/>
          <a:lstStyle/>
          <a:p>
            <a:pPr marL="0" indent="0">
              <a:buNone/>
            </a:pPr>
            <a:r>
              <a:rPr lang="en-US" sz="2000" b="1" dirty="0">
                <a:solidFill>
                  <a:srgbClr val="FFFFFF"/>
                </a:solidFill>
                <a:latin typeface="Baskerville" panose="02020502070401020303" pitchFamily="18" charset="0"/>
                <a:ea typeface="Baskerville" panose="02020502070401020303" pitchFamily="18" charset="0"/>
                <a:cs typeface="Calibri" pitchFamily="34" charset="-120"/>
              </a:rPr>
              <a:t>🧬  DNA Results — Promoter Classification</a:t>
            </a:r>
            <a:endParaRPr lang="en-US" sz="2000" dirty="0">
              <a:latin typeface="Baskerville" panose="02020502070401020303" pitchFamily="18" charset="0"/>
              <a:ea typeface="Baskerville" panose="02020502070401020303" pitchFamily="18" charset="0"/>
            </a:endParaRPr>
          </a:p>
        </p:txBody>
      </p:sp>
      <p:graphicFrame>
        <p:nvGraphicFramePr>
          <p:cNvPr id="6" name="Table 0"/>
          <p:cNvGraphicFramePr>
            <a:graphicFrameLocks noGrp="1"/>
          </p:cNvGraphicFramePr>
          <p:nvPr>
            <p:extLst>
              <p:ext uri="{D42A27DB-BD31-4B8C-83A1-F6EECF244321}">
                <p14:modId xmlns:p14="http://schemas.microsoft.com/office/powerpoint/2010/main" val="1418315067"/>
              </p:ext>
            </p:extLst>
          </p:nvPr>
        </p:nvGraphicFramePr>
        <p:xfrm>
          <a:off x="274320" y="777240"/>
          <a:ext cx="5120640" cy="2084832"/>
        </p:xfrm>
        <a:graphic>
          <a:graphicData uri="http://schemas.openxmlformats.org/drawingml/2006/table">
            <a:tbl>
              <a:tblPr/>
              <a:tblGrid>
                <a:gridCol w="182880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347472">
                <a:tc>
                  <a:txBody>
                    <a:bodyPr/>
                    <a:lstStyle/>
                    <a:p>
                      <a:pPr marL="0" indent="0">
                        <a:buNone/>
                      </a:pPr>
                      <a:r>
                        <a:rPr lang="en-US" sz="1100" b="1" dirty="0">
                          <a:solidFill>
                            <a:srgbClr val="FFFFFF"/>
                          </a:solidFill>
                          <a:latin typeface="Baskerville" panose="02020502070401020303" pitchFamily="18" charset="0"/>
                          <a:ea typeface="Baskerville" panose="02020502070401020303" pitchFamily="18" charset="0"/>
                          <a:cs typeface="Calibri" pitchFamily="34" charset="-120"/>
                        </a:rPr>
                        <a:t>Paradigm</a:t>
                      </a:r>
                      <a:endParaRPr lang="en-US" sz="1100" dirty="0">
                        <a:latin typeface="Baskerville" panose="02020502070401020303" pitchFamily="18" charset="0"/>
                        <a:ea typeface="Baskerville" panose="02020502070401020303" pitchFamily="18" charset="0"/>
                        <a:cs typeface="Calibri" charset="0"/>
                      </a:endParaRPr>
                    </a:p>
                  </a:txBody>
                  <a:tcPr>
                    <a:lnL w="6350" cap="flat" cmpd="sng" algn="ctr">
                      <a:solidFill>
                        <a:srgbClr val="D8E2F0"/>
                      </a:solidFill>
                      <a:prstDash val="solid"/>
                      <a:round/>
                      <a:headEnd type="none" w="med" len="med"/>
                      <a:tailEnd type="none" w="med" len="med"/>
                    </a:lnL>
                    <a:lnR w="6350" cap="flat" cmpd="sng" algn="ctr">
                      <a:solidFill>
                        <a:srgbClr val="D8E2F0"/>
                      </a:solidFill>
                      <a:prstDash val="solid"/>
                      <a:round/>
                      <a:headEnd type="none" w="med" len="med"/>
                      <a:tailEnd type="none" w="med" len="med"/>
                    </a:lnR>
                    <a:lnT w="6350" cap="flat" cmpd="sng" algn="ctr">
                      <a:solidFill>
                        <a:srgbClr val="D8E2F0"/>
                      </a:solidFill>
                      <a:prstDash val="solid"/>
                      <a:round/>
                      <a:headEnd type="none" w="med" len="med"/>
                      <a:tailEnd type="none" w="med" len="med"/>
                    </a:lnT>
                    <a:lnB w="6350" cap="flat" cmpd="sng" algn="ctr">
                      <a:solidFill>
                        <a:srgbClr val="D8E2F0"/>
                      </a:solidFill>
                      <a:prstDash val="solid"/>
                      <a:round/>
                      <a:headEnd type="none" w="med" len="med"/>
                      <a:tailEnd type="none" w="med" len="med"/>
                    </a:lnB>
                    <a:solidFill>
                      <a:srgbClr val="0D1B4B"/>
                    </a:solidFill>
                  </a:tcPr>
                </a:tc>
                <a:tc>
                  <a:txBody>
                    <a:bodyPr/>
                    <a:lstStyle/>
                    <a:p>
                      <a:pPr marL="0" indent="0">
                        <a:buNone/>
                      </a:pPr>
                      <a:r>
                        <a:rPr lang="en-US" sz="1100" b="1" dirty="0">
                          <a:solidFill>
                            <a:srgbClr val="FFFFFF"/>
                          </a:solidFill>
                          <a:latin typeface="Baskerville" panose="02020502070401020303" pitchFamily="18" charset="0"/>
                          <a:ea typeface="Baskerville" panose="02020502070401020303" pitchFamily="18" charset="0"/>
                          <a:cs typeface="Calibri" pitchFamily="34" charset="-120"/>
                        </a:rPr>
                        <a:t>Best Model</a:t>
                      </a:r>
                      <a:endParaRPr lang="en-US" sz="1100" dirty="0">
                        <a:latin typeface="Baskerville" panose="02020502070401020303" pitchFamily="18" charset="0"/>
                        <a:ea typeface="Baskerville" panose="02020502070401020303" pitchFamily="18" charset="0"/>
                        <a:cs typeface="Calibri" charset="0"/>
                      </a:endParaRPr>
                    </a:p>
                  </a:txBody>
                  <a:tcPr>
                    <a:lnL w="6350" cap="flat" cmpd="sng" algn="ctr">
                      <a:solidFill>
                        <a:srgbClr val="D8E2F0"/>
                      </a:solidFill>
                      <a:prstDash val="solid"/>
                      <a:round/>
                      <a:headEnd type="none" w="med" len="med"/>
                      <a:tailEnd type="none" w="med" len="med"/>
                    </a:lnL>
                    <a:lnR w="6350" cap="flat" cmpd="sng" algn="ctr">
                      <a:solidFill>
                        <a:srgbClr val="D8E2F0"/>
                      </a:solidFill>
                      <a:prstDash val="solid"/>
                      <a:round/>
                      <a:headEnd type="none" w="med" len="med"/>
                      <a:tailEnd type="none" w="med" len="med"/>
                    </a:lnR>
                    <a:lnT w="6350" cap="flat" cmpd="sng" algn="ctr">
                      <a:solidFill>
                        <a:srgbClr val="D8E2F0"/>
                      </a:solidFill>
                      <a:prstDash val="solid"/>
                      <a:round/>
                      <a:headEnd type="none" w="med" len="med"/>
                      <a:tailEnd type="none" w="med" len="med"/>
                    </a:lnT>
                    <a:lnB w="6350" cap="flat" cmpd="sng" algn="ctr">
                      <a:solidFill>
                        <a:srgbClr val="D8E2F0"/>
                      </a:solidFill>
                      <a:prstDash val="solid"/>
                      <a:round/>
                      <a:headEnd type="none" w="med" len="med"/>
                      <a:tailEnd type="none" w="med" len="med"/>
                    </a:lnB>
                    <a:solidFill>
                      <a:srgbClr val="0D1B4B"/>
                    </a:solidFill>
                  </a:tcPr>
                </a:tc>
                <a:tc>
                  <a:txBody>
                    <a:bodyPr/>
                    <a:lstStyle/>
                    <a:p>
                      <a:pPr marL="0" indent="0">
                        <a:buNone/>
                      </a:pPr>
                      <a:r>
                        <a:rPr lang="en-US" sz="1100" b="1" dirty="0">
                          <a:solidFill>
                            <a:srgbClr val="FFFFFF"/>
                          </a:solidFill>
                          <a:latin typeface="Baskerville" panose="02020502070401020303" pitchFamily="18" charset="0"/>
                          <a:ea typeface="Baskerville" panose="02020502070401020303" pitchFamily="18" charset="0"/>
                          <a:cs typeface="Calibri" pitchFamily="34" charset="-120"/>
                        </a:rPr>
                        <a:t>Accuracy</a:t>
                      </a:r>
                      <a:endParaRPr lang="en-US" sz="1100" dirty="0">
                        <a:latin typeface="Baskerville" panose="02020502070401020303" pitchFamily="18" charset="0"/>
                        <a:ea typeface="Baskerville" panose="02020502070401020303" pitchFamily="18" charset="0"/>
                        <a:cs typeface="Calibri" charset="0"/>
                      </a:endParaRPr>
                    </a:p>
                  </a:txBody>
                  <a:tcPr>
                    <a:lnL w="6350" cap="flat" cmpd="sng" algn="ctr">
                      <a:solidFill>
                        <a:srgbClr val="D8E2F0"/>
                      </a:solidFill>
                      <a:prstDash val="solid"/>
                      <a:round/>
                      <a:headEnd type="none" w="med" len="med"/>
                      <a:tailEnd type="none" w="med" len="med"/>
                    </a:lnL>
                    <a:lnR w="6350" cap="flat" cmpd="sng" algn="ctr">
                      <a:solidFill>
                        <a:srgbClr val="D8E2F0"/>
                      </a:solidFill>
                      <a:prstDash val="solid"/>
                      <a:round/>
                      <a:headEnd type="none" w="med" len="med"/>
                      <a:tailEnd type="none" w="med" len="med"/>
                    </a:lnR>
                    <a:lnT w="6350" cap="flat" cmpd="sng" algn="ctr">
                      <a:solidFill>
                        <a:srgbClr val="D8E2F0"/>
                      </a:solidFill>
                      <a:prstDash val="solid"/>
                      <a:round/>
                      <a:headEnd type="none" w="med" len="med"/>
                      <a:tailEnd type="none" w="med" len="med"/>
                    </a:lnT>
                    <a:lnB w="6350" cap="flat" cmpd="sng" algn="ctr">
                      <a:solidFill>
                        <a:srgbClr val="D8E2F0"/>
                      </a:solidFill>
                      <a:prstDash val="solid"/>
                      <a:round/>
                      <a:headEnd type="none" w="med" len="med"/>
                      <a:tailEnd type="none" w="med" len="med"/>
                    </a:lnB>
                    <a:solidFill>
                      <a:srgbClr val="0D1B4B"/>
                    </a:solidFill>
                  </a:tcPr>
                </a:tc>
                <a:tc>
                  <a:txBody>
                    <a:bodyPr/>
                    <a:lstStyle/>
                    <a:p>
                      <a:pPr marL="0" indent="0">
                        <a:buNone/>
                      </a:pPr>
                      <a:r>
                        <a:rPr lang="en-US" sz="1100" b="1" dirty="0">
                          <a:solidFill>
                            <a:srgbClr val="FFFFFF"/>
                          </a:solidFill>
                          <a:latin typeface="Baskerville" panose="02020502070401020303" pitchFamily="18" charset="0"/>
                          <a:ea typeface="Baskerville" panose="02020502070401020303" pitchFamily="18" charset="0"/>
                          <a:cs typeface="Calibri" pitchFamily="34" charset="-120"/>
                        </a:rPr>
                        <a:t>ROC-AUC</a:t>
                      </a:r>
                      <a:endParaRPr lang="en-US" sz="1100" dirty="0">
                        <a:latin typeface="Baskerville" panose="02020502070401020303" pitchFamily="18" charset="0"/>
                        <a:ea typeface="Baskerville" panose="02020502070401020303" pitchFamily="18" charset="0"/>
                        <a:cs typeface="Calibri" charset="0"/>
                      </a:endParaRPr>
                    </a:p>
                  </a:txBody>
                  <a:tcPr>
                    <a:lnL w="6350" cap="flat" cmpd="sng" algn="ctr">
                      <a:solidFill>
                        <a:srgbClr val="D8E2F0"/>
                      </a:solidFill>
                      <a:prstDash val="solid"/>
                      <a:round/>
                      <a:headEnd type="none" w="med" len="med"/>
                      <a:tailEnd type="none" w="med" len="med"/>
                    </a:lnL>
                    <a:lnR w="6350" cap="flat" cmpd="sng" algn="ctr">
                      <a:solidFill>
                        <a:srgbClr val="D8E2F0"/>
                      </a:solidFill>
                      <a:prstDash val="solid"/>
                      <a:round/>
                      <a:headEnd type="none" w="med" len="med"/>
                      <a:tailEnd type="none" w="med" len="med"/>
                    </a:lnR>
                    <a:lnT w="6350" cap="flat" cmpd="sng" algn="ctr">
                      <a:solidFill>
                        <a:srgbClr val="D8E2F0"/>
                      </a:solidFill>
                      <a:prstDash val="solid"/>
                      <a:round/>
                      <a:headEnd type="none" w="med" len="med"/>
                      <a:tailEnd type="none" w="med" len="med"/>
                    </a:lnT>
                    <a:lnB w="6350" cap="flat" cmpd="sng" algn="ctr">
                      <a:solidFill>
                        <a:srgbClr val="D8E2F0"/>
                      </a:solidFill>
                      <a:prstDash val="solid"/>
                      <a:round/>
                      <a:headEnd type="none" w="med" len="med"/>
                      <a:tailEnd type="none" w="med" len="med"/>
                    </a:lnB>
                    <a:solidFill>
                      <a:srgbClr val="0D1B4B"/>
                    </a:solidFill>
                  </a:tcPr>
                </a:tc>
                <a:extLst>
                  <a:ext uri="{0D108BD9-81ED-4DB2-BD59-A6C34878D82A}">
                    <a16:rowId xmlns:a16="http://schemas.microsoft.com/office/drawing/2014/main" val="10000"/>
                  </a:ext>
                </a:extLst>
              </a:tr>
              <a:tr h="347472">
                <a:tc>
                  <a:txBody>
                    <a:bodyPr/>
                    <a:lstStyle/>
                    <a:p>
                      <a:pPr marL="0" indent="0" algn="l">
                        <a:buNone/>
                      </a:pPr>
                      <a:r>
                        <a:rPr lang="en-US" sz="1100" dirty="0">
                          <a:solidFill>
                            <a:srgbClr val="0D1B4B"/>
                          </a:solidFill>
                          <a:latin typeface="Baskerville" panose="02020502070401020303" pitchFamily="18" charset="0"/>
                          <a:ea typeface="Baskerville" panose="02020502070401020303" pitchFamily="18" charset="0"/>
                          <a:cs typeface="Calibri" pitchFamily="34" charset="-120"/>
                        </a:rPr>
                        <a:t>Baseline ML</a:t>
                      </a:r>
                      <a:endParaRPr lang="en-US" sz="1100" dirty="0">
                        <a:latin typeface="Baskerville" panose="02020502070401020303" pitchFamily="18" charset="0"/>
                        <a:ea typeface="Baskerville" panose="02020502070401020303" pitchFamily="18" charset="0"/>
                        <a:cs typeface="Calibri" charset="0"/>
                      </a:endParaRPr>
                    </a:p>
                  </a:txBody>
                  <a:tcPr>
                    <a:lnL w="6350" cap="flat" cmpd="sng" algn="ctr">
                      <a:solidFill>
                        <a:srgbClr val="D8E2F0"/>
                      </a:solidFill>
                      <a:prstDash val="solid"/>
                      <a:round/>
                      <a:headEnd type="none" w="med" len="med"/>
                      <a:tailEnd type="none" w="med" len="med"/>
                    </a:lnL>
                    <a:lnR w="6350" cap="flat" cmpd="sng" algn="ctr">
                      <a:solidFill>
                        <a:srgbClr val="D8E2F0"/>
                      </a:solidFill>
                      <a:prstDash val="solid"/>
                      <a:round/>
                      <a:headEnd type="none" w="med" len="med"/>
                      <a:tailEnd type="none" w="med" len="med"/>
                    </a:lnR>
                    <a:lnT w="6350" cap="flat" cmpd="sng" algn="ctr">
                      <a:solidFill>
                        <a:srgbClr val="D8E2F0"/>
                      </a:solidFill>
                      <a:prstDash val="solid"/>
                      <a:round/>
                      <a:headEnd type="none" w="med" len="med"/>
                      <a:tailEnd type="none" w="med" len="med"/>
                    </a:lnT>
                    <a:lnB w="6350" cap="flat" cmpd="sng" algn="ctr">
                      <a:solidFill>
                        <a:srgbClr val="D8E2F0"/>
                      </a:solidFill>
                      <a:prstDash val="solid"/>
                      <a:round/>
                      <a:headEnd type="none" w="med" len="med"/>
                      <a:tailEnd type="none" w="med" len="med"/>
                    </a:lnB>
                    <a:solidFill>
                      <a:srgbClr val="F4F8FF"/>
                    </a:solidFill>
                  </a:tcPr>
                </a:tc>
                <a:tc>
                  <a:txBody>
                    <a:bodyPr/>
                    <a:lstStyle/>
                    <a:p>
                      <a:pPr marL="0" indent="0" algn="l">
                        <a:buNone/>
                      </a:pPr>
                      <a:r>
                        <a:rPr lang="en-US" sz="1100" dirty="0">
                          <a:solidFill>
                            <a:srgbClr val="333355"/>
                          </a:solidFill>
                          <a:latin typeface="Baskerville" panose="02020502070401020303" pitchFamily="18" charset="0"/>
                          <a:ea typeface="Baskerville" panose="02020502070401020303" pitchFamily="18" charset="0"/>
                          <a:cs typeface="Calibri" pitchFamily="34" charset="-120"/>
                        </a:rPr>
                        <a:t>Random Forest</a:t>
                      </a:r>
                      <a:endParaRPr lang="en-US" sz="1100" dirty="0">
                        <a:latin typeface="Baskerville" panose="02020502070401020303" pitchFamily="18" charset="0"/>
                        <a:ea typeface="Baskerville" panose="02020502070401020303" pitchFamily="18" charset="0"/>
                        <a:cs typeface="Calibri" charset="0"/>
                      </a:endParaRPr>
                    </a:p>
                  </a:txBody>
                  <a:tcPr>
                    <a:lnL w="6350" cap="flat" cmpd="sng" algn="ctr">
                      <a:solidFill>
                        <a:srgbClr val="D8E2F0"/>
                      </a:solidFill>
                      <a:prstDash val="solid"/>
                      <a:round/>
                      <a:headEnd type="none" w="med" len="med"/>
                      <a:tailEnd type="none" w="med" len="med"/>
                    </a:lnL>
                    <a:lnR w="6350" cap="flat" cmpd="sng" algn="ctr">
                      <a:solidFill>
                        <a:srgbClr val="D8E2F0"/>
                      </a:solidFill>
                      <a:prstDash val="solid"/>
                      <a:round/>
                      <a:headEnd type="none" w="med" len="med"/>
                      <a:tailEnd type="none" w="med" len="med"/>
                    </a:lnR>
                    <a:lnT w="6350" cap="flat" cmpd="sng" algn="ctr">
                      <a:solidFill>
                        <a:srgbClr val="D8E2F0"/>
                      </a:solidFill>
                      <a:prstDash val="solid"/>
                      <a:round/>
                      <a:headEnd type="none" w="med" len="med"/>
                      <a:tailEnd type="none" w="med" len="med"/>
                    </a:lnT>
                    <a:lnB w="6350" cap="flat" cmpd="sng" algn="ctr">
                      <a:solidFill>
                        <a:srgbClr val="D8E2F0"/>
                      </a:solidFill>
                      <a:prstDash val="solid"/>
                      <a:round/>
                      <a:headEnd type="none" w="med" len="med"/>
                      <a:tailEnd type="none" w="med" len="med"/>
                    </a:lnB>
                    <a:solidFill>
                      <a:srgbClr val="F4F8FF"/>
                    </a:solidFill>
                  </a:tcPr>
                </a:tc>
                <a:tc>
                  <a:txBody>
                    <a:bodyPr/>
                    <a:lstStyle/>
                    <a:p>
                      <a:pPr marL="0" indent="0" algn="ctr">
                        <a:buNone/>
                      </a:pPr>
                      <a:r>
                        <a:rPr lang="en-US" sz="1100" dirty="0">
                          <a:solidFill>
                            <a:srgbClr val="333355"/>
                          </a:solidFill>
                          <a:latin typeface="Baskerville" panose="02020502070401020303" pitchFamily="18" charset="0"/>
                          <a:ea typeface="Baskerville" panose="02020502070401020303" pitchFamily="18" charset="0"/>
                          <a:cs typeface="Calibri" pitchFamily="34" charset="-120"/>
                        </a:rPr>
                        <a:t>0.748</a:t>
                      </a:r>
                      <a:endParaRPr lang="en-US" sz="1100" dirty="0">
                        <a:latin typeface="Baskerville" panose="02020502070401020303" pitchFamily="18" charset="0"/>
                        <a:ea typeface="Baskerville" panose="02020502070401020303" pitchFamily="18" charset="0"/>
                        <a:cs typeface="Calibri" charset="0"/>
                      </a:endParaRPr>
                    </a:p>
                  </a:txBody>
                  <a:tcPr>
                    <a:lnL w="6350" cap="flat" cmpd="sng" algn="ctr">
                      <a:solidFill>
                        <a:srgbClr val="D8E2F0"/>
                      </a:solidFill>
                      <a:prstDash val="solid"/>
                      <a:round/>
                      <a:headEnd type="none" w="med" len="med"/>
                      <a:tailEnd type="none" w="med" len="med"/>
                    </a:lnL>
                    <a:lnR w="6350" cap="flat" cmpd="sng" algn="ctr">
                      <a:solidFill>
                        <a:srgbClr val="D8E2F0"/>
                      </a:solidFill>
                      <a:prstDash val="solid"/>
                      <a:round/>
                      <a:headEnd type="none" w="med" len="med"/>
                      <a:tailEnd type="none" w="med" len="med"/>
                    </a:lnR>
                    <a:lnT w="6350" cap="flat" cmpd="sng" algn="ctr">
                      <a:solidFill>
                        <a:srgbClr val="D8E2F0"/>
                      </a:solidFill>
                      <a:prstDash val="solid"/>
                      <a:round/>
                      <a:headEnd type="none" w="med" len="med"/>
                      <a:tailEnd type="none" w="med" len="med"/>
                    </a:lnT>
                    <a:lnB w="6350" cap="flat" cmpd="sng" algn="ctr">
                      <a:solidFill>
                        <a:srgbClr val="D8E2F0"/>
                      </a:solidFill>
                      <a:prstDash val="solid"/>
                      <a:round/>
                      <a:headEnd type="none" w="med" len="med"/>
                      <a:tailEnd type="none" w="med" len="med"/>
                    </a:lnB>
                    <a:solidFill>
                      <a:srgbClr val="F4F8FF"/>
                    </a:solidFill>
                  </a:tcPr>
                </a:tc>
                <a:tc>
                  <a:txBody>
                    <a:bodyPr/>
                    <a:lstStyle/>
                    <a:p>
                      <a:pPr marL="0" indent="0" algn="ctr">
                        <a:buNone/>
                      </a:pPr>
                      <a:r>
                        <a:rPr lang="en-US" sz="1100" dirty="0">
                          <a:solidFill>
                            <a:srgbClr val="333355"/>
                          </a:solidFill>
                          <a:latin typeface="Baskerville" panose="02020502070401020303" pitchFamily="18" charset="0"/>
                          <a:ea typeface="Baskerville" panose="02020502070401020303" pitchFamily="18" charset="0"/>
                          <a:cs typeface="Calibri" pitchFamily="34" charset="-120"/>
                        </a:rPr>
                        <a:t>0.837</a:t>
                      </a:r>
                      <a:endParaRPr lang="en-US" sz="1100" dirty="0">
                        <a:latin typeface="Baskerville" panose="02020502070401020303" pitchFamily="18" charset="0"/>
                        <a:ea typeface="Baskerville" panose="02020502070401020303" pitchFamily="18" charset="0"/>
                        <a:cs typeface="Calibri" charset="0"/>
                      </a:endParaRPr>
                    </a:p>
                  </a:txBody>
                  <a:tcPr>
                    <a:lnL w="6350" cap="flat" cmpd="sng" algn="ctr">
                      <a:solidFill>
                        <a:srgbClr val="D8E2F0"/>
                      </a:solidFill>
                      <a:prstDash val="solid"/>
                      <a:round/>
                      <a:headEnd type="none" w="med" len="med"/>
                      <a:tailEnd type="none" w="med" len="med"/>
                    </a:lnL>
                    <a:lnR w="6350" cap="flat" cmpd="sng" algn="ctr">
                      <a:solidFill>
                        <a:srgbClr val="D8E2F0"/>
                      </a:solidFill>
                      <a:prstDash val="solid"/>
                      <a:round/>
                      <a:headEnd type="none" w="med" len="med"/>
                      <a:tailEnd type="none" w="med" len="med"/>
                    </a:lnR>
                    <a:lnT w="6350" cap="flat" cmpd="sng" algn="ctr">
                      <a:solidFill>
                        <a:srgbClr val="D8E2F0"/>
                      </a:solidFill>
                      <a:prstDash val="solid"/>
                      <a:round/>
                      <a:headEnd type="none" w="med" len="med"/>
                      <a:tailEnd type="none" w="med" len="med"/>
                    </a:lnT>
                    <a:lnB w="6350" cap="flat" cmpd="sng" algn="ctr">
                      <a:solidFill>
                        <a:srgbClr val="D8E2F0"/>
                      </a:solidFill>
                      <a:prstDash val="solid"/>
                      <a:round/>
                      <a:headEnd type="none" w="med" len="med"/>
                      <a:tailEnd type="none" w="med" len="med"/>
                    </a:lnB>
                    <a:solidFill>
                      <a:srgbClr val="F4F8FF"/>
                    </a:solidFill>
                  </a:tcPr>
                </a:tc>
                <a:extLst>
                  <a:ext uri="{0D108BD9-81ED-4DB2-BD59-A6C34878D82A}">
                    <a16:rowId xmlns:a16="http://schemas.microsoft.com/office/drawing/2014/main" val="10001"/>
                  </a:ext>
                </a:extLst>
              </a:tr>
              <a:tr h="347472">
                <a:tc>
                  <a:txBody>
                    <a:bodyPr/>
                    <a:lstStyle/>
                    <a:p>
                      <a:pPr marL="0" indent="0" algn="l">
                        <a:buNone/>
                      </a:pPr>
                      <a:r>
                        <a:rPr lang="en-US" sz="1100" dirty="0">
                          <a:solidFill>
                            <a:srgbClr val="0D1B4B"/>
                          </a:solidFill>
                          <a:latin typeface="Baskerville" panose="02020502070401020303" pitchFamily="18" charset="0"/>
                          <a:ea typeface="Baskerville" panose="02020502070401020303" pitchFamily="18" charset="0"/>
                          <a:cs typeface="Calibri" pitchFamily="34" charset="-120"/>
                        </a:rPr>
                        <a:t>CNN</a:t>
                      </a:r>
                      <a:endParaRPr lang="en-US" sz="1100" dirty="0">
                        <a:latin typeface="Baskerville" panose="02020502070401020303" pitchFamily="18" charset="0"/>
                        <a:ea typeface="Baskerville" panose="02020502070401020303" pitchFamily="18" charset="0"/>
                        <a:cs typeface="Calibri" charset="0"/>
                      </a:endParaRPr>
                    </a:p>
                  </a:txBody>
                  <a:tcPr>
                    <a:lnL w="6350" cap="flat" cmpd="sng" algn="ctr">
                      <a:solidFill>
                        <a:srgbClr val="D8E2F0"/>
                      </a:solidFill>
                      <a:prstDash val="solid"/>
                      <a:round/>
                      <a:headEnd type="none" w="med" len="med"/>
                      <a:tailEnd type="none" w="med" len="med"/>
                    </a:lnL>
                    <a:lnR w="6350" cap="flat" cmpd="sng" algn="ctr">
                      <a:solidFill>
                        <a:srgbClr val="D8E2F0"/>
                      </a:solidFill>
                      <a:prstDash val="solid"/>
                      <a:round/>
                      <a:headEnd type="none" w="med" len="med"/>
                      <a:tailEnd type="none" w="med" len="med"/>
                    </a:lnR>
                    <a:lnT w="6350" cap="flat" cmpd="sng" algn="ctr">
                      <a:solidFill>
                        <a:srgbClr val="D8E2F0"/>
                      </a:solidFill>
                      <a:prstDash val="solid"/>
                      <a:round/>
                      <a:headEnd type="none" w="med" len="med"/>
                      <a:tailEnd type="none" w="med" len="med"/>
                    </a:lnT>
                    <a:lnB w="6350" cap="flat" cmpd="sng" algn="ctr">
                      <a:solidFill>
                        <a:srgbClr val="D8E2F0"/>
                      </a:solidFill>
                      <a:prstDash val="solid"/>
                      <a:round/>
                      <a:headEnd type="none" w="med" len="med"/>
                      <a:tailEnd type="none" w="med" len="med"/>
                    </a:lnB>
                    <a:solidFill>
                      <a:srgbClr val="FFFFFF"/>
                    </a:solidFill>
                  </a:tcPr>
                </a:tc>
                <a:tc>
                  <a:txBody>
                    <a:bodyPr/>
                    <a:lstStyle/>
                    <a:p>
                      <a:pPr marL="0" indent="0" algn="l">
                        <a:buNone/>
                      </a:pPr>
                      <a:r>
                        <a:rPr lang="en-US" sz="1100" dirty="0">
                          <a:solidFill>
                            <a:srgbClr val="333355"/>
                          </a:solidFill>
                          <a:latin typeface="Baskerville" panose="02020502070401020303" pitchFamily="18" charset="0"/>
                          <a:ea typeface="Baskerville" panose="02020502070401020303" pitchFamily="18" charset="0"/>
                          <a:cs typeface="Calibri" pitchFamily="34" charset="-120"/>
                        </a:rPr>
                        <a:t>Seq_CNN</a:t>
                      </a:r>
                      <a:endParaRPr lang="en-US" sz="1100" dirty="0">
                        <a:latin typeface="Baskerville" panose="02020502070401020303" pitchFamily="18" charset="0"/>
                        <a:ea typeface="Baskerville" panose="02020502070401020303" pitchFamily="18" charset="0"/>
                        <a:cs typeface="Calibri" charset="0"/>
                      </a:endParaRPr>
                    </a:p>
                  </a:txBody>
                  <a:tcPr>
                    <a:lnL w="6350" cap="flat" cmpd="sng" algn="ctr">
                      <a:solidFill>
                        <a:srgbClr val="D8E2F0"/>
                      </a:solidFill>
                      <a:prstDash val="solid"/>
                      <a:round/>
                      <a:headEnd type="none" w="med" len="med"/>
                      <a:tailEnd type="none" w="med" len="med"/>
                    </a:lnL>
                    <a:lnR w="6350" cap="flat" cmpd="sng" algn="ctr">
                      <a:solidFill>
                        <a:srgbClr val="D8E2F0"/>
                      </a:solidFill>
                      <a:prstDash val="solid"/>
                      <a:round/>
                      <a:headEnd type="none" w="med" len="med"/>
                      <a:tailEnd type="none" w="med" len="med"/>
                    </a:lnR>
                    <a:lnT w="6350" cap="flat" cmpd="sng" algn="ctr">
                      <a:solidFill>
                        <a:srgbClr val="D8E2F0"/>
                      </a:solidFill>
                      <a:prstDash val="solid"/>
                      <a:round/>
                      <a:headEnd type="none" w="med" len="med"/>
                      <a:tailEnd type="none" w="med" len="med"/>
                    </a:lnT>
                    <a:lnB w="6350" cap="flat" cmpd="sng" algn="ctr">
                      <a:solidFill>
                        <a:srgbClr val="D8E2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55"/>
                          </a:solidFill>
                          <a:latin typeface="Baskerville" panose="02020502070401020303" pitchFamily="18" charset="0"/>
                          <a:ea typeface="Baskerville" panose="02020502070401020303" pitchFamily="18" charset="0"/>
                          <a:cs typeface="Calibri" pitchFamily="34" charset="-120"/>
                        </a:rPr>
                        <a:t>0.750</a:t>
                      </a:r>
                      <a:endParaRPr lang="en-US" sz="1100" dirty="0">
                        <a:latin typeface="Baskerville" panose="02020502070401020303" pitchFamily="18" charset="0"/>
                        <a:ea typeface="Baskerville" panose="02020502070401020303" pitchFamily="18" charset="0"/>
                        <a:cs typeface="Calibri" charset="0"/>
                      </a:endParaRPr>
                    </a:p>
                  </a:txBody>
                  <a:tcPr>
                    <a:lnL w="6350" cap="flat" cmpd="sng" algn="ctr">
                      <a:solidFill>
                        <a:srgbClr val="D8E2F0"/>
                      </a:solidFill>
                      <a:prstDash val="solid"/>
                      <a:round/>
                      <a:headEnd type="none" w="med" len="med"/>
                      <a:tailEnd type="none" w="med" len="med"/>
                    </a:lnL>
                    <a:lnR w="6350" cap="flat" cmpd="sng" algn="ctr">
                      <a:solidFill>
                        <a:srgbClr val="D8E2F0"/>
                      </a:solidFill>
                      <a:prstDash val="solid"/>
                      <a:round/>
                      <a:headEnd type="none" w="med" len="med"/>
                      <a:tailEnd type="none" w="med" len="med"/>
                    </a:lnR>
                    <a:lnT w="6350" cap="flat" cmpd="sng" algn="ctr">
                      <a:solidFill>
                        <a:srgbClr val="D8E2F0"/>
                      </a:solidFill>
                      <a:prstDash val="solid"/>
                      <a:round/>
                      <a:headEnd type="none" w="med" len="med"/>
                      <a:tailEnd type="none" w="med" len="med"/>
                    </a:lnT>
                    <a:lnB w="6350" cap="flat" cmpd="sng" algn="ctr">
                      <a:solidFill>
                        <a:srgbClr val="D8E2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55"/>
                          </a:solidFill>
                          <a:latin typeface="Baskerville" panose="02020502070401020303" pitchFamily="18" charset="0"/>
                          <a:ea typeface="Baskerville" panose="02020502070401020303" pitchFamily="18" charset="0"/>
                          <a:cs typeface="Calibri" pitchFamily="34" charset="-120"/>
                        </a:rPr>
                        <a:t>0.826</a:t>
                      </a:r>
                      <a:endParaRPr lang="en-US" sz="1100" dirty="0">
                        <a:latin typeface="Baskerville" panose="02020502070401020303" pitchFamily="18" charset="0"/>
                        <a:ea typeface="Baskerville" panose="02020502070401020303" pitchFamily="18" charset="0"/>
                        <a:cs typeface="Calibri" charset="0"/>
                      </a:endParaRPr>
                    </a:p>
                  </a:txBody>
                  <a:tcPr>
                    <a:lnL w="6350" cap="flat" cmpd="sng" algn="ctr">
                      <a:solidFill>
                        <a:srgbClr val="D8E2F0"/>
                      </a:solidFill>
                      <a:prstDash val="solid"/>
                      <a:round/>
                      <a:headEnd type="none" w="med" len="med"/>
                      <a:tailEnd type="none" w="med" len="med"/>
                    </a:lnL>
                    <a:lnR w="6350" cap="flat" cmpd="sng" algn="ctr">
                      <a:solidFill>
                        <a:srgbClr val="D8E2F0"/>
                      </a:solidFill>
                      <a:prstDash val="solid"/>
                      <a:round/>
                      <a:headEnd type="none" w="med" len="med"/>
                      <a:tailEnd type="none" w="med" len="med"/>
                    </a:lnR>
                    <a:lnT w="6350" cap="flat" cmpd="sng" algn="ctr">
                      <a:solidFill>
                        <a:srgbClr val="D8E2F0"/>
                      </a:solidFill>
                      <a:prstDash val="solid"/>
                      <a:round/>
                      <a:headEnd type="none" w="med" len="med"/>
                      <a:tailEnd type="none" w="med" len="med"/>
                    </a:lnT>
                    <a:lnB w="6350" cap="flat" cmpd="sng" algn="ctr">
                      <a:solidFill>
                        <a:srgbClr val="D8E2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47472">
                <a:tc>
                  <a:txBody>
                    <a:bodyPr/>
                    <a:lstStyle/>
                    <a:p>
                      <a:pPr marL="0" indent="0" algn="l">
                        <a:buNone/>
                      </a:pPr>
                      <a:r>
                        <a:rPr lang="en-US" sz="1100" dirty="0">
                          <a:solidFill>
                            <a:srgbClr val="0D1B4B"/>
                          </a:solidFill>
                          <a:latin typeface="Baskerville" panose="02020502070401020303" pitchFamily="18" charset="0"/>
                          <a:ea typeface="Baskerville" panose="02020502070401020303" pitchFamily="18" charset="0"/>
                          <a:cs typeface="Calibri" pitchFamily="34" charset="-120"/>
                        </a:rPr>
                        <a:t>Hybrid CNN + Features</a:t>
                      </a:r>
                      <a:endParaRPr lang="en-US" sz="1100" dirty="0">
                        <a:latin typeface="Baskerville" panose="02020502070401020303" pitchFamily="18" charset="0"/>
                        <a:ea typeface="Baskerville" panose="02020502070401020303" pitchFamily="18" charset="0"/>
                        <a:cs typeface="Calibri" charset="0"/>
                      </a:endParaRPr>
                    </a:p>
                  </a:txBody>
                  <a:tcPr>
                    <a:lnL w="6350" cap="flat" cmpd="sng" algn="ctr">
                      <a:solidFill>
                        <a:srgbClr val="D8E2F0"/>
                      </a:solidFill>
                      <a:prstDash val="solid"/>
                      <a:round/>
                      <a:headEnd type="none" w="med" len="med"/>
                      <a:tailEnd type="none" w="med" len="med"/>
                    </a:lnL>
                    <a:lnR w="6350" cap="flat" cmpd="sng" algn="ctr">
                      <a:solidFill>
                        <a:srgbClr val="D8E2F0"/>
                      </a:solidFill>
                      <a:prstDash val="solid"/>
                      <a:round/>
                      <a:headEnd type="none" w="med" len="med"/>
                      <a:tailEnd type="none" w="med" len="med"/>
                    </a:lnR>
                    <a:lnT w="6350" cap="flat" cmpd="sng" algn="ctr">
                      <a:solidFill>
                        <a:srgbClr val="D8E2F0"/>
                      </a:solidFill>
                      <a:prstDash val="solid"/>
                      <a:round/>
                      <a:headEnd type="none" w="med" len="med"/>
                      <a:tailEnd type="none" w="med" len="med"/>
                    </a:lnT>
                    <a:lnB w="6350" cap="flat" cmpd="sng" algn="ctr">
                      <a:solidFill>
                        <a:srgbClr val="D8E2F0"/>
                      </a:solidFill>
                      <a:prstDash val="solid"/>
                      <a:round/>
                      <a:headEnd type="none" w="med" len="med"/>
                      <a:tailEnd type="none" w="med" len="med"/>
                    </a:lnB>
                    <a:solidFill>
                      <a:srgbClr val="F4F8FF"/>
                    </a:solidFill>
                  </a:tcPr>
                </a:tc>
                <a:tc>
                  <a:txBody>
                    <a:bodyPr/>
                    <a:lstStyle/>
                    <a:p>
                      <a:pPr marL="0" indent="0" algn="l">
                        <a:buNone/>
                      </a:pPr>
                      <a:r>
                        <a:rPr lang="en-US" sz="1100" dirty="0">
                          <a:solidFill>
                            <a:srgbClr val="333355"/>
                          </a:solidFill>
                          <a:latin typeface="Baskerville" panose="02020502070401020303" pitchFamily="18" charset="0"/>
                          <a:ea typeface="Baskerville" panose="02020502070401020303" pitchFamily="18" charset="0"/>
                          <a:cs typeface="Calibri" pitchFamily="34" charset="-120"/>
                        </a:rPr>
                        <a:t>Hybrid</a:t>
                      </a:r>
                      <a:endParaRPr lang="en-US" sz="1100" dirty="0">
                        <a:latin typeface="Baskerville" panose="02020502070401020303" pitchFamily="18" charset="0"/>
                        <a:ea typeface="Baskerville" panose="02020502070401020303" pitchFamily="18" charset="0"/>
                        <a:cs typeface="Calibri" charset="0"/>
                      </a:endParaRPr>
                    </a:p>
                  </a:txBody>
                  <a:tcPr>
                    <a:lnL w="6350" cap="flat" cmpd="sng" algn="ctr">
                      <a:solidFill>
                        <a:srgbClr val="D8E2F0"/>
                      </a:solidFill>
                      <a:prstDash val="solid"/>
                      <a:round/>
                      <a:headEnd type="none" w="med" len="med"/>
                      <a:tailEnd type="none" w="med" len="med"/>
                    </a:lnL>
                    <a:lnR w="6350" cap="flat" cmpd="sng" algn="ctr">
                      <a:solidFill>
                        <a:srgbClr val="D8E2F0"/>
                      </a:solidFill>
                      <a:prstDash val="solid"/>
                      <a:round/>
                      <a:headEnd type="none" w="med" len="med"/>
                      <a:tailEnd type="none" w="med" len="med"/>
                    </a:lnR>
                    <a:lnT w="6350" cap="flat" cmpd="sng" algn="ctr">
                      <a:solidFill>
                        <a:srgbClr val="D8E2F0"/>
                      </a:solidFill>
                      <a:prstDash val="solid"/>
                      <a:round/>
                      <a:headEnd type="none" w="med" len="med"/>
                      <a:tailEnd type="none" w="med" len="med"/>
                    </a:lnT>
                    <a:lnB w="6350" cap="flat" cmpd="sng" algn="ctr">
                      <a:solidFill>
                        <a:srgbClr val="D8E2F0"/>
                      </a:solidFill>
                      <a:prstDash val="solid"/>
                      <a:round/>
                      <a:headEnd type="none" w="med" len="med"/>
                      <a:tailEnd type="none" w="med" len="med"/>
                    </a:lnB>
                    <a:solidFill>
                      <a:srgbClr val="F4F8FF"/>
                    </a:solidFill>
                  </a:tcPr>
                </a:tc>
                <a:tc>
                  <a:txBody>
                    <a:bodyPr/>
                    <a:lstStyle/>
                    <a:p>
                      <a:pPr marL="0" indent="0" algn="ctr">
                        <a:buNone/>
                      </a:pPr>
                      <a:r>
                        <a:rPr lang="en-US" sz="1100" dirty="0">
                          <a:solidFill>
                            <a:srgbClr val="333355"/>
                          </a:solidFill>
                          <a:latin typeface="Baskerville" panose="02020502070401020303" pitchFamily="18" charset="0"/>
                          <a:ea typeface="Baskerville" panose="02020502070401020303" pitchFamily="18" charset="0"/>
                          <a:cs typeface="Calibri" pitchFamily="34" charset="-120"/>
                        </a:rPr>
                        <a:t>0.698</a:t>
                      </a:r>
                      <a:endParaRPr lang="en-US" sz="1100" dirty="0">
                        <a:latin typeface="Baskerville" panose="02020502070401020303" pitchFamily="18" charset="0"/>
                        <a:ea typeface="Baskerville" panose="02020502070401020303" pitchFamily="18" charset="0"/>
                        <a:cs typeface="Calibri" charset="0"/>
                      </a:endParaRPr>
                    </a:p>
                  </a:txBody>
                  <a:tcPr>
                    <a:lnL w="6350" cap="flat" cmpd="sng" algn="ctr">
                      <a:solidFill>
                        <a:srgbClr val="D8E2F0"/>
                      </a:solidFill>
                      <a:prstDash val="solid"/>
                      <a:round/>
                      <a:headEnd type="none" w="med" len="med"/>
                      <a:tailEnd type="none" w="med" len="med"/>
                    </a:lnL>
                    <a:lnR w="6350" cap="flat" cmpd="sng" algn="ctr">
                      <a:solidFill>
                        <a:srgbClr val="D8E2F0"/>
                      </a:solidFill>
                      <a:prstDash val="solid"/>
                      <a:round/>
                      <a:headEnd type="none" w="med" len="med"/>
                      <a:tailEnd type="none" w="med" len="med"/>
                    </a:lnR>
                    <a:lnT w="6350" cap="flat" cmpd="sng" algn="ctr">
                      <a:solidFill>
                        <a:srgbClr val="D8E2F0"/>
                      </a:solidFill>
                      <a:prstDash val="solid"/>
                      <a:round/>
                      <a:headEnd type="none" w="med" len="med"/>
                      <a:tailEnd type="none" w="med" len="med"/>
                    </a:lnT>
                    <a:lnB w="6350" cap="flat" cmpd="sng" algn="ctr">
                      <a:solidFill>
                        <a:srgbClr val="D8E2F0"/>
                      </a:solidFill>
                      <a:prstDash val="solid"/>
                      <a:round/>
                      <a:headEnd type="none" w="med" len="med"/>
                      <a:tailEnd type="none" w="med" len="med"/>
                    </a:lnB>
                    <a:solidFill>
                      <a:srgbClr val="F4F8FF"/>
                    </a:solidFill>
                  </a:tcPr>
                </a:tc>
                <a:tc>
                  <a:txBody>
                    <a:bodyPr/>
                    <a:lstStyle/>
                    <a:p>
                      <a:pPr marL="0" indent="0" algn="ctr">
                        <a:buNone/>
                      </a:pPr>
                      <a:r>
                        <a:rPr lang="en-US" sz="1100" dirty="0">
                          <a:solidFill>
                            <a:srgbClr val="333355"/>
                          </a:solidFill>
                          <a:latin typeface="Baskerville" panose="02020502070401020303" pitchFamily="18" charset="0"/>
                          <a:ea typeface="Baskerville" panose="02020502070401020303" pitchFamily="18" charset="0"/>
                          <a:cs typeface="Calibri" pitchFamily="34" charset="-120"/>
                        </a:rPr>
                        <a:t>0.832</a:t>
                      </a:r>
                      <a:endParaRPr lang="en-US" sz="1100" dirty="0">
                        <a:latin typeface="Baskerville" panose="02020502070401020303" pitchFamily="18" charset="0"/>
                        <a:ea typeface="Baskerville" panose="02020502070401020303" pitchFamily="18" charset="0"/>
                        <a:cs typeface="Calibri" charset="0"/>
                      </a:endParaRPr>
                    </a:p>
                  </a:txBody>
                  <a:tcPr>
                    <a:lnL w="6350" cap="flat" cmpd="sng" algn="ctr">
                      <a:solidFill>
                        <a:srgbClr val="D8E2F0"/>
                      </a:solidFill>
                      <a:prstDash val="solid"/>
                      <a:round/>
                      <a:headEnd type="none" w="med" len="med"/>
                      <a:tailEnd type="none" w="med" len="med"/>
                    </a:lnL>
                    <a:lnR w="6350" cap="flat" cmpd="sng" algn="ctr">
                      <a:solidFill>
                        <a:srgbClr val="D8E2F0"/>
                      </a:solidFill>
                      <a:prstDash val="solid"/>
                      <a:round/>
                      <a:headEnd type="none" w="med" len="med"/>
                      <a:tailEnd type="none" w="med" len="med"/>
                    </a:lnR>
                    <a:lnT w="6350" cap="flat" cmpd="sng" algn="ctr">
                      <a:solidFill>
                        <a:srgbClr val="D8E2F0"/>
                      </a:solidFill>
                      <a:prstDash val="solid"/>
                      <a:round/>
                      <a:headEnd type="none" w="med" len="med"/>
                      <a:tailEnd type="none" w="med" len="med"/>
                    </a:lnT>
                    <a:lnB w="6350" cap="flat" cmpd="sng" algn="ctr">
                      <a:solidFill>
                        <a:srgbClr val="D8E2F0"/>
                      </a:solidFill>
                      <a:prstDash val="solid"/>
                      <a:round/>
                      <a:headEnd type="none" w="med" len="med"/>
                      <a:tailEnd type="none" w="med" len="med"/>
                    </a:lnB>
                    <a:solidFill>
                      <a:srgbClr val="F4F8FF"/>
                    </a:solidFill>
                  </a:tcPr>
                </a:tc>
                <a:extLst>
                  <a:ext uri="{0D108BD9-81ED-4DB2-BD59-A6C34878D82A}">
                    <a16:rowId xmlns:a16="http://schemas.microsoft.com/office/drawing/2014/main" val="10003"/>
                  </a:ext>
                </a:extLst>
              </a:tr>
              <a:tr h="347472">
                <a:tc>
                  <a:txBody>
                    <a:bodyPr/>
                    <a:lstStyle/>
                    <a:p>
                      <a:pPr marL="0" indent="0" algn="l">
                        <a:buNone/>
                      </a:pPr>
                      <a:r>
                        <a:rPr lang="en-US" sz="1100" dirty="0">
                          <a:solidFill>
                            <a:srgbClr val="0D1B4B"/>
                          </a:solidFill>
                          <a:latin typeface="Baskerville" panose="02020502070401020303" pitchFamily="18" charset="0"/>
                          <a:ea typeface="Baskerville" panose="02020502070401020303" pitchFamily="18" charset="0"/>
                          <a:cs typeface="Calibri" pitchFamily="34" charset="-120"/>
                        </a:rPr>
                        <a:t>DNABERT-2</a:t>
                      </a:r>
                      <a:endParaRPr lang="en-US" sz="1100" dirty="0">
                        <a:latin typeface="Baskerville" panose="02020502070401020303" pitchFamily="18" charset="0"/>
                        <a:ea typeface="Baskerville" panose="02020502070401020303" pitchFamily="18" charset="0"/>
                        <a:cs typeface="Calibri" charset="0"/>
                      </a:endParaRPr>
                    </a:p>
                  </a:txBody>
                  <a:tcPr>
                    <a:lnL w="6350" cap="flat" cmpd="sng" algn="ctr">
                      <a:solidFill>
                        <a:srgbClr val="D8E2F0"/>
                      </a:solidFill>
                      <a:prstDash val="solid"/>
                      <a:round/>
                      <a:headEnd type="none" w="med" len="med"/>
                      <a:tailEnd type="none" w="med" len="med"/>
                    </a:lnL>
                    <a:lnR w="6350" cap="flat" cmpd="sng" algn="ctr">
                      <a:solidFill>
                        <a:srgbClr val="D8E2F0"/>
                      </a:solidFill>
                      <a:prstDash val="solid"/>
                      <a:round/>
                      <a:headEnd type="none" w="med" len="med"/>
                      <a:tailEnd type="none" w="med" len="med"/>
                    </a:lnR>
                    <a:lnT w="6350" cap="flat" cmpd="sng" algn="ctr">
                      <a:solidFill>
                        <a:srgbClr val="D8E2F0"/>
                      </a:solidFill>
                      <a:prstDash val="solid"/>
                      <a:round/>
                      <a:headEnd type="none" w="med" len="med"/>
                      <a:tailEnd type="none" w="med" len="med"/>
                    </a:lnT>
                    <a:lnB w="6350" cap="flat" cmpd="sng" algn="ctr">
                      <a:solidFill>
                        <a:srgbClr val="D8E2F0"/>
                      </a:solidFill>
                      <a:prstDash val="solid"/>
                      <a:round/>
                      <a:headEnd type="none" w="med" len="med"/>
                      <a:tailEnd type="none" w="med" len="med"/>
                    </a:lnB>
                    <a:solidFill>
                      <a:srgbClr val="FFFFFF"/>
                    </a:solidFill>
                  </a:tcPr>
                </a:tc>
                <a:tc>
                  <a:txBody>
                    <a:bodyPr/>
                    <a:lstStyle/>
                    <a:p>
                      <a:pPr marL="0" indent="0" algn="l">
                        <a:buNone/>
                      </a:pPr>
                      <a:r>
                        <a:rPr lang="en-US" sz="1100" dirty="0">
                          <a:solidFill>
                            <a:srgbClr val="333355"/>
                          </a:solidFill>
                          <a:latin typeface="Baskerville" panose="02020502070401020303" pitchFamily="18" charset="0"/>
                          <a:ea typeface="Baskerville" panose="02020502070401020303" pitchFamily="18" charset="0"/>
                          <a:cs typeface="Calibri" pitchFamily="34" charset="-120"/>
                        </a:rPr>
                        <a:t>XGBoost</a:t>
                      </a:r>
                      <a:endParaRPr lang="en-US" sz="1100" dirty="0">
                        <a:latin typeface="Baskerville" panose="02020502070401020303" pitchFamily="18" charset="0"/>
                        <a:ea typeface="Baskerville" panose="02020502070401020303" pitchFamily="18" charset="0"/>
                        <a:cs typeface="Calibri" charset="0"/>
                      </a:endParaRPr>
                    </a:p>
                  </a:txBody>
                  <a:tcPr>
                    <a:lnL w="6350" cap="flat" cmpd="sng" algn="ctr">
                      <a:solidFill>
                        <a:srgbClr val="D8E2F0"/>
                      </a:solidFill>
                      <a:prstDash val="solid"/>
                      <a:round/>
                      <a:headEnd type="none" w="med" len="med"/>
                      <a:tailEnd type="none" w="med" len="med"/>
                    </a:lnL>
                    <a:lnR w="6350" cap="flat" cmpd="sng" algn="ctr">
                      <a:solidFill>
                        <a:srgbClr val="D8E2F0"/>
                      </a:solidFill>
                      <a:prstDash val="solid"/>
                      <a:round/>
                      <a:headEnd type="none" w="med" len="med"/>
                      <a:tailEnd type="none" w="med" len="med"/>
                    </a:lnR>
                    <a:lnT w="6350" cap="flat" cmpd="sng" algn="ctr">
                      <a:solidFill>
                        <a:srgbClr val="D8E2F0"/>
                      </a:solidFill>
                      <a:prstDash val="solid"/>
                      <a:round/>
                      <a:headEnd type="none" w="med" len="med"/>
                      <a:tailEnd type="none" w="med" len="med"/>
                    </a:lnT>
                    <a:lnB w="6350" cap="flat" cmpd="sng" algn="ctr">
                      <a:solidFill>
                        <a:srgbClr val="D8E2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55"/>
                          </a:solidFill>
                          <a:latin typeface="Baskerville" panose="02020502070401020303" pitchFamily="18" charset="0"/>
                          <a:ea typeface="Baskerville" panose="02020502070401020303" pitchFamily="18" charset="0"/>
                          <a:cs typeface="Calibri" pitchFamily="34" charset="-120"/>
                        </a:rPr>
                        <a:t>0.756</a:t>
                      </a:r>
                      <a:endParaRPr lang="en-US" sz="1100" dirty="0">
                        <a:latin typeface="Baskerville" panose="02020502070401020303" pitchFamily="18" charset="0"/>
                        <a:ea typeface="Baskerville" panose="02020502070401020303" pitchFamily="18" charset="0"/>
                        <a:cs typeface="Calibri" charset="0"/>
                      </a:endParaRPr>
                    </a:p>
                  </a:txBody>
                  <a:tcPr>
                    <a:lnL w="6350" cap="flat" cmpd="sng" algn="ctr">
                      <a:solidFill>
                        <a:srgbClr val="D8E2F0"/>
                      </a:solidFill>
                      <a:prstDash val="solid"/>
                      <a:round/>
                      <a:headEnd type="none" w="med" len="med"/>
                      <a:tailEnd type="none" w="med" len="med"/>
                    </a:lnL>
                    <a:lnR w="6350" cap="flat" cmpd="sng" algn="ctr">
                      <a:solidFill>
                        <a:srgbClr val="D8E2F0"/>
                      </a:solidFill>
                      <a:prstDash val="solid"/>
                      <a:round/>
                      <a:headEnd type="none" w="med" len="med"/>
                      <a:tailEnd type="none" w="med" len="med"/>
                    </a:lnR>
                    <a:lnT w="6350" cap="flat" cmpd="sng" algn="ctr">
                      <a:solidFill>
                        <a:srgbClr val="D8E2F0"/>
                      </a:solidFill>
                      <a:prstDash val="solid"/>
                      <a:round/>
                      <a:headEnd type="none" w="med" len="med"/>
                      <a:tailEnd type="none" w="med" len="med"/>
                    </a:lnT>
                    <a:lnB w="6350" cap="flat" cmpd="sng" algn="ctr">
                      <a:solidFill>
                        <a:srgbClr val="D8E2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55"/>
                          </a:solidFill>
                          <a:latin typeface="Baskerville" panose="02020502070401020303" pitchFamily="18" charset="0"/>
                          <a:ea typeface="Baskerville" panose="02020502070401020303" pitchFamily="18" charset="0"/>
                          <a:cs typeface="Calibri" pitchFamily="34" charset="-120"/>
                        </a:rPr>
                        <a:t>0.846</a:t>
                      </a:r>
                      <a:endParaRPr lang="en-US" sz="1100" dirty="0">
                        <a:latin typeface="Baskerville" panose="02020502070401020303" pitchFamily="18" charset="0"/>
                        <a:ea typeface="Baskerville" panose="02020502070401020303" pitchFamily="18" charset="0"/>
                        <a:cs typeface="Calibri" charset="0"/>
                      </a:endParaRPr>
                    </a:p>
                  </a:txBody>
                  <a:tcPr>
                    <a:lnL w="6350" cap="flat" cmpd="sng" algn="ctr">
                      <a:solidFill>
                        <a:srgbClr val="D8E2F0"/>
                      </a:solidFill>
                      <a:prstDash val="solid"/>
                      <a:round/>
                      <a:headEnd type="none" w="med" len="med"/>
                      <a:tailEnd type="none" w="med" len="med"/>
                    </a:lnL>
                    <a:lnR w="6350" cap="flat" cmpd="sng" algn="ctr">
                      <a:solidFill>
                        <a:srgbClr val="D8E2F0"/>
                      </a:solidFill>
                      <a:prstDash val="solid"/>
                      <a:round/>
                      <a:headEnd type="none" w="med" len="med"/>
                      <a:tailEnd type="none" w="med" len="med"/>
                    </a:lnR>
                    <a:lnT w="6350" cap="flat" cmpd="sng" algn="ctr">
                      <a:solidFill>
                        <a:srgbClr val="D8E2F0"/>
                      </a:solidFill>
                      <a:prstDash val="solid"/>
                      <a:round/>
                      <a:headEnd type="none" w="med" len="med"/>
                      <a:tailEnd type="none" w="med" len="med"/>
                    </a:lnT>
                    <a:lnB w="6350" cap="flat" cmpd="sng" algn="ctr">
                      <a:solidFill>
                        <a:srgbClr val="D8E2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47472">
                <a:tc>
                  <a:txBody>
                    <a:bodyPr/>
                    <a:lstStyle/>
                    <a:p>
                      <a:pPr marL="0" indent="0" algn="l">
                        <a:buNone/>
                      </a:pPr>
                      <a:r>
                        <a:rPr lang="en-US" sz="1100" b="1" dirty="0">
                          <a:solidFill>
                            <a:srgbClr val="FFFFFF"/>
                          </a:solidFill>
                          <a:latin typeface="Baskerville" panose="02020502070401020303" pitchFamily="18" charset="0"/>
                          <a:ea typeface="Baskerville" panose="02020502070401020303" pitchFamily="18" charset="0"/>
                          <a:cs typeface="Calibri" pitchFamily="34" charset="-120"/>
                        </a:rPr>
                        <a:t>NT-500M ★</a:t>
                      </a:r>
                      <a:endParaRPr lang="en-US" sz="1100" dirty="0">
                        <a:latin typeface="Baskerville" panose="02020502070401020303" pitchFamily="18" charset="0"/>
                        <a:ea typeface="Baskerville" panose="02020502070401020303" pitchFamily="18" charset="0"/>
                        <a:cs typeface="Calibri" charset="0"/>
                      </a:endParaRPr>
                    </a:p>
                  </a:txBody>
                  <a:tcPr>
                    <a:lnL w="6350" cap="flat" cmpd="sng" algn="ctr">
                      <a:solidFill>
                        <a:srgbClr val="D8E2F0"/>
                      </a:solidFill>
                      <a:prstDash val="solid"/>
                      <a:round/>
                      <a:headEnd type="none" w="med" len="med"/>
                      <a:tailEnd type="none" w="med" len="med"/>
                    </a:lnL>
                    <a:lnR w="6350" cap="flat" cmpd="sng" algn="ctr">
                      <a:solidFill>
                        <a:srgbClr val="D8E2F0"/>
                      </a:solidFill>
                      <a:prstDash val="solid"/>
                      <a:round/>
                      <a:headEnd type="none" w="med" len="med"/>
                      <a:tailEnd type="none" w="med" len="med"/>
                    </a:lnR>
                    <a:lnT w="6350" cap="flat" cmpd="sng" algn="ctr">
                      <a:solidFill>
                        <a:srgbClr val="D8E2F0"/>
                      </a:solidFill>
                      <a:prstDash val="solid"/>
                      <a:round/>
                      <a:headEnd type="none" w="med" len="med"/>
                      <a:tailEnd type="none" w="med" len="med"/>
                    </a:lnT>
                    <a:lnB w="6350" cap="flat" cmpd="sng" algn="ctr">
                      <a:solidFill>
                        <a:srgbClr val="D8E2F0"/>
                      </a:solidFill>
                      <a:prstDash val="solid"/>
                      <a:round/>
                      <a:headEnd type="none" w="med" len="med"/>
                      <a:tailEnd type="none" w="med" len="med"/>
                    </a:lnB>
                    <a:solidFill>
                      <a:srgbClr val="2451B7"/>
                    </a:solidFill>
                  </a:tcPr>
                </a:tc>
                <a:tc>
                  <a:txBody>
                    <a:bodyPr/>
                    <a:lstStyle/>
                    <a:p>
                      <a:pPr marL="0" indent="0" algn="l">
                        <a:buNone/>
                      </a:pPr>
                      <a:r>
                        <a:rPr lang="en-US" sz="1100" b="1" dirty="0">
                          <a:solidFill>
                            <a:srgbClr val="FFFFFF"/>
                          </a:solidFill>
                          <a:latin typeface="Baskerville" panose="02020502070401020303" pitchFamily="18" charset="0"/>
                          <a:ea typeface="Baskerville" panose="02020502070401020303" pitchFamily="18" charset="0"/>
                          <a:cs typeface="Calibri" pitchFamily="34" charset="-120"/>
                        </a:rPr>
                        <a:t>XGBoost</a:t>
                      </a:r>
                      <a:endParaRPr lang="en-US" sz="1100" dirty="0">
                        <a:latin typeface="Baskerville" panose="02020502070401020303" pitchFamily="18" charset="0"/>
                        <a:ea typeface="Baskerville" panose="02020502070401020303" pitchFamily="18" charset="0"/>
                        <a:cs typeface="Calibri" charset="0"/>
                      </a:endParaRPr>
                    </a:p>
                  </a:txBody>
                  <a:tcPr>
                    <a:lnL w="6350" cap="flat" cmpd="sng" algn="ctr">
                      <a:solidFill>
                        <a:srgbClr val="D8E2F0"/>
                      </a:solidFill>
                      <a:prstDash val="solid"/>
                      <a:round/>
                      <a:headEnd type="none" w="med" len="med"/>
                      <a:tailEnd type="none" w="med" len="med"/>
                    </a:lnL>
                    <a:lnR w="6350" cap="flat" cmpd="sng" algn="ctr">
                      <a:solidFill>
                        <a:srgbClr val="D8E2F0"/>
                      </a:solidFill>
                      <a:prstDash val="solid"/>
                      <a:round/>
                      <a:headEnd type="none" w="med" len="med"/>
                      <a:tailEnd type="none" w="med" len="med"/>
                    </a:lnR>
                    <a:lnT w="6350" cap="flat" cmpd="sng" algn="ctr">
                      <a:solidFill>
                        <a:srgbClr val="D8E2F0"/>
                      </a:solidFill>
                      <a:prstDash val="solid"/>
                      <a:round/>
                      <a:headEnd type="none" w="med" len="med"/>
                      <a:tailEnd type="none" w="med" len="med"/>
                    </a:lnT>
                    <a:lnB w="6350" cap="flat" cmpd="sng" algn="ctr">
                      <a:solidFill>
                        <a:srgbClr val="D8E2F0"/>
                      </a:solidFill>
                      <a:prstDash val="solid"/>
                      <a:round/>
                      <a:headEnd type="none" w="med" len="med"/>
                      <a:tailEnd type="none" w="med" len="med"/>
                    </a:lnB>
                    <a:solidFill>
                      <a:srgbClr val="2451B7"/>
                    </a:solidFill>
                  </a:tcPr>
                </a:tc>
                <a:tc>
                  <a:txBody>
                    <a:bodyPr/>
                    <a:lstStyle/>
                    <a:p>
                      <a:pPr marL="0" indent="0" algn="ctr">
                        <a:buNone/>
                      </a:pPr>
                      <a:r>
                        <a:rPr lang="en-US" sz="1100" b="1" dirty="0">
                          <a:solidFill>
                            <a:srgbClr val="FFFFFF"/>
                          </a:solidFill>
                          <a:latin typeface="Baskerville" panose="02020502070401020303" pitchFamily="18" charset="0"/>
                          <a:ea typeface="Baskerville" panose="02020502070401020303" pitchFamily="18" charset="0"/>
                          <a:cs typeface="Calibri" pitchFamily="34" charset="-120"/>
                        </a:rPr>
                        <a:t>0.769</a:t>
                      </a:r>
                      <a:endParaRPr lang="en-US" sz="1100" dirty="0">
                        <a:latin typeface="Baskerville" panose="02020502070401020303" pitchFamily="18" charset="0"/>
                        <a:ea typeface="Baskerville" panose="02020502070401020303" pitchFamily="18" charset="0"/>
                        <a:cs typeface="Calibri" charset="0"/>
                      </a:endParaRPr>
                    </a:p>
                  </a:txBody>
                  <a:tcPr>
                    <a:lnL w="6350" cap="flat" cmpd="sng" algn="ctr">
                      <a:solidFill>
                        <a:srgbClr val="D8E2F0"/>
                      </a:solidFill>
                      <a:prstDash val="solid"/>
                      <a:round/>
                      <a:headEnd type="none" w="med" len="med"/>
                      <a:tailEnd type="none" w="med" len="med"/>
                    </a:lnL>
                    <a:lnR w="6350" cap="flat" cmpd="sng" algn="ctr">
                      <a:solidFill>
                        <a:srgbClr val="D8E2F0"/>
                      </a:solidFill>
                      <a:prstDash val="solid"/>
                      <a:round/>
                      <a:headEnd type="none" w="med" len="med"/>
                      <a:tailEnd type="none" w="med" len="med"/>
                    </a:lnR>
                    <a:lnT w="6350" cap="flat" cmpd="sng" algn="ctr">
                      <a:solidFill>
                        <a:srgbClr val="D8E2F0"/>
                      </a:solidFill>
                      <a:prstDash val="solid"/>
                      <a:round/>
                      <a:headEnd type="none" w="med" len="med"/>
                      <a:tailEnd type="none" w="med" len="med"/>
                    </a:lnT>
                    <a:lnB w="6350" cap="flat" cmpd="sng" algn="ctr">
                      <a:solidFill>
                        <a:srgbClr val="D8E2F0"/>
                      </a:solidFill>
                      <a:prstDash val="solid"/>
                      <a:round/>
                      <a:headEnd type="none" w="med" len="med"/>
                      <a:tailEnd type="none" w="med" len="med"/>
                    </a:lnB>
                    <a:solidFill>
                      <a:srgbClr val="2451B7"/>
                    </a:solidFill>
                  </a:tcPr>
                </a:tc>
                <a:tc>
                  <a:txBody>
                    <a:bodyPr/>
                    <a:lstStyle/>
                    <a:p>
                      <a:pPr marL="0" indent="0" algn="ctr">
                        <a:buNone/>
                      </a:pPr>
                      <a:r>
                        <a:rPr lang="en-US" sz="1100" b="1" dirty="0">
                          <a:solidFill>
                            <a:srgbClr val="FFFFFF"/>
                          </a:solidFill>
                          <a:latin typeface="Baskerville" panose="02020502070401020303" pitchFamily="18" charset="0"/>
                          <a:ea typeface="Baskerville" panose="02020502070401020303" pitchFamily="18" charset="0"/>
                          <a:cs typeface="Calibri" pitchFamily="34" charset="-120"/>
                        </a:rPr>
                        <a:t>0.851</a:t>
                      </a:r>
                      <a:endParaRPr lang="en-US" sz="1100" dirty="0">
                        <a:latin typeface="Baskerville" panose="02020502070401020303" pitchFamily="18" charset="0"/>
                        <a:ea typeface="Baskerville" panose="02020502070401020303" pitchFamily="18" charset="0"/>
                        <a:cs typeface="Calibri" charset="0"/>
                      </a:endParaRPr>
                    </a:p>
                  </a:txBody>
                  <a:tcPr>
                    <a:lnL w="6350" cap="flat" cmpd="sng" algn="ctr">
                      <a:solidFill>
                        <a:srgbClr val="D8E2F0"/>
                      </a:solidFill>
                      <a:prstDash val="solid"/>
                      <a:round/>
                      <a:headEnd type="none" w="med" len="med"/>
                      <a:tailEnd type="none" w="med" len="med"/>
                    </a:lnL>
                    <a:lnR w="6350" cap="flat" cmpd="sng" algn="ctr">
                      <a:solidFill>
                        <a:srgbClr val="D8E2F0"/>
                      </a:solidFill>
                      <a:prstDash val="solid"/>
                      <a:round/>
                      <a:headEnd type="none" w="med" len="med"/>
                      <a:tailEnd type="none" w="med" len="med"/>
                    </a:lnR>
                    <a:lnT w="6350" cap="flat" cmpd="sng" algn="ctr">
                      <a:solidFill>
                        <a:srgbClr val="D8E2F0"/>
                      </a:solidFill>
                      <a:prstDash val="solid"/>
                      <a:round/>
                      <a:headEnd type="none" w="med" len="med"/>
                      <a:tailEnd type="none" w="med" len="med"/>
                    </a:lnT>
                    <a:lnB w="6350" cap="flat" cmpd="sng" algn="ctr">
                      <a:solidFill>
                        <a:srgbClr val="D8E2F0"/>
                      </a:solidFill>
                      <a:prstDash val="solid"/>
                      <a:round/>
                      <a:headEnd type="none" w="med" len="med"/>
                      <a:tailEnd type="none" w="med" len="med"/>
                    </a:lnB>
                    <a:solidFill>
                      <a:srgbClr val="2451B7"/>
                    </a:solidFill>
                  </a:tcPr>
                </a:tc>
                <a:extLst>
                  <a:ext uri="{0D108BD9-81ED-4DB2-BD59-A6C34878D82A}">
                    <a16:rowId xmlns:a16="http://schemas.microsoft.com/office/drawing/2014/main" val="10005"/>
                  </a:ext>
                </a:extLst>
              </a:tr>
            </a:tbl>
          </a:graphicData>
        </a:graphic>
      </p:graphicFrame>
      <p:sp>
        <p:nvSpPr>
          <p:cNvPr id="5" name="Shape 2"/>
          <p:cNvSpPr/>
          <p:nvPr/>
        </p:nvSpPr>
        <p:spPr>
          <a:xfrm>
            <a:off x="5577840" y="804672"/>
            <a:ext cx="1600200" cy="1097280"/>
          </a:xfrm>
          <a:prstGeom prst="rect">
            <a:avLst/>
          </a:prstGeom>
          <a:solidFill>
            <a:srgbClr val="E8F0FE"/>
          </a:solidFill>
          <a:ln w="12700">
            <a:solidFill>
              <a:srgbClr val="2451B7"/>
            </a:solidFill>
            <a:prstDash val="solid"/>
          </a:ln>
          <a:effectLst>
            <a:outerShdw blurRad="101600" dist="38100" dir="8100000" algn="bl" rotWithShape="0">
              <a:srgbClr val="000000">
                <a:alpha val="18000"/>
              </a:srgbClr>
            </a:outerShdw>
          </a:effectLst>
        </p:spPr>
        <p:txBody>
          <a:bodyPr/>
          <a:lstStyle/>
          <a:p>
            <a:endParaRPr lang="en-US">
              <a:latin typeface="Baskerville" panose="02020502070401020303" pitchFamily="18" charset="0"/>
              <a:ea typeface="Baskerville" panose="02020502070401020303" pitchFamily="18" charset="0"/>
            </a:endParaRPr>
          </a:p>
        </p:txBody>
      </p:sp>
      <p:sp>
        <p:nvSpPr>
          <p:cNvPr id="4" name="Text 3"/>
          <p:cNvSpPr/>
          <p:nvPr/>
        </p:nvSpPr>
        <p:spPr>
          <a:xfrm>
            <a:off x="5577840" y="877824"/>
            <a:ext cx="1600200" cy="603504"/>
          </a:xfrm>
          <a:prstGeom prst="rect">
            <a:avLst/>
          </a:prstGeom>
          <a:noFill/>
          <a:ln/>
        </p:spPr>
        <p:txBody>
          <a:bodyPr wrap="square" rtlCol="0" anchor="b"/>
          <a:lstStyle/>
          <a:p>
            <a:pPr marL="0" indent="0" algn="ctr">
              <a:buNone/>
            </a:pPr>
            <a:r>
              <a:rPr lang="en-US" sz="2600" b="1" dirty="0">
                <a:solidFill>
                  <a:srgbClr val="2451B7"/>
                </a:solidFill>
                <a:latin typeface="Baskerville" panose="02020502070401020303" pitchFamily="18" charset="0"/>
                <a:ea typeface="Baskerville" panose="02020502070401020303" pitchFamily="18" charset="0"/>
                <a:cs typeface="Calibri" pitchFamily="34" charset="-120"/>
              </a:rPr>
              <a:t>0.851</a:t>
            </a:r>
            <a:endParaRPr lang="en-US" sz="2600" dirty="0">
              <a:latin typeface="Baskerville" panose="02020502070401020303" pitchFamily="18" charset="0"/>
              <a:ea typeface="Baskerville" panose="02020502070401020303" pitchFamily="18" charset="0"/>
            </a:endParaRPr>
          </a:p>
        </p:txBody>
      </p:sp>
      <p:sp>
        <p:nvSpPr>
          <p:cNvPr id="7" name="Text 4"/>
          <p:cNvSpPr/>
          <p:nvPr/>
        </p:nvSpPr>
        <p:spPr>
          <a:xfrm>
            <a:off x="5577840" y="1441094"/>
            <a:ext cx="1600200" cy="416966"/>
          </a:xfrm>
          <a:prstGeom prst="rect">
            <a:avLst/>
          </a:prstGeom>
          <a:noFill/>
          <a:ln/>
        </p:spPr>
        <p:txBody>
          <a:bodyPr wrap="square" rtlCol="0" anchor="t"/>
          <a:lstStyle/>
          <a:p>
            <a:pPr marL="0" indent="0" algn="ctr">
              <a:buNone/>
            </a:pPr>
            <a:r>
              <a:rPr lang="en-US" sz="1000" dirty="0">
                <a:solidFill>
                  <a:srgbClr val="8BA4CC"/>
                </a:solidFill>
                <a:latin typeface="Baskerville" panose="02020502070401020303" pitchFamily="18" charset="0"/>
                <a:ea typeface="Baskerville" panose="02020502070401020303" pitchFamily="18" charset="0"/>
                <a:cs typeface="Calibri" pitchFamily="34" charset="-120"/>
              </a:rPr>
              <a:t>Best ROC-AUC</a:t>
            </a:r>
            <a:endParaRPr lang="en-US" sz="1000" dirty="0">
              <a:latin typeface="Baskerville" panose="02020502070401020303" pitchFamily="18" charset="0"/>
              <a:ea typeface="Baskerville" panose="02020502070401020303" pitchFamily="18" charset="0"/>
            </a:endParaRPr>
          </a:p>
          <a:p>
            <a:pPr marL="0" indent="0" algn="ctr">
              <a:buNone/>
            </a:pPr>
            <a:r>
              <a:rPr lang="en-US" sz="1000" dirty="0">
                <a:solidFill>
                  <a:srgbClr val="8BA4CC"/>
                </a:solidFill>
                <a:latin typeface="Baskerville" panose="02020502070401020303" pitchFamily="18" charset="0"/>
                <a:ea typeface="Baskerville" panose="02020502070401020303" pitchFamily="18" charset="0"/>
                <a:cs typeface="Calibri" pitchFamily="34" charset="-120"/>
              </a:rPr>
              <a:t>(NT-500M + XGBoost)</a:t>
            </a:r>
            <a:endParaRPr lang="en-US" sz="1000" dirty="0">
              <a:latin typeface="Baskerville" panose="02020502070401020303" pitchFamily="18" charset="0"/>
              <a:ea typeface="Baskerville" panose="02020502070401020303" pitchFamily="18" charset="0"/>
            </a:endParaRPr>
          </a:p>
        </p:txBody>
      </p:sp>
      <p:sp>
        <p:nvSpPr>
          <p:cNvPr id="8" name="Shape 5"/>
          <p:cNvSpPr/>
          <p:nvPr/>
        </p:nvSpPr>
        <p:spPr>
          <a:xfrm>
            <a:off x="7315200" y="804672"/>
            <a:ext cx="1600200" cy="1097280"/>
          </a:xfrm>
          <a:prstGeom prst="rect">
            <a:avLst/>
          </a:prstGeom>
          <a:solidFill>
            <a:srgbClr val="FFF8E8"/>
          </a:solidFill>
          <a:ln w="12700">
            <a:solidFill>
              <a:srgbClr val="2451B7"/>
            </a:solidFill>
            <a:prstDash val="solid"/>
          </a:ln>
          <a:effectLst>
            <a:outerShdw blurRad="101600" dist="38100" dir="8100000" algn="bl" rotWithShape="0">
              <a:srgbClr val="000000">
                <a:alpha val="18000"/>
              </a:srgbClr>
            </a:outerShdw>
          </a:effectLst>
        </p:spPr>
        <p:txBody>
          <a:bodyPr/>
          <a:lstStyle/>
          <a:p>
            <a:endParaRPr lang="en-US">
              <a:latin typeface="Baskerville" panose="02020502070401020303" pitchFamily="18" charset="0"/>
              <a:ea typeface="Baskerville" panose="02020502070401020303" pitchFamily="18" charset="0"/>
            </a:endParaRPr>
          </a:p>
        </p:txBody>
      </p:sp>
      <p:sp>
        <p:nvSpPr>
          <p:cNvPr id="9" name="Text 6"/>
          <p:cNvSpPr/>
          <p:nvPr/>
        </p:nvSpPr>
        <p:spPr>
          <a:xfrm>
            <a:off x="7315200" y="877824"/>
            <a:ext cx="1600200" cy="603504"/>
          </a:xfrm>
          <a:prstGeom prst="rect">
            <a:avLst/>
          </a:prstGeom>
          <a:noFill/>
          <a:ln/>
        </p:spPr>
        <p:txBody>
          <a:bodyPr wrap="square" rtlCol="0" anchor="b"/>
          <a:lstStyle/>
          <a:p>
            <a:pPr marL="0" indent="0" algn="ctr">
              <a:buNone/>
            </a:pPr>
            <a:r>
              <a:rPr lang="en-US" sz="2600" b="1" dirty="0">
                <a:solidFill>
                  <a:srgbClr val="B07A10"/>
                </a:solidFill>
                <a:latin typeface="Baskerville" panose="02020502070401020303" pitchFamily="18" charset="0"/>
                <a:ea typeface="Baskerville" panose="02020502070401020303" pitchFamily="18" charset="0"/>
                <a:cs typeface="Calibri" pitchFamily="34" charset="-120"/>
              </a:rPr>
              <a:t>+1.5 pts</a:t>
            </a:r>
            <a:endParaRPr lang="en-US" sz="2600" dirty="0">
              <a:latin typeface="Baskerville" panose="02020502070401020303" pitchFamily="18" charset="0"/>
              <a:ea typeface="Baskerville" panose="02020502070401020303" pitchFamily="18" charset="0"/>
            </a:endParaRPr>
          </a:p>
        </p:txBody>
      </p:sp>
      <p:sp>
        <p:nvSpPr>
          <p:cNvPr id="10" name="Text 7"/>
          <p:cNvSpPr/>
          <p:nvPr/>
        </p:nvSpPr>
        <p:spPr>
          <a:xfrm>
            <a:off x="7315200" y="1441094"/>
            <a:ext cx="1600200" cy="416966"/>
          </a:xfrm>
          <a:prstGeom prst="rect">
            <a:avLst/>
          </a:prstGeom>
          <a:noFill/>
          <a:ln/>
        </p:spPr>
        <p:txBody>
          <a:bodyPr wrap="square" rtlCol="0" anchor="t"/>
          <a:lstStyle/>
          <a:p>
            <a:pPr marL="0" indent="0" algn="ctr">
              <a:buNone/>
            </a:pPr>
            <a:r>
              <a:rPr lang="en-US" sz="1000" dirty="0">
                <a:solidFill>
                  <a:srgbClr val="8BA4CC"/>
                </a:solidFill>
                <a:latin typeface="Baskerville" panose="02020502070401020303" pitchFamily="18" charset="0"/>
                <a:ea typeface="Baskerville" panose="02020502070401020303" pitchFamily="18" charset="0"/>
                <a:cs typeface="Calibri" pitchFamily="34" charset="-120"/>
              </a:rPr>
              <a:t>Gain over Random</a:t>
            </a:r>
            <a:endParaRPr lang="en-US" sz="1000" dirty="0">
              <a:latin typeface="Baskerville" panose="02020502070401020303" pitchFamily="18" charset="0"/>
              <a:ea typeface="Baskerville" panose="02020502070401020303" pitchFamily="18" charset="0"/>
            </a:endParaRPr>
          </a:p>
          <a:p>
            <a:pPr marL="0" indent="0" algn="ctr">
              <a:buNone/>
            </a:pPr>
            <a:r>
              <a:rPr lang="en-US" sz="1000" dirty="0">
                <a:solidFill>
                  <a:srgbClr val="8BA4CC"/>
                </a:solidFill>
                <a:latin typeface="Baskerville" panose="02020502070401020303" pitchFamily="18" charset="0"/>
                <a:ea typeface="Baskerville" panose="02020502070401020303" pitchFamily="18" charset="0"/>
                <a:cs typeface="Calibri" pitchFamily="34" charset="-120"/>
              </a:rPr>
              <a:t>Forest baseline</a:t>
            </a:r>
            <a:endParaRPr lang="en-US" sz="1000" dirty="0">
              <a:latin typeface="Baskerville" panose="02020502070401020303" pitchFamily="18" charset="0"/>
              <a:ea typeface="Baskerville" panose="02020502070401020303" pitchFamily="18" charset="0"/>
            </a:endParaRPr>
          </a:p>
        </p:txBody>
      </p:sp>
      <p:sp>
        <p:nvSpPr>
          <p:cNvPr id="11" name="Shape 8"/>
          <p:cNvSpPr/>
          <p:nvPr/>
        </p:nvSpPr>
        <p:spPr>
          <a:xfrm>
            <a:off x="5577840" y="2011680"/>
            <a:ext cx="1600200" cy="1005840"/>
          </a:xfrm>
          <a:prstGeom prst="rect">
            <a:avLst/>
          </a:prstGeom>
          <a:solidFill>
            <a:srgbClr val="E8F0FE"/>
          </a:solidFill>
          <a:ln w="12700">
            <a:solidFill>
              <a:srgbClr val="2451B7"/>
            </a:solidFill>
            <a:prstDash val="solid"/>
          </a:ln>
          <a:effectLst>
            <a:outerShdw blurRad="101600" dist="38100" dir="8100000" algn="bl" rotWithShape="0">
              <a:srgbClr val="000000">
                <a:alpha val="18000"/>
              </a:srgbClr>
            </a:outerShdw>
          </a:effectLst>
        </p:spPr>
        <p:txBody>
          <a:bodyPr/>
          <a:lstStyle/>
          <a:p>
            <a:endParaRPr lang="en-US">
              <a:latin typeface="Baskerville" panose="02020502070401020303" pitchFamily="18" charset="0"/>
              <a:ea typeface="Baskerville" panose="02020502070401020303" pitchFamily="18" charset="0"/>
            </a:endParaRPr>
          </a:p>
        </p:txBody>
      </p:sp>
      <p:sp>
        <p:nvSpPr>
          <p:cNvPr id="12" name="Text 9"/>
          <p:cNvSpPr/>
          <p:nvPr/>
        </p:nvSpPr>
        <p:spPr>
          <a:xfrm>
            <a:off x="5577840" y="2084832"/>
            <a:ext cx="1600200" cy="553212"/>
          </a:xfrm>
          <a:prstGeom prst="rect">
            <a:avLst/>
          </a:prstGeom>
          <a:noFill/>
          <a:ln/>
        </p:spPr>
        <p:txBody>
          <a:bodyPr wrap="square" rtlCol="0" anchor="b"/>
          <a:lstStyle/>
          <a:p>
            <a:pPr marL="0" indent="0" algn="ctr">
              <a:buNone/>
            </a:pPr>
            <a:r>
              <a:rPr lang="en-US" sz="2600" b="1" dirty="0">
                <a:solidFill>
                  <a:srgbClr val="1A3A8F"/>
                </a:solidFill>
                <a:latin typeface="Baskerville" panose="02020502070401020303" pitchFamily="18" charset="0"/>
                <a:ea typeface="Baskerville" panose="02020502070401020303" pitchFamily="18" charset="0"/>
                <a:cs typeface="Calibri" pitchFamily="34" charset="-120"/>
              </a:rPr>
              <a:t>500M</a:t>
            </a:r>
            <a:endParaRPr lang="en-US" sz="2600" dirty="0">
              <a:latin typeface="Baskerville" panose="02020502070401020303" pitchFamily="18" charset="0"/>
              <a:ea typeface="Baskerville" panose="02020502070401020303" pitchFamily="18" charset="0"/>
            </a:endParaRPr>
          </a:p>
        </p:txBody>
      </p:sp>
      <p:sp>
        <p:nvSpPr>
          <p:cNvPr id="13" name="Text 10"/>
          <p:cNvSpPr/>
          <p:nvPr/>
        </p:nvSpPr>
        <p:spPr>
          <a:xfrm>
            <a:off x="5577840" y="2595067"/>
            <a:ext cx="1600200" cy="382219"/>
          </a:xfrm>
          <a:prstGeom prst="rect">
            <a:avLst/>
          </a:prstGeom>
          <a:noFill/>
          <a:ln/>
        </p:spPr>
        <p:txBody>
          <a:bodyPr wrap="square" rtlCol="0" anchor="t"/>
          <a:lstStyle/>
          <a:p>
            <a:pPr marL="0" indent="0" algn="ctr">
              <a:buNone/>
            </a:pPr>
            <a:r>
              <a:rPr lang="en-US" sz="1000" dirty="0">
                <a:solidFill>
                  <a:srgbClr val="8BA4CC"/>
                </a:solidFill>
                <a:latin typeface="Baskerville" panose="02020502070401020303" pitchFamily="18" charset="0"/>
                <a:ea typeface="Baskerville" panose="02020502070401020303" pitchFamily="18" charset="0"/>
                <a:cs typeface="Calibri" pitchFamily="34" charset="-120"/>
              </a:rPr>
              <a:t>NT-500M</a:t>
            </a:r>
            <a:endParaRPr lang="en-US" sz="1000" dirty="0">
              <a:latin typeface="Baskerville" panose="02020502070401020303" pitchFamily="18" charset="0"/>
              <a:ea typeface="Baskerville" panose="02020502070401020303" pitchFamily="18" charset="0"/>
            </a:endParaRPr>
          </a:p>
          <a:p>
            <a:pPr marL="0" indent="0" algn="ctr">
              <a:buNone/>
            </a:pPr>
            <a:r>
              <a:rPr lang="en-US" sz="1000" dirty="0">
                <a:solidFill>
                  <a:srgbClr val="8BA4CC"/>
                </a:solidFill>
                <a:latin typeface="Baskerville" panose="02020502070401020303" pitchFamily="18" charset="0"/>
                <a:ea typeface="Baskerville" panose="02020502070401020303" pitchFamily="18" charset="0"/>
                <a:cs typeface="Calibri" pitchFamily="34" charset="-120"/>
              </a:rPr>
              <a:t>Parameters</a:t>
            </a:r>
            <a:endParaRPr lang="en-US" sz="1000" dirty="0">
              <a:latin typeface="Baskerville" panose="02020502070401020303" pitchFamily="18" charset="0"/>
              <a:ea typeface="Baskerville" panose="02020502070401020303" pitchFamily="18" charset="0"/>
            </a:endParaRPr>
          </a:p>
        </p:txBody>
      </p:sp>
      <p:sp>
        <p:nvSpPr>
          <p:cNvPr id="14" name="Shape 11"/>
          <p:cNvSpPr/>
          <p:nvPr/>
        </p:nvSpPr>
        <p:spPr>
          <a:xfrm>
            <a:off x="7315200" y="2011680"/>
            <a:ext cx="1600200" cy="1005840"/>
          </a:xfrm>
          <a:prstGeom prst="rect">
            <a:avLst/>
          </a:prstGeom>
          <a:solidFill>
            <a:srgbClr val="E8F8EF"/>
          </a:solidFill>
          <a:ln w="12700">
            <a:solidFill>
              <a:srgbClr val="2451B7"/>
            </a:solidFill>
            <a:prstDash val="solid"/>
          </a:ln>
          <a:effectLst>
            <a:outerShdw blurRad="101600" dist="38100" dir="8100000" algn="bl" rotWithShape="0">
              <a:srgbClr val="000000">
                <a:alpha val="18000"/>
              </a:srgbClr>
            </a:outerShdw>
          </a:effectLst>
        </p:spPr>
        <p:txBody>
          <a:bodyPr/>
          <a:lstStyle/>
          <a:p>
            <a:endParaRPr lang="en-US">
              <a:latin typeface="Baskerville" panose="02020502070401020303" pitchFamily="18" charset="0"/>
              <a:ea typeface="Baskerville" panose="02020502070401020303" pitchFamily="18" charset="0"/>
            </a:endParaRPr>
          </a:p>
        </p:txBody>
      </p:sp>
      <p:sp>
        <p:nvSpPr>
          <p:cNvPr id="15" name="Text 12"/>
          <p:cNvSpPr/>
          <p:nvPr/>
        </p:nvSpPr>
        <p:spPr>
          <a:xfrm>
            <a:off x="7315200" y="2084832"/>
            <a:ext cx="1600200" cy="553212"/>
          </a:xfrm>
          <a:prstGeom prst="rect">
            <a:avLst/>
          </a:prstGeom>
          <a:noFill/>
          <a:ln/>
        </p:spPr>
        <p:txBody>
          <a:bodyPr wrap="square" rtlCol="0" anchor="b"/>
          <a:lstStyle/>
          <a:p>
            <a:pPr marL="0" indent="0" algn="ctr">
              <a:buNone/>
            </a:pPr>
            <a:r>
              <a:rPr lang="en-US" sz="2600" b="1" dirty="0">
                <a:solidFill>
                  <a:srgbClr val="1B7B8A"/>
                </a:solidFill>
                <a:latin typeface="Baskerville" panose="02020502070401020303" pitchFamily="18" charset="0"/>
                <a:ea typeface="Baskerville" panose="02020502070401020303" pitchFamily="18" charset="0"/>
                <a:cs typeface="Calibri" pitchFamily="34" charset="-120"/>
              </a:rPr>
              <a:t>95</a:t>
            </a:r>
            <a:endParaRPr lang="en-US" sz="2600" dirty="0">
              <a:latin typeface="Baskerville" panose="02020502070401020303" pitchFamily="18" charset="0"/>
              <a:ea typeface="Baskerville" panose="02020502070401020303" pitchFamily="18" charset="0"/>
            </a:endParaRPr>
          </a:p>
        </p:txBody>
      </p:sp>
      <p:sp>
        <p:nvSpPr>
          <p:cNvPr id="16" name="Text 13"/>
          <p:cNvSpPr/>
          <p:nvPr/>
        </p:nvSpPr>
        <p:spPr>
          <a:xfrm>
            <a:off x="7315200" y="2595067"/>
            <a:ext cx="1600200" cy="382219"/>
          </a:xfrm>
          <a:prstGeom prst="rect">
            <a:avLst/>
          </a:prstGeom>
          <a:noFill/>
          <a:ln/>
        </p:spPr>
        <p:txBody>
          <a:bodyPr wrap="square" rtlCol="0" anchor="t"/>
          <a:lstStyle/>
          <a:p>
            <a:pPr marL="0" indent="0" algn="ctr">
              <a:buNone/>
            </a:pPr>
            <a:r>
              <a:rPr lang="en-US" sz="1000" dirty="0">
                <a:solidFill>
                  <a:srgbClr val="8BA4CC"/>
                </a:solidFill>
                <a:latin typeface="Baskerville" panose="02020502070401020303" pitchFamily="18" charset="0"/>
                <a:ea typeface="Baskerville" panose="02020502070401020303" pitchFamily="18" charset="0"/>
                <a:cs typeface="Calibri" pitchFamily="34" charset="-120"/>
              </a:rPr>
              <a:t>Engineered DNA</a:t>
            </a:r>
            <a:endParaRPr lang="en-US" sz="1000" dirty="0">
              <a:latin typeface="Baskerville" panose="02020502070401020303" pitchFamily="18" charset="0"/>
              <a:ea typeface="Baskerville" panose="02020502070401020303" pitchFamily="18" charset="0"/>
            </a:endParaRPr>
          </a:p>
          <a:p>
            <a:pPr marL="0" indent="0" algn="ctr">
              <a:buNone/>
            </a:pPr>
            <a:r>
              <a:rPr lang="en-US" sz="1000" dirty="0">
                <a:solidFill>
                  <a:srgbClr val="8BA4CC"/>
                </a:solidFill>
                <a:latin typeface="Baskerville" panose="02020502070401020303" pitchFamily="18" charset="0"/>
                <a:ea typeface="Baskerville" panose="02020502070401020303" pitchFamily="18" charset="0"/>
                <a:cs typeface="Calibri" pitchFamily="34" charset="-120"/>
              </a:rPr>
              <a:t>Features</a:t>
            </a:r>
            <a:endParaRPr lang="en-US" sz="1000" dirty="0">
              <a:latin typeface="Baskerville" panose="02020502070401020303" pitchFamily="18" charset="0"/>
              <a:ea typeface="Baskerville" panose="02020502070401020303" pitchFamily="18" charset="0"/>
            </a:endParaRPr>
          </a:p>
        </p:txBody>
      </p:sp>
      <p:sp>
        <p:nvSpPr>
          <p:cNvPr id="17" name="Shape 14"/>
          <p:cNvSpPr/>
          <p:nvPr/>
        </p:nvSpPr>
        <p:spPr>
          <a:xfrm>
            <a:off x="274320" y="3127248"/>
            <a:ext cx="8595360" cy="914400"/>
          </a:xfrm>
          <a:prstGeom prst="rect">
            <a:avLst/>
          </a:prstGeom>
          <a:solidFill>
            <a:srgbClr val="0D1B4B"/>
          </a:solidFill>
          <a:ln w="12700">
            <a:solidFill>
              <a:srgbClr val="000000"/>
            </a:solidFill>
            <a:prstDash val="solid"/>
          </a:ln>
          <a:effectLst>
            <a:outerShdw blurRad="101600" dist="38100" dir="8100000" algn="bl" rotWithShape="0">
              <a:srgbClr val="000000">
                <a:alpha val="18000"/>
              </a:srgbClr>
            </a:outerShdw>
          </a:effectLst>
        </p:spPr>
        <p:txBody>
          <a:bodyPr/>
          <a:lstStyle/>
          <a:p>
            <a:endParaRPr lang="en-US">
              <a:latin typeface="Baskerville" panose="02020502070401020303" pitchFamily="18" charset="0"/>
              <a:ea typeface="Baskerville" panose="02020502070401020303" pitchFamily="18" charset="0"/>
            </a:endParaRPr>
          </a:p>
        </p:txBody>
      </p:sp>
      <p:sp>
        <p:nvSpPr>
          <p:cNvPr id="18" name="Text 15"/>
          <p:cNvSpPr/>
          <p:nvPr/>
        </p:nvSpPr>
        <p:spPr>
          <a:xfrm>
            <a:off x="411480" y="3145536"/>
            <a:ext cx="8321040" cy="877824"/>
          </a:xfrm>
          <a:prstGeom prst="rect">
            <a:avLst/>
          </a:prstGeom>
          <a:noFill/>
          <a:ln/>
        </p:spPr>
        <p:txBody>
          <a:bodyPr wrap="square" rtlCol="0" anchor="ctr"/>
          <a:lstStyle/>
          <a:p>
            <a:pPr marL="0" indent="0">
              <a:buNone/>
            </a:pPr>
            <a:r>
              <a:rPr lang="en-US" sz="1150" b="1" dirty="0">
                <a:solidFill>
                  <a:srgbClr val="E8A838"/>
                </a:solidFill>
                <a:latin typeface="Baskerville" panose="02020502070401020303" pitchFamily="18" charset="0"/>
                <a:ea typeface="Baskerville" panose="02020502070401020303" pitchFamily="18" charset="0"/>
                <a:cs typeface="Calibri" pitchFamily="34" charset="-120"/>
              </a:rPr>
              <a:t>Key Finding:  </a:t>
            </a:r>
            <a:r>
              <a:rPr lang="en-US" sz="1150" dirty="0">
                <a:solidFill>
                  <a:srgbClr val="FFFFFF"/>
                </a:solidFill>
                <a:latin typeface="Baskerville" panose="02020502070401020303" pitchFamily="18" charset="0"/>
                <a:ea typeface="Baskerville" panose="02020502070401020303" pitchFamily="18" charset="0"/>
                <a:cs typeface="Calibri" pitchFamily="34" charset="-120"/>
              </a:rPr>
              <a:t>NT-500M + XGBoost achieves ROC-AUC 0.851 — only +1.5 pts above a Random Forest built on 95 engineered GC/CpG features. Promoter identity is largely defined by local sequence composition, creating a high feature engineering ceiling that limits transformer headroom.</a:t>
            </a:r>
            <a:endParaRPr lang="en-US" sz="1150" dirty="0">
              <a:latin typeface="Baskerville" panose="02020502070401020303" pitchFamily="18" charset="0"/>
              <a:ea typeface="Baskerville" panose="02020502070401020303" pitchFamily="18" charset="0"/>
            </a:endParaRPr>
          </a:p>
        </p:txBody>
      </p:sp>
      <p:graphicFrame>
        <p:nvGraphicFramePr>
          <p:cNvPr id="19" name="Chart 0"/>
          <p:cNvGraphicFramePr/>
          <p:nvPr>
            <p:extLst>
              <p:ext uri="{D42A27DB-BD31-4B8C-83A1-F6EECF244321}">
                <p14:modId xmlns:p14="http://schemas.microsoft.com/office/powerpoint/2010/main" val="1652689800"/>
              </p:ext>
            </p:extLst>
          </p:nvPr>
        </p:nvGraphicFramePr>
        <p:xfrm>
          <a:off x="274320" y="4133088"/>
          <a:ext cx="8595360" cy="86868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7B8A"/>
          </a:solidFill>
          <a:ln w="12700">
            <a:solidFill>
              <a:srgbClr val="000000"/>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3" name="Text 1"/>
          <p:cNvSpPr/>
          <p:nvPr/>
        </p:nvSpPr>
        <p:spPr>
          <a:xfrm>
            <a:off x="365760" y="0"/>
            <a:ext cx="8412480" cy="640080"/>
          </a:xfrm>
          <a:prstGeom prst="rect">
            <a:avLst/>
          </a:prstGeom>
          <a:noFill/>
          <a:ln/>
        </p:spPr>
        <p:txBody>
          <a:bodyPr wrap="square" rtlCol="0" anchor="ctr"/>
          <a:lstStyle/>
          <a:p>
            <a:pPr marL="0" indent="0">
              <a:buNone/>
            </a:pPr>
            <a:r>
              <a:rPr lang="en-US" sz="2000" b="1" dirty="0">
                <a:solidFill>
                  <a:srgbClr val="FFFFFF"/>
                </a:solidFill>
                <a:latin typeface="Baskerville" panose="02020502070401020303" pitchFamily="18" charset="0"/>
                <a:ea typeface="Baskerville" panose="02020502070401020303" pitchFamily="18" charset="0"/>
                <a:cs typeface="Calibri" pitchFamily="34" charset="-120"/>
              </a:rPr>
              <a:t>🔬  Protein Results — Pfam Classification</a:t>
            </a:r>
            <a:endParaRPr lang="en-US" sz="2000" dirty="0">
              <a:latin typeface="Baskerville" panose="02020502070401020303" pitchFamily="18" charset="0"/>
              <a:ea typeface="Baskerville" panose="02020502070401020303" pitchFamily="18" charset="0"/>
            </a:endParaRPr>
          </a:p>
        </p:txBody>
      </p:sp>
      <p:graphicFrame>
        <p:nvGraphicFramePr>
          <p:cNvPr id="7" name="Table 0"/>
          <p:cNvGraphicFramePr>
            <a:graphicFrameLocks noGrp="1"/>
          </p:cNvGraphicFramePr>
          <p:nvPr>
            <p:extLst>
              <p:ext uri="{D42A27DB-BD31-4B8C-83A1-F6EECF244321}">
                <p14:modId xmlns:p14="http://schemas.microsoft.com/office/powerpoint/2010/main" val="434411957"/>
              </p:ext>
            </p:extLst>
          </p:nvPr>
        </p:nvGraphicFramePr>
        <p:xfrm>
          <a:off x="274320" y="777240"/>
          <a:ext cx="5120640" cy="2084832"/>
        </p:xfrm>
        <a:graphic>
          <a:graphicData uri="http://schemas.openxmlformats.org/drawingml/2006/table">
            <a:tbl>
              <a:tblPr/>
              <a:tblGrid>
                <a:gridCol w="182880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347472">
                <a:tc>
                  <a:txBody>
                    <a:bodyPr/>
                    <a:lstStyle/>
                    <a:p>
                      <a:pPr marL="0" indent="0">
                        <a:buNone/>
                      </a:pPr>
                      <a:r>
                        <a:rPr lang="en-US" sz="1100" b="1" dirty="0">
                          <a:solidFill>
                            <a:srgbClr val="FFFFFF"/>
                          </a:solidFill>
                          <a:latin typeface="Baskerville" panose="02020502070401020303" pitchFamily="18" charset="0"/>
                          <a:ea typeface="Baskerville" panose="02020502070401020303" pitchFamily="18" charset="0"/>
                          <a:cs typeface="Calibri" pitchFamily="34" charset="-120"/>
                        </a:rPr>
                        <a:t>Paradigm</a:t>
                      </a:r>
                      <a:endParaRPr lang="en-US" sz="1100" dirty="0">
                        <a:latin typeface="Baskerville" panose="02020502070401020303" pitchFamily="18" charset="0"/>
                        <a:ea typeface="Baskerville" panose="02020502070401020303" pitchFamily="18" charset="0"/>
                        <a:cs typeface="Calibri" charset="0"/>
                      </a:endParaRPr>
                    </a:p>
                  </a:txBody>
                  <a:tcPr>
                    <a:lnL w="6350" cap="flat" cmpd="sng" algn="ctr">
                      <a:solidFill>
                        <a:srgbClr val="D8E2F0"/>
                      </a:solidFill>
                      <a:prstDash val="solid"/>
                      <a:round/>
                      <a:headEnd type="none" w="med" len="med"/>
                      <a:tailEnd type="none" w="med" len="med"/>
                    </a:lnL>
                    <a:lnR w="6350" cap="flat" cmpd="sng" algn="ctr">
                      <a:solidFill>
                        <a:srgbClr val="D8E2F0"/>
                      </a:solidFill>
                      <a:prstDash val="solid"/>
                      <a:round/>
                      <a:headEnd type="none" w="med" len="med"/>
                      <a:tailEnd type="none" w="med" len="med"/>
                    </a:lnR>
                    <a:lnT w="6350" cap="flat" cmpd="sng" algn="ctr">
                      <a:solidFill>
                        <a:srgbClr val="D8E2F0"/>
                      </a:solidFill>
                      <a:prstDash val="solid"/>
                      <a:round/>
                      <a:headEnd type="none" w="med" len="med"/>
                      <a:tailEnd type="none" w="med" len="med"/>
                    </a:lnT>
                    <a:lnB w="6350" cap="flat" cmpd="sng" algn="ctr">
                      <a:solidFill>
                        <a:srgbClr val="D8E2F0"/>
                      </a:solidFill>
                      <a:prstDash val="solid"/>
                      <a:round/>
                      <a:headEnd type="none" w="med" len="med"/>
                      <a:tailEnd type="none" w="med" len="med"/>
                    </a:lnB>
                    <a:solidFill>
                      <a:srgbClr val="0D1B4B"/>
                    </a:solidFill>
                  </a:tcPr>
                </a:tc>
                <a:tc>
                  <a:txBody>
                    <a:bodyPr/>
                    <a:lstStyle/>
                    <a:p>
                      <a:pPr marL="0" indent="0">
                        <a:buNone/>
                      </a:pPr>
                      <a:r>
                        <a:rPr lang="en-US" sz="1100" b="1" dirty="0">
                          <a:solidFill>
                            <a:srgbClr val="FFFFFF"/>
                          </a:solidFill>
                          <a:latin typeface="Baskerville" panose="02020502070401020303" pitchFamily="18" charset="0"/>
                          <a:ea typeface="Baskerville" panose="02020502070401020303" pitchFamily="18" charset="0"/>
                          <a:cs typeface="Calibri" pitchFamily="34" charset="-120"/>
                        </a:rPr>
                        <a:t>Best Model</a:t>
                      </a:r>
                      <a:endParaRPr lang="en-US" sz="1100" dirty="0">
                        <a:latin typeface="Baskerville" panose="02020502070401020303" pitchFamily="18" charset="0"/>
                        <a:ea typeface="Baskerville" panose="02020502070401020303" pitchFamily="18" charset="0"/>
                        <a:cs typeface="Calibri" charset="0"/>
                      </a:endParaRPr>
                    </a:p>
                  </a:txBody>
                  <a:tcPr>
                    <a:lnL w="6350" cap="flat" cmpd="sng" algn="ctr">
                      <a:solidFill>
                        <a:srgbClr val="D8E2F0"/>
                      </a:solidFill>
                      <a:prstDash val="solid"/>
                      <a:round/>
                      <a:headEnd type="none" w="med" len="med"/>
                      <a:tailEnd type="none" w="med" len="med"/>
                    </a:lnL>
                    <a:lnR w="6350" cap="flat" cmpd="sng" algn="ctr">
                      <a:solidFill>
                        <a:srgbClr val="D8E2F0"/>
                      </a:solidFill>
                      <a:prstDash val="solid"/>
                      <a:round/>
                      <a:headEnd type="none" w="med" len="med"/>
                      <a:tailEnd type="none" w="med" len="med"/>
                    </a:lnR>
                    <a:lnT w="6350" cap="flat" cmpd="sng" algn="ctr">
                      <a:solidFill>
                        <a:srgbClr val="D8E2F0"/>
                      </a:solidFill>
                      <a:prstDash val="solid"/>
                      <a:round/>
                      <a:headEnd type="none" w="med" len="med"/>
                      <a:tailEnd type="none" w="med" len="med"/>
                    </a:lnT>
                    <a:lnB w="6350" cap="flat" cmpd="sng" algn="ctr">
                      <a:solidFill>
                        <a:srgbClr val="D8E2F0"/>
                      </a:solidFill>
                      <a:prstDash val="solid"/>
                      <a:round/>
                      <a:headEnd type="none" w="med" len="med"/>
                      <a:tailEnd type="none" w="med" len="med"/>
                    </a:lnB>
                    <a:solidFill>
                      <a:srgbClr val="0D1B4B"/>
                    </a:solidFill>
                  </a:tcPr>
                </a:tc>
                <a:tc>
                  <a:txBody>
                    <a:bodyPr/>
                    <a:lstStyle/>
                    <a:p>
                      <a:pPr marL="0" indent="0">
                        <a:buNone/>
                      </a:pPr>
                      <a:r>
                        <a:rPr lang="en-US" sz="1100" b="1" dirty="0">
                          <a:solidFill>
                            <a:srgbClr val="FFFFFF"/>
                          </a:solidFill>
                          <a:latin typeface="Baskerville" panose="02020502070401020303" pitchFamily="18" charset="0"/>
                          <a:ea typeface="Baskerville" panose="02020502070401020303" pitchFamily="18" charset="0"/>
                          <a:cs typeface="Calibri" pitchFamily="34" charset="-120"/>
                        </a:rPr>
                        <a:t>Accuracy</a:t>
                      </a:r>
                      <a:endParaRPr lang="en-US" sz="1100" dirty="0">
                        <a:latin typeface="Baskerville" panose="02020502070401020303" pitchFamily="18" charset="0"/>
                        <a:ea typeface="Baskerville" panose="02020502070401020303" pitchFamily="18" charset="0"/>
                        <a:cs typeface="Calibri" charset="0"/>
                      </a:endParaRPr>
                    </a:p>
                  </a:txBody>
                  <a:tcPr>
                    <a:lnL w="6350" cap="flat" cmpd="sng" algn="ctr">
                      <a:solidFill>
                        <a:srgbClr val="D8E2F0"/>
                      </a:solidFill>
                      <a:prstDash val="solid"/>
                      <a:round/>
                      <a:headEnd type="none" w="med" len="med"/>
                      <a:tailEnd type="none" w="med" len="med"/>
                    </a:lnL>
                    <a:lnR w="6350" cap="flat" cmpd="sng" algn="ctr">
                      <a:solidFill>
                        <a:srgbClr val="D8E2F0"/>
                      </a:solidFill>
                      <a:prstDash val="solid"/>
                      <a:round/>
                      <a:headEnd type="none" w="med" len="med"/>
                      <a:tailEnd type="none" w="med" len="med"/>
                    </a:lnR>
                    <a:lnT w="6350" cap="flat" cmpd="sng" algn="ctr">
                      <a:solidFill>
                        <a:srgbClr val="D8E2F0"/>
                      </a:solidFill>
                      <a:prstDash val="solid"/>
                      <a:round/>
                      <a:headEnd type="none" w="med" len="med"/>
                      <a:tailEnd type="none" w="med" len="med"/>
                    </a:lnT>
                    <a:lnB w="6350" cap="flat" cmpd="sng" algn="ctr">
                      <a:solidFill>
                        <a:srgbClr val="D8E2F0"/>
                      </a:solidFill>
                      <a:prstDash val="solid"/>
                      <a:round/>
                      <a:headEnd type="none" w="med" len="med"/>
                      <a:tailEnd type="none" w="med" len="med"/>
                    </a:lnB>
                    <a:solidFill>
                      <a:srgbClr val="0D1B4B"/>
                    </a:solidFill>
                  </a:tcPr>
                </a:tc>
                <a:tc>
                  <a:txBody>
                    <a:bodyPr/>
                    <a:lstStyle/>
                    <a:p>
                      <a:pPr marL="0" indent="0">
                        <a:buNone/>
                      </a:pPr>
                      <a:r>
                        <a:rPr lang="en-US" sz="1100" b="1" dirty="0">
                          <a:solidFill>
                            <a:srgbClr val="FFFFFF"/>
                          </a:solidFill>
                          <a:latin typeface="Baskerville" panose="02020502070401020303" pitchFamily="18" charset="0"/>
                          <a:ea typeface="Baskerville" panose="02020502070401020303" pitchFamily="18" charset="0"/>
                          <a:cs typeface="Calibri" pitchFamily="34" charset="-120"/>
                        </a:rPr>
                        <a:t>F1-Macro</a:t>
                      </a:r>
                      <a:endParaRPr lang="en-US" sz="1100" dirty="0">
                        <a:latin typeface="Baskerville" panose="02020502070401020303" pitchFamily="18" charset="0"/>
                        <a:ea typeface="Baskerville" panose="02020502070401020303" pitchFamily="18" charset="0"/>
                        <a:cs typeface="Calibri" charset="0"/>
                      </a:endParaRPr>
                    </a:p>
                  </a:txBody>
                  <a:tcPr>
                    <a:lnL w="6350" cap="flat" cmpd="sng" algn="ctr">
                      <a:solidFill>
                        <a:srgbClr val="D8E2F0"/>
                      </a:solidFill>
                      <a:prstDash val="solid"/>
                      <a:round/>
                      <a:headEnd type="none" w="med" len="med"/>
                      <a:tailEnd type="none" w="med" len="med"/>
                    </a:lnL>
                    <a:lnR w="6350" cap="flat" cmpd="sng" algn="ctr">
                      <a:solidFill>
                        <a:srgbClr val="D8E2F0"/>
                      </a:solidFill>
                      <a:prstDash val="solid"/>
                      <a:round/>
                      <a:headEnd type="none" w="med" len="med"/>
                      <a:tailEnd type="none" w="med" len="med"/>
                    </a:lnR>
                    <a:lnT w="6350" cap="flat" cmpd="sng" algn="ctr">
                      <a:solidFill>
                        <a:srgbClr val="D8E2F0"/>
                      </a:solidFill>
                      <a:prstDash val="solid"/>
                      <a:round/>
                      <a:headEnd type="none" w="med" len="med"/>
                      <a:tailEnd type="none" w="med" len="med"/>
                    </a:lnT>
                    <a:lnB w="6350" cap="flat" cmpd="sng" algn="ctr">
                      <a:solidFill>
                        <a:srgbClr val="D8E2F0"/>
                      </a:solidFill>
                      <a:prstDash val="solid"/>
                      <a:round/>
                      <a:headEnd type="none" w="med" len="med"/>
                      <a:tailEnd type="none" w="med" len="med"/>
                    </a:lnB>
                    <a:solidFill>
                      <a:srgbClr val="0D1B4B"/>
                    </a:solidFill>
                  </a:tcPr>
                </a:tc>
                <a:extLst>
                  <a:ext uri="{0D108BD9-81ED-4DB2-BD59-A6C34878D82A}">
                    <a16:rowId xmlns:a16="http://schemas.microsoft.com/office/drawing/2014/main" val="10000"/>
                  </a:ext>
                </a:extLst>
              </a:tr>
              <a:tr h="347472">
                <a:tc>
                  <a:txBody>
                    <a:bodyPr/>
                    <a:lstStyle/>
                    <a:p>
                      <a:pPr marL="0" indent="0" algn="l">
                        <a:buNone/>
                      </a:pPr>
                      <a:r>
                        <a:rPr lang="en-US" sz="1100" dirty="0">
                          <a:solidFill>
                            <a:srgbClr val="0D1B4B"/>
                          </a:solidFill>
                          <a:latin typeface="Baskerville" panose="02020502070401020303" pitchFamily="18" charset="0"/>
                          <a:ea typeface="Baskerville" panose="02020502070401020303" pitchFamily="18" charset="0"/>
                          <a:cs typeface="Calibri" pitchFamily="34" charset="-120"/>
                        </a:rPr>
                        <a:t>Baseline ML</a:t>
                      </a:r>
                      <a:endParaRPr lang="en-US" sz="1100" dirty="0">
                        <a:latin typeface="Baskerville" panose="02020502070401020303" pitchFamily="18" charset="0"/>
                        <a:ea typeface="Baskerville" panose="02020502070401020303" pitchFamily="18" charset="0"/>
                        <a:cs typeface="Calibri" charset="0"/>
                      </a:endParaRPr>
                    </a:p>
                  </a:txBody>
                  <a:tcPr>
                    <a:lnL w="6350" cap="flat" cmpd="sng" algn="ctr">
                      <a:solidFill>
                        <a:srgbClr val="D8E2F0"/>
                      </a:solidFill>
                      <a:prstDash val="solid"/>
                      <a:round/>
                      <a:headEnd type="none" w="med" len="med"/>
                      <a:tailEnd type="none" w="med" len="med"/>
                    </a:lnL>
                    <a:lnR w="6350" cap="flat" cmpd="sng" algn="ctr">
                      <a:solidFill>
                        <a:srgbClr val="D8E2F0"/>
                      </a:solidFill>
                      <a:prstDash val="solid"/>
                      <a:round/>
                      <a:headEnd type="none" w="med" len="med"/>
                      <a:tailEnd type="none" w="med" len="med"/>
                    </a:lnR>
                    <a:lnT w="6350" cap="flat" cmpd="sng" algn="ctr">
                      <a:solidFill>
                        <a:srgbClr val="D8E2F0"/>
                      </a:solidFill>
                      <a:prstDash val="solid"/>
                      <a:round/>
                      <a:headEnd type="none" w="med" len="med"/>
                      <a:tailEnd type="none" w="med" len="med"/>
                    </a:lnT>
                    <a:lnB w="6350" cap="flat" cmpd="sng" algn="ctr">
                      <a:solidFill>
                        <a:srgbClr val="D8E2F0"/>
                      </a:solidFill>
                      <a:prstDash val="solid"/>
                      <a:round/>
                      <a:headEnd type="none" w="med" len="med"/>
                      <a:tailEnd type="none" w="med" len="med"/>
                    </a:lnB>
                    <a:solidFill>
                      <a:srgbClr val="F0FBF8"/>
                    </a:solidFill>
                  </a:tcPr>
                </a:tc>
                <a:tc>
                  <a:txBody>
                    <a:bodyPr/>
                    <a:lstStyle/>
                    <a:p>
                      <a:pPr marL="0" indent="0" algn="l">
                        <a:buNone/>
                      </a:pPr>
                      <a:r>
                        <a:rPr lang="en-US" sz="1100" dirty="0">
                          <a:solidFill>
                            <a:srgbClr val="333355"/>
                          </a:solidFill>
                          <a:latin typeface="Baskerville" panose="02020502070401020303" pitchFamily="18" charset="0"/>
                          <a:ea typeface="Baskerville" panose="02020502070401020303" pitchFamily="18" charset="0"/>
                          <a:cs typeface="Calibri" pitchFamily="34" charset="-120"/>
                        </a:rPr>
                        <a:t>Random Forest</a:t>
                      </a:r>
                      <a:endParaRPr lang="en-US" sz="1100" dirty="0">
                        <a:latin typeface="Baskerville" panose="02020502070401020303" pitchFamily="18" charset="0"/>
                        <a:ea typeface="Baskerville" panose="02020502070401020303" pitchFamily="18" charset="0"/>
                        <a:cs typeface="Calibri" charset="0"/>
                      </a:endParaRPr>
                    </a:p>
                  </a:txBody>
                  <a:tcPr>
                    <a:lnL w="6350" cap="flat" cmpd="sng" algn="ctr">
                      <a:solidFill>
                        <a:srgbClr val="D8E2F0"/>
                      </a:solidFill>
                      <a:prstDash val="solid"/>
                      <a:round/>
                      <a:headEnd type="none" w="med" len="med"/>
                      <a:tailEnd type="none" w="med" len="med"/>
                    </a:lnL>
                    <a:lnR w="6350" cap="flat" cmpd="sng" algn="ctr">
                      <a:solidFill>
                        <a:srgbClr val="D8E2F0"/>
                      </a:solidFill>
                      <a:prstDash val="solid"/>
                      <a:round/>
                      <a:headEnd type="none" w="med" len="med"/>
                      <a:tailEnd type="none" w="med" len="med"/>
                    </a:lnR>
                    <a:lnT w="6350" cap="flat" cmpd="sng" algn="ctr">
                      <a:solidFill>
                        <a:srgbClr val="D8E2F0"/>
                      </a:solidFill>
                      <a:prstDash val="solid"/>
                      <a:round/>
                      <a:headEnd type="none" w="med" len="med"/>
                      <a:tailEnd type="none" w="med" len="med"/>
                    </a:lnT>
                    <a:lnB w="6350" cap="flat" cmpd="sng" algn="ctr">
                      <a:solidFill>
                        <a:srgbClr val="D8E2F0"/>
                      </a:solidFill>
                      <a:prstDash val="solid"/>
                      <a:round/>
                      <a:headEnd type="none" w="med" len="med"/>
                      <a:tailEnd type="none" w="med" len="med"/>
                    </a:lnB>
                    <a:solidFill>
                      <a:srgbClr val="F0FBF8"/>
                    </a:solidFill>
                  </a:tcPr>
                </a:tc>
                <a:tc>
                  <a:txBody>
                    <a:bodyPr/>
                    <a:lstStyle/>
                    <a:p>
                      <a:pPr marL="0" indent="0" algn="ctr">
                        <a:buNone/>
                      </a:pPr>
                      <a:r>
                        <a:rPr lang="en-US" sz="1100" dirty="0">
                          <a:solidFill>
                            <a:srgbClr val="333355"/>
                          </a:solidFill>
                          <a:latin typeface="Baskerville" panose="02020502070401020303" pitchFamily="18" charset="0"/>
                          <a:ea typeface="Baskerville" panose="02020502070401020303" pitchFamily="18" charset="0"/>
                          <a:cs typeface="Calibri" pitchFamily="34" charset="-120"/>
                        </a:rPr>
                        <a:t>0.923</a:t>
                      </a:r>
                      <a:endParaRPr lang="en-US" sz="1100" dirty="0">
                        <a:latin typeface="Baskerville" panose="02020502070401020303" pitchFamily="18" charset="0"/>
                        <a:ea typeface="Baskerville" panose="02020502070401020303" pitchFamily="18" charset="0"/>
                        <a:cs typeface="Calibri" charset="0"/>
                      </a:endParaRPr>
                    </a:p>
                  </a:txBody>
                  <a:tcPr>
                    <a:lnL w="6350" cap="flat" cmpd="sng" algn="ctr">
                      <a:solidFill>
                        <a:srgbClr val="D8E2F0"/>
                      </a:solidFill>
                      <a:prstDash val="solid"/>
                      <a:round/>
                      <a:headEnd type="none" w="med" len="med"/>
                      <a:tailEnd type="none" w="med" len="med"/>
                    </a:lnL>
                    <a:lnR w="6350" cap="flat" cmpd="sng" algn="ctr">
                      <a:solidFill>
                        <a:srgbClr val="D8E2F0"/>
                      </a:solidFill>
                      <a:prstDash val="solid"/>
                      <a:round/>
                      <a:headEnd type="none" w="med" len="med"/>
                      <a:tailEnd type="none" w="med" len="med"/>
                    </a:lnR>
                    <a:lnT w="6350" cap="flat" cmpd="sng" algn="ctr">
                      <a:solidFill>
                        <a:srgbClr val="D8E2F0"/>
                      </a:solidFill>
                      <a:prstDash val="solid"/>
                      <a:round/>
                      <a:headEnd type="none" w="med" len="med"/>
                      <a:tailEnd type="none" w="med" len="med"/>
                    </a:lnT>
                    <a:lnB w="6350" cap="flat" cmpd="sng" algn="ctr">
                      <a:solidFill>
                        <a:srgbClr val="D8E2F0"/>
                      </a:solidFill>
                      <a:prstDash val="solid"/>
                      <a:round/>
                      <a:headEnd type="none" w="med" len="med"/>
                      <a:tailEnd type="none" w="med" len="med"/>
                    </a:lnB>
                    <a:solidFill>
                      <a:srgbClr val="F0FBF8"/>
                    </a:solidFill>
                  </a:tcPr>
                </a:tc>
                <a:tc>
                  <a:txBody>
                    <a:bodyPr/>
                    <a:lstStyle/>
                    <a:p>
                      <a:pPr marL="0" indent="0" algn="ctr">
                        <a:buNone/>
                      </a:pPr>
                      <a:r>
                        <a:rPr lang="en-US" sz="1100" dirty="0">
                          <a:solidFill>
                            <a:srgbClr val="333355"/>
                          </a:solidFill>
                          <a:latin typeface="Baskerville" panose="02020502070401020303" pitchFamily="18" charset="0"/>
                          <a:ea typeface="Baskerville" panose="02020502070401020303" pitchFamily="18" charset="0"/>
                          <a:cs typeface="Calibri" pitchFamily="34" charset="-120"/>
                        </a:rPr>
                        <a:t>0.924</a:t>
                      </a:r>
                      <a:endParaRPr lang="en-US" sz="1100" dirty="0">
                        <a:latin typeface="Baskerville" panose="02020502070401020303" pitchFamily="18" charset="0"/>
                        <a:ea typeface="Baskerville" panose="02020502070401020303" pitchFamily="18" charset="0"/>
                        <a:cs typeface="Calibri" charset="0"/>
                      </a:endParaRPr>
                    </a:p>
                  </a:txBody>
                  <a:tcPr>
                    <a:lnL w="6350" cap="flat" cmpd="sng" algn="ctr">
                      <a:solidFill>
                        <a:srgbClr val="D8E2F0"/>
                      </a:solidFill>
                      <a:prstDash val="solid"/>
                      <a:round/>
                      <a:headEnd type="none" w="med" len="med"/>
                      <a:tailEnd type="none" w="med" len="med"/>
                    </a:lnL>
                    <a:lnR w="6350" cap="flat" cmpd="sng" algn="ctr">
                      <a:solidFill>
                        <a:srgbClr val="D8E2F0"/>
                      </a:solidFill>
                      <a:prstDash val="solid"/>
                      <a:round/>
                      <a:headEnd type="none" w="med" len="med"/>
                      <a:tailEnd type="none" w="med" len="med"/>
                    </a:lnR>
                    <a:lnT w="6350" cap="flat" cmpd="sng" algn="ctr">
                      <a:solidFill>
                        <a:srgbClr val="D8E2F0"/>
                      </a:solidFill>
                      <a:prstDash val="solid"/>
                      <a:round/>
                      <a:headEnd type="none" w="med" len="med"/>
                      <a:tailEnd type="none" w="med" len="med"/>
                    </a:lnT>
                    <a:lnB w="6350" cap="flat" cmpd="sng" algn="ctr">
                      <a:solidFill>
                        <a:srgbClr val="D8E2F0"/>
                      </a:solidFill>
                      <a:prstDash val="solid"/>
                      <a:round/>
                      <a:headEnd type="none" w="med" len="med"/>
                      <a:tailEnd type="none" w="med" len="med"/>
                    </a:lnB>
                    <a:solidFill>
                      <a:srgbClr val="F0FBF8"/>
                    </a:solidFill>
                  </a:tcPr>
                </a:tc>
                <a:extLst>
                  <a:ext uri="{0D108BD9-81ED-4DB2-BD59-A6C34878D82A}">
                    <a16:rowId xmlns:a16="http://schemas.microsoft.com/office/drawing/2014/main" val="10001"/>
                  </a:ext>
                </a:extLst>
              </a:tr>
              <a:tr h="347472">
                <a:tc>
                  <a:txBody>
                    <a:bodyPr/>
                    <a:lstStyle/>
                    <a:p>
                      <a:pPr marL="0" indent="0" algn="l">
                        <a:buNone/>
                      </a:pPr>
                      <a:r>
                        <a:rPr lang="en-US" sz="1100" dirty="0">
                          <a:solidFill>
                            <a:srgbClr val="0D1B4B"/>
                          </a:solidFill>
                          <a:latin typeface="Baskerville" panose="02020502070401020303" pitchFamily="18" charset="0"/>
                          <a:ea typeface="Baskerville" panose="02020502070401020303" pitchFamily="18" charset="0"/>
                          <a:cs typeface="Calibri" pitchFamily="34" charset="-120"/>
                        </a:rPr>
                        <a:t>CNN</a:t>
                      </a:r>
                      <a:endParaRPr lang="en-US" sz="1100" dirty="0">
                        <a:latin typeface="Baskerville" panose="02020502070401020303" pitchFamily="18" charset="0"/>
                        <a:ea typeface="Baskerville" panose="02020502070401020303" pitchFamily="18" charset="0"/>
                        <a:cs typeface="Calibri" charset="0"/>
                      </a:endParaRPr>
                    </a:p>
                  </a:txBody>
                  <a:tcPr>
                    <a:lnL w="6350" cap="flat" cmpd="sng" algn="ctr">
                      <a:solidFill>
                        <a:srgbClr val="D8E2F0"/>
                      </a:solidFill>
                      <a:prstDash val="solid"/>
                      <a:round/>
                      <a:headEnd type="none" w="med" len="med"/>
                      <a:tailEnd type="none" w="med" len="med"/>
                    </a:lnL>
                    <a:lnR w="6350" cap="flat" cmpd="sng" algn="ctr">
                      <a:solidFill>
                        <a:srgbClr val="D8E2F0"/>
                      </a:solidFill>
                      <a:prstDash val="solid"/>
                      <a:round/>
                      <a:headEnd type="none" w="med" len="med"/>
                      <a:tailEnd type="none" w="med" len="med"/>
                    </a:lnR>
                    <a:lnT w="6350" cap="flat" cmpd="sng" algn="ctr">
                      <a:solidFill>
                        <a:srgbClr val="D8E2F0"/>
                      </a:solidFill>
                      <a:prstDash val="solid"/>
                      <a:round/>
                      <a:headEnd type="none" w="med" len="med"/>
                      <a:tailEnd type="none" w="med" len="med"/>
                    </a:lnT>
                    <a:lnB w="6350" cap="flat" cmpd="sng" algn="ctr">
                      <a:solidFill>
                        <a:srgbClr val="D8E2F0"/>
                      </a:solidFill>
                      <a:prstDash val="solid"/>
                      <a:round/>
                      <a:headEnd type="none" w="med" len="med"/>
                      <a:tailEnd type="none" w="med" len="med"/>
                    </a:lnB>
                    <a:solidFill>
                      <a:srgbClr val="FFFFFF"/>
                    </a:solidFill>
                  </a:tcPr>
                </a:tc>
                <a:tc>
                  <a:txBody>
                    <a:bodyPr/>
                    <a:lstStyle/>
                    <a:p>
                      <a:pPr marL="0" indent="0" algn="l">
                        <a:buNone/>
                      </a:pPr>
                      <a:r>
                        <a:rPr lang="en-US" sz="1100" dirty="0">
                          <a:solidFill>
                            <a:srgbClr val="333355"/>
                          </a:solidFill>
                          <a:latin typeface="Baskerville" panose="02020502070401020303" pitchFamily="18" charset="0"/>
                          <a:ea typeface="Baskerville" panose="02020502070401020303" pitchFamily="18" charset="0"/>
                          <a:cs typeface="Calibri" pitchFamily="34" charset="-120"/>
                        </a:rPr>
                        <a:t>seq_cnn</a:t>
                      </a:r>
                      <a:endParaRPr lang="en-US" sz="1100" dirty="0">
                        <a:latin typeface="Baskerville" panose="02020502070401020303" pitchFamily="18" charset="0"/>
                        <a:ea typeface="Baskerville" panose="02020502070401020303" pitchFamily="18" charset="0"/>
                        <a:cs typeface="Calibri" charset="0"/>
                      </a:endParaRPr>
                    </a:p>
                  </a:txBody>
                  <a:tcPr>
                    <a:lnL w="6350" cap="flat" cmpd="sng" algn="ctr">
                      <a:solidFill>
                        <a:srgbClr val="D8E2F0"/>
                      </a:solidFill>
                      <a:prstDash val="solid"/>
                      <a:round/>
                      <a:headEnd type="none" w="med" len="med"/>
                      <a:tailEnd type="none" w="med" len="med"/>
                    </a:lnL>
                    <a:lnR w="6350" cap="flat" cmpd="sng" algn="ctr">
                      <a:solidFill>
                        <a:srgbClr val="D8E2F0"/>
                      </a:solidFill>
                      <a:prstDash val="solid"/>
                      <a:round/>
                      <a:headEnd type="none" w="med" len="med"/>
                      <a:tailEnd type="none" w="med" len="med"/>
                    </a:lnR>
                    <a:lnT w="6350" cap="flat" cmpd="sng" algn="ctr">
                      <a:solidFill>
                        <a:srgbClr val="D8E2F0"/>
                      </a:solidFill>
                      <a:prstDash val="solid"/>
                      <a:round/>
                      <a:headEnd type="none" w="med" len="med"/>
                      <a:tailEnd type="none" w="med" len="med"/>
                    </a:lnT>
                    <a:lnB w="6350" cap="flat" cmpd="sng" algn="ctr">
                      <a:solidFill>
                        <a:srgbClr val="D8E2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55"/>
                          </a:solidFill>
                          <a:latin typeface="Baskerville" panose="02020502070401020303" pitchFamily="18" charset="0"/>
                          <a:ea typeface="Baskerville" panose="02020502070401020303" pitchFamily="18" charset="0"/>
                          <a:cs typeface="Calibri" pitchFamily="34" charset="-120"/>
                        </a:rPr>
                        <a:t>0.924</a:t>
                      </a:r>
                      <a:endParaRPr lang="en-US" sz="1100" dirty="0">
                        <a:latin typeface="Baskerville" panose="02020502070401020303" pitchFamily="18" charset="0"/>
                        <a:ea typeface="Baskerville" panose="02020502070401020303" pitchFamily="18" charset="0"/>
                        <a:cs typeface="Calibri" charset="0"/>
                      </a:endParaRPr>
                    </a:p>
                  </a:txBody>
                  <a:tcPr>
                    <a:lnL w="6350" cap="flat" cmpd="sng" algn="ctr">
                      <a:solidFill>
                        <a:srgbClr val="D8E2F0"/>
                      </a:solidFill>
                      <a:prstDash val="solid"/>
                      <a:round/>
                      <a:headEnd type="none" w="med" len="med"/>
                      <a:tailEnd type="none" w="med" len="med"/>
                    </a:lnL>
                    <a:lnR w="6350" cap="flat" cmpd="sng" algn="ctr">
                      <a:solidFill>
                        <a:srgbClr val="D8E2F0"/>
                      </a:solidFill>
                      <a:prstDash val="solid"/>
                      <a:round/>
                      <a:headEnd type="none" w="med" len="med"/>
                      <a:tailEnd type="none" w="med" len="med"/>
                    </a:lnR>
                    <a:lnT w="6350" cap="flat" cmpd="sng" algn="ctr">
                      <a:solidFill>
                        <a:srgbClr val="D8E2F0"/>
                      </a:solidFill>
                      <a:prstDash val="solid"/>
                      <a:round/>
                      <a:headEnd type="none" w="med" len="med"/>
                      <a:tailEnd type="none" w="med" len="med"/>
                    </a:lnT>
                    <a:lnB w="6350" cap="flat" cmpd="sng" algn="ctr">
                      <a:solidFill>
                        <a:srgbClr val="D8E2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55"/>
                          </a:solidFill>
                          <a:latin typeface="Baskerville" panose="02020502070401020303" pitchFamily="18" charset="0"/>
                          <a:ea typeface="Baskerville" panose="02020502070401020303" pitchFamily="18" charset="0"/>
                          <a:cs typeface="Calibri" pitchFamily="34" charset="-120"/>
                        </a:rPr>
                        <a:t>0.925</a:t>
                      </a:r>
                      <a:endParaRPr lang="en-US" sz="1100" dirty="0">
                        <a:latin typeface="Baskerville" panose="02020502070401020303" pitchFamily="18" charset="0"/>
                        <a:ea typeface="Baskerville" panose="02020502070401020303" pitchFamily="18" charset="0"/>
                        <a:cs typeface="Calibri" charset="0"/>
                      </a:endParaRPr>
                    </a:p>
                  </a:txBody>
                  <a:tcPr>
                    <a:lnL w="6350" cap="flat" cmpd="sng" algn="ctr">
                      <a:solidFill>
                        <a:srgbClr val="D8E2F0"/>
                      </a:solidFill>
                      <a:prstDash val="solid"/>
                      <a:round/>
                      <a:headEnd type="none" w="med" len="med"/>
                      <a:tailEnd type="none" w="med" len="med"/>
                    </a:lnL>
                    <a:lnR w="6350" cap="flat" cmpd="sng" algn="ctr">
                      <a:solidFill>
                        <a:srgbClr val="D8E2F0"/>
                      </a:solidFill>
                      <a:prstDash val="solid"/>
                      <a:round/>
                      <a:headEnd type="none" w="med" len="med"/>
                      <a:tailEnd type="none" w="med" len="med"/>
                    </a:lnR>
                    <a:lnT w="6350" cap="flat" cmpd="sng" algn="ctr">
                      <a:solidFill>
                        <a:srgbClr val="D8E2F0"/>
                      </a:solidFill>
                      <a:prstDash val="solid"/>
                      <a:round/>
                      <a:headEnd type="none" w="med" len="med"/>
                      <a:tailEnd type="none" w="med" len="med"/>
                    </a:lnT>
                    <a:lnB w="6350" cap="flat" cmpd="sng" algn="ctr">
                      <a:solidFill>
                        <a:srgbClr val="D8E2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47472">
                <a:tc>
                  <a:txBody>
                    <a:bodyPr/>
                    <a:lstStyle/>
                    <a:p>
                      <a:pPr marL="0" indent="0" algn="l">
                        <a:buNone/>
                      </a:pPr>
                      <a:r>
                        <a:rPr lang="en-US" sz="1100" dirty="0">
                          <a:solidFill>
                            <a:srgbClr val="0D1B4B"/>
                          </a:solidFill>
                          <a:latin typeface="Baskerville" panose="02020502070401020303" pitchFamily="18" charset="0"/>
                          <a:ea typeface="Baskerville" panose="02020502070401020303" pitchFamily="18" charset="0"/>
                          <a:cs typeface="Calibri" pitchFamily="34" charset="-120"/>
                        </a:rPr>
                        <a:t>Hybrid CNN + Features</a:t>
                      </a:r>
                      <a:endParaRPr lang="en-US" sz="1100" dirty="0">
                        <a:latin typeface="Baskerville" panose="02020502070401020303" pitchFamily="18" charset="0"/>
                        <a:ea typeface="Baskerville" panose="02020502070401020303" pitchFamily="18" charset="0"/>
                        <a:cs typeface="Calibri" charset="0"/>
                      </a:endParaRPr>
                    </a:p>
                  </a:txBody>
                  <a:tcPr>
                    <a:lnL w="6350" cap="flat" cmpd="sng" algn="ctr">
                      <a:solidFill>
                        <a:srgbClr val="D8E2F0"/>
                      </a:solidFill>
                      <a:prstDash val="solid"/>
                      <a:round/>
                      <a:headEnd type="none" w="med" len="med"/>
                      <a:tailEnd type="none" w="med" len="med"/>
                    </a:lnL>
                    <a:lnR w="6350" cap="flat" cmpd="sng" algn="ctr">
                      <a:solidFill>
                        <a:srgbClr val="D8E2F0"/>
                      </a:solidFill>
                      <a:prstDash val="solid"/>
                      <a:round/>
                      <a:headEnd type="none" w="med" len="med"/>
                      <a:tailEnd type="none" w="med" len="med"/>
                    </a:lnR>
                    <a:lnT w="6350" cap="flat" cmpd="sng" algn="ctr">
                      <a:solidFill>
                        <a:srgbClr val="D8E2F0"/>
                      </a:solidFill>
                      <a:prstDash val="solid"/>
                      <a:round/>
                      <a:headEnd type="none" w="med" len="med"/>
                      <a:tailEnd type="none" w="med" len="med"/>
                    </a:lnT>
                    <a:lnB w="6350" cap="flat" cmpd="sng" algn="ctr">
                      <a:solidFill>
                        <a:srgbClr val="D8E2F0"/>
                      </a:solidFill>
                      <a:prstDash val="solid"/>
                      <a:round/>
                      <a:headEnd type="none" w="med" len="med"/>
                      <a:tailEnd type="none" w="med" len="med"/>
                    </a:lnB>
                    <a:solidFill>
                      <a:srgbClr val="F0FBF8"/>
                    </a:solidFill>
                  </a:tcPr>
                </a:tc>
                <a:tc>
                  <a:txBody>
                    <a:bodyPr/>
                    <a:lstStyle/>
                    <a:p>
                      <a:pPr marL="0" indent="0" algn="l">
                        <a:buNone/>
                      </a:pPr>
                      <a:r>
                        <a:rPr lang="en-US" sz="1100" dirty="0">
                          <a:solidFill>
                            <a:srgbClr val="333355"/>
                          </a:solidFill>
                          <a:latin typeface="Baskerville" panose="02020502070401020303" pitchFamily="18" charset="0"/>
                          <a:ea typeface="Baskerville" panose="02020502070401020303" pitchFamily="18" charset="0"/>
                          <a:cs typeface="Calibri" pitchFamily="34" charset="-120"/>
                        </a:rPr>
                        <a:t>Hybrid</a:t>
                      </a:r>
                      <a:endParaRPr lang="en-US" sz="1100" dirty="0">
                        <a:latin typeface="Baskerville" panose="02020502070401020303" pitchFamily="18" charset="0"/>
                        <a:ea typeface="Baskerville" panose="02020502070401020303" pitchFamily="18" charset="0"/>
                        <a:cs typeface="Calibri" charset="0"/>
                      </a:endParaRPr>
                    </a:p>
                  </a:txBody>
                  <a:tcPr>
                    <a:lnL w="6350" cap="flat" cmpd="sng" algn="ctr">
                      <a:solidFill>
                        <a:srgbClr val="D8E2F0"/>
                      </a:solidFill>
                      <a:prstDash val="solid"/>
                      <a:round/>
                      <a:headEnd type="none" w="med" len="med"/>
                      <a:tailEnd type="none" w="med" len="med"/>
                    </a:lnL>
                    <a:lnR w="6350" cap="flat" cmpd="sng" algn="ctr">
                      <a:solidFill>
                        <a:srgbClr val="D8E2F0"/>
                      </a:solidFill>
                      <a:prstDash val="solid"/>
                      <a:round/>
                      <a:headEnd type="none" w="med" len="med"/>
                      <a:tailEnd type="none" w="med" len="med"/>
                    </a:lnR>
                    <a:lnT w="6350" cap="flat" cmpd="sng" algn="ctr">
                      <a:solidFill>
                        <a:srgbClr val="D8E2F0"/>
                      </a:solidFill>
                      <a:prstDash val="solid"/>
                      <a:round/>
                      <a:headEnd type="none" w="med" len="med"/>
                      <a:tailEnd type="none" w="med" len="med"/>
                    </a:lnT>
                    <a:lnB w="6350" cap="flat" cmpd="sng" algn="ctr">
                      <a:solidFill>
                        <a:srgbClr val="D8E2F0"/>
                      </a:solidFill>
                      <a:prstDash val="solid"/>
                      <a:round/>
                      <a:headEnd type="none" w="med" len="med"/>
                      <a:tailEnd type="none" w="med" len="med"/>
                    </a:lnB>
                    <a:solidFill>
                      <a:srgbClr val="F0FBF8"/>
                    </a:solidFill>
                  </a:tcPr>
                </a:tc>
                <a:tc>
                  <a:txBody>
                    <a:bodyPr/>
                    <a:lstStyle/>
                    <a:p>
                      <a:pPr marL="0" indent="0" algn="ctr">
                        <a:buNone/>
                      </a:pPr>
                      <a:r>
                        <a:rPr lang="en-US" sz="1100" dirty="0">
                          <a:solidFill>
                            <a:srgbClr val="333355"/>
                          </a:solidFill>
                          <a:latin typeface="Baskerville" panose="02020502070401020303" pitchFamily="18" charset="0"/>
                          <a:ea typeface="Baskerville" panose="02020502070401020303" pitchFamily="18" charset="0"/>
                          <a:cs typeface="Calibri" pitchFamily="34" charset="-120"/>
                        </a:rPr>
                        <a:t>0.956</a:t>
                      </a:r>
                      <a:endParaRPr lang="en-US" sz="1100" dirty="0">
                        <a:latin typeface="Baskerville" panose="02020502070401020303" pitchFamily="18" charset="0"/>
                        <a:ea typeface="Baskerville" panose="02020502070401020303" pitchFamily="18" charset="0"/>
                        <a:cs typeface="Calibri" charset="0"/>
                      </a:endParaRPr>
                    </a:p>
                  </a:txBody>
                  <a:tcPr>
                    <a:lnL w="6350" cap="flat" cmpd="sng" algn="ctr">
                      <a:solidFill>
                        <a:srgbClr val="D8E2F0"/>
                      </a:solidFill>
                      <a:prstDash val="solid"/>
                      <a:round/>
                      <a:headEnd type="none" w="med" len="med"/>
                      <a:tailEnd type="none" w="med" len="med"/>
                    </a:lnL>
                    <a:lnR w="6350" cap="flat" cmpd="sng" algn="ctr">
                      <a:solidFill>
                        <a:srgbClr val="D8E2F0"/>
                      </a:solidFill>
                      <a:prstDash val="solid"/>
                      <a:round/>
                      <a:headEnd type="none" w="med" len="med"/>
                      <a:tailEnd type="none" w="med" len="med"/>
                    </a:lnR>
                    <a:lnT w="6350" cap="flat" cmpd="sng" algn="ctr">
                      <a:solidFill>
                        <a:srgbClr val="D8E2F0"/>
                      </a:solidFill>
                      <a:prstDash val="solid"/>
                      <a:round/>
                      <a:headEnd type="none" w="med" len="med"/>
                      <a:tailEnd type="none" w="med" len="med"/>
                    </a:lnT>
                    <a:lnB w="6350" cap="flat" cmpd="sng" algn="ctr">
                      <a:solidFill>
                        <a:srgbClr val="D8E2F0"/>
                      </a:solidFill>
                      <a:prstDash val="solid"/>
                      <a:round/>
                      <a:headEnd type="none" w="med" len="med"/>
                      <a:tailEnd type="none" w="med" len="med"/>
                    </a:lnB>
                    <a:solidFill>
                      <a:srgbClr val="F0FBF8"/>
                    </a:solidFill>
                  </a:tcPr>
                </a:tc>
                <a:tc>
                  <a:txBody>
                    <a:bodyPr/>
                    <a:lstStyle/>
                    <a:p>
                      <a:pPr marL="0" indent="0" algn="ctr">
                        <a:buNone/>
                      </a:pPr>
                      <a:r>
                        <a:rPr lang="en-US" sz="1100" dirty="0">
                          <a:solidFill>
                            <a:srgbClr val="333355"/>
                          </a:solidFill>
                          <a:latin typeface="Baskerville" panose="02020502070401020303" pitchFamily="18" charset="0"/>
                          <a:ea typeface="Baskerville" panose="02020502070401020303" pitchFamily="18" charset="0"/>
                          <a:cs typeface="Calibri" pitchFamily="34" charset="-120"/>
                        </a:rPr>
                        <a:t>0.957</a:t>
                      </a:r>
                      <a:endParaRPr lang="en-US" sz="1100" dirty="0">
                        <a:latin typeface="Baskerville" panose="02020502070401020303" pitchFamily="18" charset="0"/>
                        <a:ea typeface="Baskerville" panose="02020502070401020303" pitchFamily="18" charset="0"/>
                        <a:cs typeface="Calibri" charset="0"/>
                      </a:endParaRPr>
                    </a:p>
                  </a:txBody>
                  <a:tcPr>
                    <a:lnL w="6350" cap="flat" cmpd="sng" algn="ctr">
                      <a:solidFill>
                        <a:srgbClr val="D8E2F0"/>
                      </a:solidFill>
                      <a:prstDash val="solid"/>
                      <a:round/>
                      <a:headEnd type="none" w="med" len="med"/>
                      <a:tailEnd type="none" w="med" len="med"/>
                    </a:lnL>
                    <a:lnR w="6350" cap="flat" cmpd="sng" algn="ctr">
                      <a:solidFill>
                        <a:srgbClr val="D8E2F0"/>
                      </a:solidFill>
                      <a:prstDash val="solid"/>
                      <a:round/>
                      <a:headEnd type="none" w="med" len="med"/>
                      <a:tailEnd type="none" w="med" len="med"/>
                    </a:lnR>
                    <a:lnT w="6350" cap="flat" cmpd="sng" algn="ctr">
                      <a:solidFill>
                        <a:srgbClr val="D8E2F0"/>
                      </a:solidFill>
                      <a:prstDash val="solid"/>
                      <a:round/>
                      <a:headEnd type="none" w="med" len="med"/>
                      <a:tailEnd type="none" w="med" len="med"/>
                    </a:lnT>
                    <a:lnB w="6350" cap="flat" cmpd="sng" algn="ctr">
                      <a:solidFill>
                        <a:srgbClr val="D8E2F0"/>
                      </a:solidFill>
                      <a:prstDash val="solid"/>
                      <a:round/>
                      <a:headEnd type="none" w="med" len="med"/>
                      <a:tailEnd type="none" w="med" len="med"/>
                    </a:lnB>
                    <a:solidFill>
                      <a:srgbClr val="F0FBF8"/>
                    </a:solidFill>
                  </a:tcPr>
                </a:tc>
                <a:extLst>
                  <a:ext uri="{0D108BD9-81ED-4DB2-BD59-A6C34878D82A}">
                    <a16:rowId xmlns:a16="http://schemas.microsoft.com/office/drawing/2014/main" val="10003"/>
                  </a:ext>
                </a:extLst>
              </a:tr>
              <a:tr h="347472">
                <a:tc>
                  <a:txBody>
                    <a:bodyPr/>
                    <a:lstStyle/>
                    <a:p>
                      <a:pPr marL="0" indent="0" algn="l">
                        <a:buNone/>
                      </a:pPr>
                      <a:r>
                        <a:rPr lang="en-US" sz="1100" dirty="0">
                          <a:solidFill>
                            <a:srgbClr val="0D1B4B"/>
                          </a:solidFill>
                          <a:latin typeface="Baskerville" panose="02020502070401020303" pitchFamily="18" charset="0"/>
                          <a:ea typeface="Baskerville" panose="02020502070401020303" pitchFamily="18" charset="0"/>
                          <a:cs typeface="Calibri" pitchFamily="34" charset="-120"/>
                        </a:rPr>
                        <a:t>ESM-2</a:t>
                      </a:r>
                      <a:endParaRPr lang="en-US" sz="1100" dirty="0">
                        <a:latin typeface="Baskerville" panose="02020502070401020303" pitchFamily="18" charset="0"/>
                        <a:ea typeface="Baskerville" panose="02020502070401020303" pitchFamily="18" charset="0"/>
                        <a:cs typeface="Calibri" charset="0"/>
                      </a:endParaRPr>
                    </a:p>
                  </a:txBody>
                  <a:tcPr>
                    <a:lnL w="6350" cap="flat" cmpd="sng" algn="ctr">
                      <a:solidFill>
                        <a:srgbClr val="D8E2F0"/>
                      </a:solidFill>
                      <a:prstDash val="solid"/>
                      <a:round/>
                      <a:headEnd type="none" w="med" len="med"/>
                      <a:tailEnd type="none" w="med" len="med"/>
                    </a:lnL>
                    <a:lnR w="6350" cap="flat" cmpd="sng" algn="ctr">
                      <a:solidFill>
                        <a:srgbClr val="D8E2F0"/>
                      </a:solidFill>
                      <a:prstDash val="solid"/>
                      <a:round/>
                      <a:headEnd type="none" w="med" len="med"/>
                      <a:tailEnd type="none" w="med" len="med"/>
                    </a:lnR>
                    <a:lnT w="6350" cap="flat" cmpd="sng" algn="ctr">
                      <a:solidFill>
                        <a:srgbClr val="D8E2F0"/>
                      </a:solidFill>
                      <a:prstDash val="solid"/>
                      <a:round/>
                      <a:headEnd type="none" w="med" len="med"/>
                      <a:tailEnd type="none" w="med" len="med"/>
                    </a:lnT>
                    <a:lnB w="6350" cap="flat" cmpd="sng" algn="ctr">
                      <a:solidFill>
                        <a:srgbClr val="D8E2F0"/>
                      </a:solidFill>
                      <a:prstDash val="solid"/>
                      <a:round/>
                      <a:headEnd type="none" w="med" len="med"/>
                      <a:tailEnd type="none" w="med" len="med"/>
                    </a:lnB>
                    <a:solidFill>
                      <a:srgbClr val="FFFFFF"/>
                    </a:solidFill>
                  </a:tcPr>
                </a:tc>
                <a:tc>
                  <a:txBody>
                    <a:bodyPr/>
                    <a:lstStyle/>
                    <a:p>
                      <a:pPr marL="0" indent="0" algn="l">
                        <a:buNone/>
                      </a:pPr>
                      <a:r>
                        <a:rPr lang="en-US" sz="1100" dirty="0">
                          <a:solidFill>
                            <a:srgbClr val="333355"/>
                          </a:solidFill>
                          <a:latin typeface="Baskerville" panose="02020502070401020303" pitchFamily="18" charset="0"/>
                          <a:ea typeface="Baskerville" panose="02020502070401020303" pitchFamily="18" charset="0"/>
                          <a:cs typeface="Calibri" pitchFamily="34" charset="-120"/>
                        </a:rPr>
                        <a:t>Linear SVM</a:t>
                      </a:r>
                      <a:endParaRPr lang="en-US" sz="1100" dirty="0">
                        <a:latin typeface="Baskerville" panose="02020502070401020303" pitchFamily="18" charset="0"/>
                        <a:ea typeface="Baskerville" panose="02020502070401020303" pitchFamily="18" charset="0"/>
                        <a:cs typeface="Calibri" charset="0"/>
                      </a:endParaRPr>
                    </a:p>
                  </a:txBody>
                  <a:tcPr>
                    <a:lnL w="6350" cap="flat" cmpd="sng" algn="ctr">
                      <a:solidFill>
                        <a:srgbClr val="D8E2F0"/>
                      </a:solidFill>
                      <a:prstDash val="solid"/>
                      <a:round/>
                      <a:headEnd type="none" w="med" len="med"/>
                      <a:tailEnd type="none" w="med" len="med"/>
                    </a:lnL>
                    <a:lnR w="6350" cap="flat" cmpd="sng" algn="ctr">
                      <a:solidFill>
                        <a:srgbClr val="D8E2F0"/>
                      </a:solidFill>
                      <a:prstDash val="solid"/>
                      <a:round/>
                      <a:headEnd type="none" w="med" len="med"/>
                      <a:tailEnd type="none" w="med" len="med"/>
                    </a:lnR>
                    <a:lnT w="6350" cap="flat" cmpd="sng" algn="ctr">
                      <a:solidFill>
                        <a:srgbClr val="D8E2F0"/>
                      </a:solidFill>
                      <a:prstDash val="solid"/>
                      <a:round/>
                      <a:headEnd type="none" w="med" len="med"/>
                      <a:tailEnd type="none" w="med" len="med"/>
                    </a:lnT>
                    <a:lnB w="6350" cap="flat" cmpd="sng" algn="ctr">
                      <a:solidFill>
                        <a:srgbClr val="D8E2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55"/>
                          </a:solidFill>
                          <a:latin typeface="Baskerville" panose="02020502070401020303" pitchFamily="18" charset="0"/>
                          <a:ea typeface="Baskerville" panose="02020502070401020303" pitchFamily="18" charset="0"/>
                          <a:cs typeface="Calibri" pitchFamily="34" charset="-120"/>
                        </a:rPr>
                        <a:t>0.987</a:t>
                      </a:r>
                      <a:endParaRPr lang="en-US" sz="1100" dirty="0">
                        <a:latin typeface="Baskerville" panose="02020502070401020303" pitchFamily="18" charset="0"/>
                        <a:ea typeface="Baskerville" panose="02020502070401020303" pitchFamily="18" charset="0"/>
                        <a:cs typeface="Calibri" charset="0"/>
                      </a:endParaRPr>
                    </a:p>
                  </a:txBody>
                  <a:tcPr>
                    <a:lnL w="6350" cap="flat" cmpd="sng" algn="ctr">
                      <a:solidFill>
                        <a:srgbClr val="D8E2F0"/>
                      </a:solidFill>
                      <a:prstDash val="solid"/>
                      <a:round/>
                      <a:headEnd type="none" w="med" len="med"/>
                      <a:tailEnd type="none" w="med" len="med"/>
                    </a:lnL>
                    <a:lnR w="6350" cap="flat" cmpd="sng" algn="ctr">
                      <a:solidFill>
                        <a:srgbClr val="D8E2F0"/>
                      </a:solidFill>
                      <a:prstDash val="solid"/>
                      <a:round/>
                      <a:headEnd type="none" w="med" len="med"/>
                      <a:tailEnd type="none" w="med" len="med"/>
                    </a:lnR>
                    <a:lnT w="6350" cap="flat" cmpd="sng" algn="ctr">
                      <a:solidFill>
                        <a:srgbClr val="D8E2F0"/>
                      </a:solidFill>
                      <a:prstDash val="solid"/>
                      <a:round/>
                      <a:headEnd type="none" w="med" len="med"/>
                      <a:tailEnd type="none" w="med" len="med"/>
                    </a:lnT>
                    <a:lnB w="6350" cap="flat" cmpd="sng" algn="ctr">
                      <a:solidFill>
                        <a:srgbClr val="D8E2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55"/>
                          </a:solidFill>
                          <a:latin typeface="Baskerville" panose="02020502070401020303" pitchFamily="18" charset="0"/>
                          <a:ea typeface="Baskerville" panose="02020502070401020303" pitchFamily="18" charset="0"/>
                          <a:cs typeface="Calibri" pitchFamily="34" charset="-120"/>
                        </a:rPr>
                        <a:t>0.989</a:t>
                      </a:r>
                      <a:endParaRPr lang="en-US" sz="1100" dirty="0">
                        <a:latin typeface="Baskerville" panose="02020502070401020303" pitchFamily="18" charset="0"/>
                        <a:ea typeface="Baskerville" panose="02020502070401020303" pitchFamily="18" charset="0"/>
                        <a:cs typeface="Calibri" charset="0"/>
                      </a:endParaRPr>
                    </a:p>
                  </a:txBody>
                  <a:tcPr>
                    <a:lnL w="6350" cap="flat" cmpd="sng" algn="ctr">
                      <a:solidFill>
                        <a:srgbClr val="D8E2F0"/>
                      </a:solidFill>
                      <a:prstDash val="solid"/>
                      <a:round/>
                      <a:headEnd type="none" w="med" len="med"/>
                      <a:tailEnd type="none" w="med" len="med"/>
                    </a:lnL>
                    <a:lnR w="6350" cap="flat" cmpd="sng" algn="ctr">
                      <a:solidFill>
                        <a:srgbClr val="D8E2F0"/>
                      </a:solidFill>
                      <a:prstDash val="solid"/>
                      <a:round/>
                      <a:headEnd type="none" w="med" len="med"/>
                      <a:tailEnd type="none" w="med" len="med"/>
                    </a:lnR>
                    <a:lnT w="6350" cap="flat" cmpd="sng" algn="ctr">
                      <a:solidFill>
                        <a:srgbClr val="D8E2F0"/>
                      </a:solidFill>
                      <a:prstDash val="solid"/>
                      <a:round/>
                      <a:headEnd type="none" w="med" len="med"/>
                      <a:tailEnd type="none" w="med" len="med"/>
                    </a:lnT>
                    <a:lnB w="6350" cap="flat" cmpd="sng" algn="ctr">
                      <a:solidFill>
                        <a:srgbClr val="D8E2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47472">
                <a:tc>
                  <a:txBody>
                    <a:bodyPr/>
                    <a:lstStyle/>
                    <a:p>
                      <a:pPr marL="0" indent="0" algn="l">
                        <a:buNone/>
                      </a:pPr>
                      <a:r>
                        <a:rPr lang="en-US" sz="1100" b="1" dirty="0">
                          <a:solidFill>
                            <a:srgbClr val="FFFFFF"/>
                          </a:solidFill>
                          <a:latin typeface="Baskerville" panose="02020502070401020303" pitchFamily="18" charset="0"/>
                          <a:ea typeface="Baskerville" panose="02020502070401020303" pitchFamily="18" charset="0"/>
                          <a:cs typeface="Calibri" pitchFamily="34" charset="-120"/>
                        </a:rPr>
                        <a:t>ProtBERT ★</a:t>
                      </a:r>
                      <a:endParaRPr lang="en-US" sz="1100" dirty="0">
                        <a:latin typeface="Baskerville" panose="02020502070401020303" pitchFamily="18" charset="0"/>
                        <a:ea typeface="Baskerville" panose="02020502070401020303" pitchFamily="18" charset="0"/>
                        <a:cs typeface="Calibri" charset="0"/>
                      </a:endParaRPr>
                    </a:p>
                  </a:txBody>
                  <a:tcPr>
                    <a:lnL w="6350" cap="flat" cmpd="sng" algn="ctr">
                      <a:solidFill>
                        <a:srgbClr val="D8E2F0"/>
                      </a:solidFill>
                      <a:prstDash val="solid"/>
                      <a:round/>
                      <a:headEnd type="none" w="med" len="med"/>
                      <a:tailEnd type="none" w="med" len="med"/>
                    </a:lnL>
                    <a:lnR w="6350" cap="flat" cmpd="sng" algn="ctr">
                      <a:solidFill>
                        <a:srgbClr val="D8E2F0"/>
                      </a:solidFill>
                      <a:prstDash val="solid"/>
                      <a:round/>
                      <a:headEnd type="none" w="med" len="med"/>
                      <a:tailEnd type="none" w="med" len="med"/>
                    </a:lnR>
                    <a:lnT w="6350" cap="flat" cmpd="sng" algn="ctr">
                      <a:solidFill>
                        <a:srgbClr val="D8E2F0"/>
                      </a:solidFill>
                      <a:prstDash val="solid"/>
                      <a:round/>
                      <a:headEnd type="none" w="med" len="med"/>
                      <a:tailEnd type="none" w="med" len="med"/>
                    </a:lnT>
                    <a:lnB w="6350" cap="flat" cmpd="sng" algn="ctr">
                      <a:solidFill>
                        <a:srgbClr val="D8E2F0"/>
                      </a:solidFill>
                      <a:prstDash val="solid"/>
                      <a:round/>
                      <a:headEnd type="none" w="med" len="med"/>
                      <a:tailEnd type="none" w="med" len="med"/>
                    </a:lnB>
                    <a:solidFill>
                      <a:srgbClr val="1B7B8A"/>
                    </a:solidFill>
                  </a:tcPr>
                </a:tc>
                <a:tc>
                  <a:txBody>
                    <a:bodyPr/>
                    <a:lstStyle/>
                    <a:p>
                      <a:pPr marL="0" indent="0" algn="l">
                        <a:buNone/>
                      </a:pPr>
                      <a:r>
                        <a:rPr lang="en-US" sz="1100" b="1" dirty="0">
                          <a:solidFill>
                            <a:srgbClr val="FFFFFF"/>
                          </a:solidFill>
                          <a:latin typeface="Baskerville" panose="02020502070401020303" pitchFamily="18" charset="0"/>
                          <a:ea typeface="Baskerville" panose="02020502070401020303" pitchFamily="18" charset="0"/>
                          <a:cs typeface="Calibri" pitchFamily="34" charset="-120"/>
                        </a:rPr>
                        <a:t>Linear SVM</a:t>
                      </a:r>
                      <a:endParaRPr lang="en-US" sz="1100" dirty="0">
                        <a:latin typeface="Baskerville" panose="02020502070401020303" pitchFamily="18" charset="0"/>
                        <a:ea typeface="Baskerville" panose="02020502070401020303" pitchFamily="18" charset="0"/>
                        <a:cs typeface="Calibri" charset="0"/>
                      </a:endParaRPr>
                    </a:p>
                  </a:txBody>
                  <a:tcPr>
                    <a:lnL w="6350" cap="flat" cmpd="sng" algn="ctr">
                      <a:solidFill>
                        <a:srgbClr val="D8E2F0"/>
                      </a:solidFill>
                      <a:prstDash val="solid"/>
                      <a:round/>
                      <a:headEnd type="none" w="med" len="med"/>
                      <a:tailEnd type="none" w="med" len="med"/>
                    </a:lnL>
                    <a:lnR w="6350" cap="flat" cmpd="sng" algn="ctr">
                      <a:solidFill>
                        <a:srgbClr val="D8E2F0"/>
                      </a:solidFill>
                      <a:prstDash val="solid"/>
                      <a:round/>
                      <a:headEnd type="none" w="med" len="med"/>
                      <a:tailEnd type="none" w="med" len="med"/>
                    </a:lnR>
                    <a:lnT w="6350" cap="flat" cmpd="sng" algn="ctr">
                      <a:solidFill>
                        <a:srgbClr val="D8E2F0"/>
                      </a:solidFill>
                      <a:prstDash val="solid"/>
                      <a:round/>
                      <a:headEnd type="none" w="med" len="med"/>
                      <a:tailEnd type="none" w="med" len="med"/>
                    </a:lnT>
                    <a:lnB w="6350" cap="flat" cmpd="sng" algn="ctr">
                      <a:solidFill>
                        <a:srgbClr val="D8E2F0"/>
                      </a:solidFill>
                      <a:prstDash val="solid"/>
                      <a:round/>
                      <a:headEnd type="none" w="med" len="med"/>
                      <a:tailEnd type="none" w="med" len="med"/>
                    </a:lnB>
                    <a:solidFill>
                      <a:srgbClr val="1B7B8A"/>
                    </a:solidFill>
                  </a:tcPr>
                </a:tc>
                <a:tc>
                  <a:txBody>
                    <a:bodyPr/>
                    <a:lstStyle/>
                    <a:p>
                      <a:pPr marL="0" indent="0" algn="ctr">
                        <a:buNone/>
                      </a:pPr>
                      <a:r>
                        <a:rPr lang="en-US" sz="1100" b="1" dirty="0">
                          <a:solidFill>
                            <a:srgbClr val="FFFFFF"/>
                          </a:solidFill>
                          <a:latin typeface="Baskerville" panose="02020502070401020303" pitchFamily="18" charset="0"/>
                          <a:ea typeface="Baskerville" panose="02020502070401020303" pitchFamily="18" charset="0"/>
                          <a:cs typeface="Calibri" pitchFamily="34" charset="-120"/>
                        </a:rPr>
                        <a:t>0.991</a:t>
                      </a:r>
                      <a:endParaRPr lang="en-US" sz="1100" dirty="0">
                        <a:latin typeface="Baskerville" panose="02020502070401020303" pitchFamily="18" charset="0"/>
                        <a:ea typeface="Baskerville" panose="02020502070401020303" pitchFamily="18" charset="0"/>
                        <a:cs typeface="Calibri" charset="0"/>
                      </a:endParaRPr>
                    </a:p>
                  </a:txBody>
                  <a:tcPr>
                    <a:lnL w="6350" cap="flat" cmpd="sng" algn="ctr">
                      <a:solidFill>
                        <a:srgbClr val="D8E2F0"/>
                      </a:solidFill>
                      <a:prstDash val="solid"/>
                      <a:round/>
                      <a:headEnd type="none" w="med" len="med"/>
                      <a:tailEnd type="none" w="med" len="med"/>
                    </a:lnL>
                    <a:lnR w="6350" cap="flat" cmpd="sng" algn="ctr">
                      <a:solidFill>
                        <a:srgbClr val="D8E2F0"/>
                      </a:solidFill>
                      <a:prstDash val="solid"/>
                      <a:round/>
                      <a:headEnd type="none" w="med" len="med"/>
                      <a:tailEnd type="none" w="med" len="med"/>
                    </a:lnR>
                    <a:lnT w="6350" cap="flat" cmpd="sng" algn="ctr">
                      <a:solidFill>
                        <a:srgbClr val="D8E2F0"/>
                      </a:solidFill>
                      <a:prstDash val="solid"/>
                      <a:round/>
                      <a:headEnd type="none" w="med" len="med"/>
                      <a:tailEnd type="none" w="med" len="med"/>
                    </a:lnT>
                    <a:lnB w="6350" cap="flat" cmpd="sng" algn="ctr">
                      <a:solidFill>
                        <a:srgbClr val="D8E2F0"/>
                      </a:solidFill>
                      <a:prstDash val="solid"/>
                      <a:round/>
                      <a:headEnd type="none" w="med" len="med"/>
                      <a:tailEnd type="none" w="med" len="med"/>
                    </a:lnB>
                    <a:solidFill>
                      <a:srgbClr val="1B7B8A"/>
                    </a:solidFill>
                  </a:tcPr>
                </a:tc>
                <a:tc>
                  <a:txBody>
                    <a:bodyPr/>
                    <a:lstStyle/>
                    <a:p>
                      <a:pPr marL="0" indent="0" algn="ctr">
                        <a:buNone/>
                      </a:pPr>
                      <a:r>
                        <a:rPr lang="en-US" sz="1100" b="1" dirty="0">
                          <a:solidFill>
                            <a:srgbClr val="FFFFFF"/>
                          </a:solidFill>
                          <a:latin typeface="Baskerville" panose="02020502070401020303" pitchFamily="18" charset="0"/>
                          <a:ea typeface="Baskerville" panose="02020502070401020303" pitchFamily="18" charset="0"/>
                          <a:cs typeface="Calibri" pitchFamily="34" charset="-120"/>
                        </a:rPr>
                        <a:t>0.992</a:t>
                      </a:r>
                      <a:endParaRPr lang="en-US" sz="1100" dirty="0">
                        <a:latin typeface="Baskerville" panose="02020502070401020303" pitchFamily="18" charset="0"/>
                        <a:ea typeface="Baskerville" panose="02020502070401020303" pitchFamily="18" charset="0"/>
                        <a:cs typeface="Calibri" charset="0"/>
                      </a:endParaRPr>
                    </a:p>
                  </a:txBody>
                  <a:tcPr>
                    <a:lnL w="6350" cap="flat" cmpd="sng" algn="ctr">
                      <a:solidFill>
                        <a:srgbClr val="D8E2F0"/>
                      </a:solidFill>
                      <a:prstDash val="solid"/>
                      <a:round/>
                      <a:headEnd type="none" w="med" len="med"/>
                      <a:tailEnd type="none" w="med" len="med"/>
                    </a:lnL>
                    <a:lnR w="6350" cap="flat" cmpd="sng" algn="ctr">
                      <a:solidFill>
                        <a:srgbClr val="D8E2F0"/>
                      </a:solidFill>
                      <a:prstDash val="solid"/>
                      <a:round/>
                      <a:headEnd type="none" w="med" len="med"/>
                      <a:tailEnd type="none" w="med" len="med"/>
                    </a:lnR>
                    <a:lnT w="6350" cap="flat" cmpd="sng" algn="ctr">
                      <a:solidFill>
                        <a:srgbClr val="D8E2F0"/>
                      </a:solidFill>
                      <a:prstDash val="solid"/>
                      <a:round/>
                      <a:headEnd type="none" w="med" len="med"/>
                      <a:tailEnd type="none" w="med" len="med"/>
                    </a:lnT>
                    <a:lnB w="6350" cap="flat" cmpd="sng" algn="ctr">
                      <a:solidFill>
                        <a:srgbClr val="D8E2F0"/>
                      </a:solidFill>
                      <a:prstDash val="solid"/>
                      <a:round/>
                      <a:headEnd type="none" w="med" len="med"/>
                      <a:tailEnd type="none" w="med" len="med"/>
                    </a:lnB>
                    <a:solidFill>
                      <a:srgbClr val="1B7B8A"/>
                    </a:solidFill>
                  </a:tcPr>
                </a:tc>
                <a:extLst>
                  <a:ext uri="{0D108BD9-81ED-4DB2-BD59-A6C34878D82A}">
                    <a16:rowId xmlns:a16="http://schemas.microsoft.com/office/drawing/2014/main" val="10005"/>
                  </a:ext>
                </a:extLst>
              </a:tr>
            </a:tbl>
          </a:graphicData>
        </a:graphic>
      </p:graphicFrame>
      <p:sp>
        <p:nvSpPr>
          <p:cNvPr id="5" name="Shape 2"/>
          <p:cNvSpPr/>
          <p:nvPr/>
        </p:nvSpPr>
        <p:spPr>
          <a:xfrm>
            <a:off x="5577840" y="804672"/>
            <a:ext cx="1600200" cy="1097280"/>
          </a:xfrm>
          <a:prstGeom prst="rect">
            <a:avLst/>
          </a:prstGeom>
          <a:solidFill>
            <a:srgbClr val="E8FAF4"/>
          </a:solidFill>
          <a:ln w="12700">
            <a:solidFill>
              <a:srgbClr val="2451B7"/>
            </a:solidFill>
            <a:prstDash val="solid"/>
          </a:ln>
          <a:effectLst>
            <a:outerShdw blurRad="101600" dist="38100" dir="8100000" algn="bl" rotWithShape="0">
              <a:srgbClr val="000000">
                <a:alpha val="18000"/>
              </a:srgbClr>
            </a:outerShdw>
          </a:effectLst>
        </p:spPr>
        <p:txBody>
          <a:bodyPr/>
          <a:lstStyle/>
          <a:p>
            <a:endParaRPr lang="en-US">
              <a:latin typeface="Baskerville" panose="02020502070401020303" pitchFamily="18" charset="0"/>
              <a:ea typeface="Baskerville" panose="02020502070401020303" pitchFamily="18" charset="0"/>
            </a:endParaRPr>
          </a:p>
        </p:txBody>
      </p:sp>
      <p:sp>
        <p:nvSpPr>
          <p:cNvPr id="6" name="Text 3"/>
          <p:cNvSpPr/>
          <p:nvPr/>
        </p:nvSpPr>
        <p:spPr>
          <a:xfrm>
            <a:off x="5577840" y="877824"/>
            <a:ext cx="1600200" cy="603504"/>
          </a:xfrm>
          <a:prstGeom prst="rect">
            <a:avLst/>
          </a:prstGeom>
          <a:noFill/>
          <a:ln/>
        </p:spPr>
        <p:txBody>
          <a:bodyPr wrap="square" rtlCol="0" anchor="b"/>
          <a:lstStyle/>
          <a:p>
            <a:pPr marL="0" indent="0" algn="ctr">
              <a:buNone/>
            </a:pPr>
            <a:r>
              <a:rPr lang="en-US" sz="2600" b="1" dirty="0">
                <a:solidFill>
                  <a:srgbClr val="1B7B8A"/>
                </a:solidFill>
                <a:latin typeface="Baskerville" panose="02020502070401020303" pitchFamily="18" charset="0"/>
                <a:ea typeface="Baskerville" panose="02020502070401020303" pitchFamily="18" charset="0"/>
                <a:cs typeface="Calibri" pitchFamily="34" charset="-120"/>
              </a:rPr>
              <a:t>99.1%</a:t>
            </a:r>
            <a:endParaRPr lang="en-US" sz="2600" dirty="0">
              <a:latin typeface="Baskerville" panose="02020502070401020303" pitchFamily="18" charset="0"/>
              <a:ea typeface="Baskerville" panose="02020502070401020303" pitchFamily="18" charset="0"/>
            </a:endParaRPr>
          </a:p>
        </p:txBody>
      </p:sp>
      <p:sp>
        <p:nvSpPr>
          <p:cNvPr id="4" name="Text 4"/>
          <p:cNvSpPr/>
          <p:nvPr/>
        </p:nvSpPr>
        <p:spPr>
          <a:xfrm>
            <a:off x="5577840" y="1441094"/>
            <a:ext cx="1600200" cy="416966"/>
          </a:xfrm>
          <a:prstGeom prst="rect">
            <a:avLst/>
          </a:prstGeom>
          <a:noFill/>
          <a:ln/>
        </p:spPr>
        <p:txBody>
          <a:bodyPr wrap="square" rtlCol="0" anchor="t"/>
          <a:lstStyle/>
          <a:p>
            <a:pPr marL="0" indent="0" algn="ctr">
              <a:buNone/>
            </a:pPr>
            <a:r>
              <a:rPr lang="en-US" sz="1000" dirty="0">
                <a:solidFill>
                  <a:srgbClr val="8BA4CC"/>
                </a:solidFill>
                <a:latin typeface="Baskerville" panose="02020502070401020303" pitchFamily="18" charset="0"/>
                <a:ea typeface="Baskerville" panose="02020502070401020303" pitchFamily="18" charset="0"/>
                <a:cs typeface="Calibri" pitchFamily="34" charset="-120"/>
              </a:rPr>
              <a:t>Best Accuracy</a:t>
            </a:r>
            <a:endParaRPr lang="en-US" sz="1000" dirty="0">
              <a:latin typeface="Baskerville" panose="02020502070401020303" pitchFamily="18" charset="0"/>
              <a:ea typeface="Baskerville" panose="02020502070401020303" pitchFamily="18" charset="0"/>
            </a:endParaRPr>
          </a:p>
          <a:p>
            <a:pPr marL="0" indent="0" algn="ctr">
              <a:buNone/>
            </a:pPr>
            <a:r>
              <a:rPr lang="en-US" sz="1000" dirty="0">
                <a:solidFill>
                  <a:srgbClr val="8BA4CC"/>
                </a:solidFill>
                <a:latin typeface="Baskerville" panose="02020502070401020303" pitchFamily="18" charset="0"/>
                <a:ea typeface="Baskerville" panose="02020502070401020303" pitchFamily="18" charset="0"/>
                <a:cs typeface="Calibri" pitchFamily="34" charset="-120"/>
              </a:rPr>
              <a:t>(ProtBERT + Linear SVM)</a:t>
            </a:r>
            <a:endParaRPr lang="en-US" sz="1000" dirty="0">
              <a:latin typeface="Baskerville" panose="02020502070401020303" pitchFamily="18" charset="0"/>
              <a:ea typeface="Baskerville" panose="02020502070401020303" pitchFamily="18" charset="0"/>
            </a:endParaRPr>
          </a:p>
        </p:txBody>
      </p:sp>
      <p:sp>
        <p:nvSpPr>
          <p:cNvPr id="8" name="Shape 5"/>
          <p:cNvSpPr/>
          <p:nvPr/>
        </p:nvSpPr>
        <p:spPr>
          <a:xfrm>
            <a:off x="7315200" y="804672"/>
            <a:ext cx="1600200" cy="1097280"/>
          </a:xfrm>
          <a:prstGeom prst="rect">
            <a:avLst/>
          </a:prstGeom>
          <a:solidFill>
            <a:srgbClr val="FFF8E8"/>
          </a:solidFill>
          <a:ln w="12700">
            <a:solidFill>
              <a:srgbClr val="2451B7"/>
            </a:solidFill>
            <a:prstDash val="solid"/>
          </a:ln>
          <a:effectLst>
            <a:outerShdw blurRad="101600" dist="38100" dir="8100000" algn="bl" rotWithShape="0">
              <a:srgbClr val="000000">
                <a:alpha val="18000"/>
              </a:srgbClr>
            </a:outerShdw>
          </a:effectLst>
        </p:spPr>
        <p:txBody>
          <a:bodyPr/>
          <a:lstStyle/>
          <a:p>
            <a:endParaRPr lang="en-US">
              <a:latin typeface="Baskerville" panose="02020502070401020303" pitchFamily="18" charset="0"/>
              <a:ea typeface="Baskerville" panose="02020502070401020303" pitchFamily="18" charset="0"/>
            </a:endParaRPr>
          </a:p>
        </p:txBody>
      </p:sp>
      <p:sp>
        <p:nvSpPr>
          <p:cNvPr id="9" name="Text 6"/>
          <p:cNvSpPr/>
          <p:nvPr/>
        </p:nvSpPr>
        <p:spPr>
          <a:xfrm>
            <a:off x="7315200" y="877824"/>
            <a:ext cx="1600200" cy="603504"/>
          </a:xfrm>
          <a:prstGeom prst="rect">
            <a:avLst/>
          </a:prstGeom>
          <a:noFill/>
          <a:ln/>
        </p:spPr>
        <p:txBody>
          <a:bodyPr wrap="square" rtlCol="0" anchor="b"/>
          <a:lstStyle/>
          <a:p>
            <a:pPr marL="0" indent="0" algn="ctr">
              <a:buNone/>
            </a:pPr>
            <a:r>
              <a:rPr lang="en-US" sz="2600" b="1" dirty="0">
                <a:solidFill>
                  <a:srgbClr val="B07A10"/>
                </a:solidFill>
                <a:latin typeface="Baskerville" panose="02020502070401020303" pitchFamily="18" charset="0"/>
                <a:ea typeface="Baskerville" panose="02020502070401020303" pitchFamily="18" charset="0"/>
                <a:cs typeface="Calibri" pitchFamily="34" charset="-120"/>
              </a:rPr>
              <a:t>+7 pts</a:t>
            </a:r>
            <a:endParaRPr lang="en-US" sz="2600" dirty="0">
              <a:latin typeface="Baskerville" panose="02020502070401020303" pitchFamily="18" charset="0"/>
              <a:ea typeface="Baskerville" panose="02020502070401020303" pitchFamily="18" charset="0"/>
            </a:endParaRPr>
          </a:p>
        </p:txBody>
      </p:sp>
      <p:sp>
        <p:nvSpPr>
          <p:cNvPr id="10" name="Text 7"/>
          <p:cNvSpPr/>
          <p:nvPr/>
        </p:nvSpPr>
        <p:spPr>
          <a:xfrm>
            <a:off x="7315200" y="1441094"/>
            <a:ext cx="1600200" cy="416966"/>
          </a:xfrm>
          <a:prstGeom prst="rect">
            <a:avLst/>
          </a:prstGeom>
          <a:noFill/>
          <a:ln/>
        </p:spPr>
        <p:txBody>
          <a:bodyPr wrap="square" rtlCol="0" anchor="t"/>
          <a:lstStyle/>
          <a:p>
            <a:pPr marL="0" indent="0" algn="ctr">
              <a:buNone/>
            </a:pPr>
            <a:r>
              <a:rPr lang="en-US" sz="1000" dirty="0">
                <a:solidFill>
                  <a:srgbClr val="8BA4CC"/>
                </a:solidFill>
                <a:latin typeface="Baskerville" panose="02020502070401020303" pitchFamily="18" charset="0"/>
                <a:ea typeface="Baskerville" panose="02020502070401020303" pitchFamily="18" charset="0"/>
                <a:cs typeface="Calibri" pitchFamily="34" charset="-120"/>
              </a:rPr>
              <a:t>Gain over</a:t>
            </a:r>
            <a:endParaRPr lang="en-US" sz="1000" dirty="0">
              <a:latin typeface="Baskerville" panose="02020502070401020303" pitchFamily="18" charset="0"/>
              <a:ea typeface="Baskerville" panose="02020502070401020303" pitchFamily="18" charset="0"/>
            </a:endParaRPr>
          </a:p>
          <a:p>
            <a:pPr marL="0" indent="0" algn="ctr">
              <a:buNone/>
            </a:pPr>
            <a:r>
              <a:rPr lang="en-US" sz="1000" dirty="0">
                <a:solidFill>
                  <a:srgbClr val="8BA4CC"/>
                </a:solidFill>
                <a:latin typeface="Baskerville" panose="02020502070401020303" pitchFamily="18" charset="0"/>
                <a:ea typeface="Baskerville" panose="02020502070401020303" pitchFamily="18" charset="0"/>
                <a:cs typeface="Calibri" pitchFamily="34" charset="-120"/>
              </a:rPr>
              <a:t>Hybrid baseline</a:t>
            </a:r>
            <a:endParaRPr lang="en-US" sz="1000" dirty="0">
              <a:latin typeface="Baskerville" panose="02020502070401020303" pitchFamily="18" charset="0"/>
              <a:ea typeface="Baskerville" panose="02020502070401020303" pitchFamily="18" charset="0"/>
            </a:endParaRPr>
          </a:p>
        </p:txBody>
      </p:sp>
      <p:sp>
        <p:nvSpPr>
          <p:cNvPr id="11" name="Shape 8"/>
          <p:cNvSpPr/>
          <p:nvPr/>
        </p:nvSpPr>
        <p:spPr>
          <a:xfrm>
            <a:off x="5577840" y="2011680"/>
            <a:ext cx="1600200" cy="1005840"/>
          </a:xfrm>
          <a:prstGeom prst="rect">
            <a:avLst/>
          </a:prstGeom>
          <a:solidFill>
            <a:srgbClr val="E8FAF4"/>
          </a:solidFill>
          <a:ln w="12700">
            <a:solidFill>
              <a:srgbClr val="2451B7"/>
            </a:solidFill>
            <a:prstDash val="solid"/>
          </a:ln>
          <a:effectLst>
            <a:outerShdw blurRad="101600" dist="38100" dir="8100000" algn="bl" rotWithShape="0">
              <a:srgbClr val="000000">
                <a:alpha val="18000"/>
              </a:srgbClr>
            </a:outerShdw>
          </a:effectLst>
        </p:spPr>
        <p:txBody>
          <a:bodyPr/>
          <a:lstStyle/>
          <a:p>
            <a:endParaRPr lang="en-US">
              <a:latin typeface="Baskerville" panose="02020502070401020303" pitchFamily="18" charset="0"/>
              <a:ea typeface="Baskerville" panose="02020502070401020303" pitchFamily="18" charset="0"/>
            </a:endParaRPr>
          </a:p>
        </p:txBody>
      </p:sp>
      <p:sp>
        <p:nvSpPr>
          <p:cNvPr id="12" name="Text 9"/>
          <p:cNvSpPr/>
          <p:nvPr/>
        </p:nvSpPr>
        <p:spPr>
          <a:xfrm>
            <a:off x="5577840" y="2084832"/>
            <a:ext cx="1600200" cy="553212"/>
          </a:xfrm>
          <a:prstGeom prst="rect">
            <a:avLst/>
          </a:prstGeom>
          <a:noFill/>
          <a:ln/>
        </p:spPr>
        <p:txBody>
          <a:bodyPr wrap="square" rtlCol="0" anchor="b"/>
          <a:lstStyle/>
          <a:p>
            <a:pPr marL="0" indent="0" algn="ctr">
              <a:buNone/>
            </a:pPr>
            <a:r>
              <a:rPr lang="en-US" sz="2600" b="1" dirty="0">
                <a:solidFill>
                  <a:srgbClr val="1B7B8A"/>
                </a:solidFill>
                <a:latin typeface="Baskerville" panose="02020502070401020303" pitchFamily="18" charset="0"/>
                <a:ea typeface="Baskerville" panose="02020502070401020303" pitchFamily="18" charset="0"/>
                <a:cs typeface="Calibri" pitchFamily="34" charset="-120"/>
              </a:rPr>
              <a:t>Linear</a:t>
            </a:r>
            <a:endParaRPr lang="en-US" sz="2600" dirty="0">
              <a:latin typeface="Baskerville" panose="02020502070401020303" pitchFamily="18" charset="0"/>
              <a:ea typeface="Baskerville" panose="02020502070401020303" pitchFamily="18" charset="0"/>
            </a:endParaRPr>
          </a:p>
          <a:p>
            <a:pPr marL="0" indent="0" algn="ctr">
              <a:buNone/>
            </a:pPr>
            <a:r>
              <a:rPr lang="en-US" sz="2600" b="1" dirty="0">
                <a:solidFill>
                  <a:srgbClr val="1B7B8A"/>
                </a:solidFill>
                <a:latin typeface="Baskerville" panose="02020502070401020303" pitchFamily="18" charset="0"/>
                <a:ea typeface="Baskerville" panose="02020502070401020303" pitchFamily="18" charset="0"/>
                <a:cs typeface="Calibri" pitchFamily="34" charset="-120"/>
              </a:rPr>
              <a:t>SVM</a:t>
            </a:r>
            <a:endParaRPr lang="en-US" sz="2600" dirty="0">
              <a:latin typeface="Baskerville" panose="02020502070401020303" pitchFamily="18" charset="0"/>
              <a:ea typeface="Baskerville" panose="02020502070401020303" pitchFamily="18" charset="0"/>
            </a:endParaRPr>
          </a:p>
        </p:txBody>
      </p:sp>
      <p:sp>
        <p:nvSpPr>
          <p:cNvPr id="13" name="Text 10"/>
          <p:cNvSpPr/>
          <p:nvPr/>
        </p:nvSpPr>
        <p:spPr>
          <a:xfrm>
            <a:off x="5577840" y="2595067"/>
            <a:ext cx="1600200" cy="382219"/>
          </a:xfrm>
          <a:prstGeom prst="rect">
            <a:avLst/>
          </a:prstGeom>
          <a:noFill/>
          <a:ln/>
        </p:spPr>
        <p:txBody>
          <a:bodyPr wrap="square" rtlCol="0" anchor="t"/>
          <a:lstStyle/>
          <a:p>
            <a:pPr marL="0" indent="0" algn="ctr">
              <a:buNone/>
            </a:pPr>
            <a:r>
              <a:rPr lang="en-US" sz="1000" dirty="0">
                <a:solidFill>
                  <a:srgbClr val="8BA4CC"/>
                </a:solidFill>
                <a:latin typeface="Baskerville" panose="02020502070401020303" pitchFamily="18" charset="0"/>
                <a:ea typeface="Baskerville" panose="02020502070401020303" pitchFamily="18" charset="0"/>
                <a:cs typeface="Calibri" pitchFamily="34" charset="-120"/>
              </a:rPr>
              <a:t>Classifier —</a:t>
            </a:r>
            <a:endParaRPr lang="en-US" sz="1000" dirty="0">
              <a:latin typeface="Baskerville" panose="02020502070401020303" pitchFamily="18" charset="0"/>
              <a:ea typeface="Baskerville" panose="02020502070401020303" pitchFamily="18" charset="0"/>
            </a:endParaRPr>
          </a:p>
          <a:p>
            <a:pPr marL="0" indent="0" algn="ctr">
              <a:buNone/>
            </a:pPr>
            <a:r>
              <a:rPr lang="en-US" sz="1000" dirty="0">
                <a:solidFill>
                  <a:srgbClr val="8BA4CC"/>
                </a:solidFill>
                <a:latin typeface="Baskerville" panose="02020502070401020303" pitchFamily="18" charset="0"/>
                <a:ea typeface="Baskerville" panose="02020502070401020303" pitchFamily="18" charset="0"/>
                <a:cs typeface="Calibri" pitchFamily="34" charset="-120"/>
              </a:rPr>
              <a:t>linear separability</a:t>
            </a:r>
            <a:endParaRPr lang="en-US" sz="1000" dirty="0">
              <a:latin typeface="Baskerville" panose="02020502070401020303" pitchFamily="18" charset="0"/>
              <a:ea typeface="Baskerville" panose="02020502070401020303" pitchFamily="18" charset="0"/>
            </a:endParaRPr>
          </a:p>
        </p:txBody>
      </p:sp>
      <p:sp>
        <p:nvSpPr>
          <p:cNvPr id="14" name="Shape 11"/>
          <p:cNvSpPr/>
          <p:nvPr/>
        </p:nvSpPr>
        <p:spPr>
          <a:xfrm>
            <a:off x="7315200" y="2011680"/>
            <a:ext cx="1600200" cy="1005840"/>
          </a:xfrm>
          <a:prstGeom prst="rect">
            <a:avLst/>
          </a:prstGeom>
          <a:solidFill>
            <a:srgbClr val="E8F0FE"/>
          </a:solidFill>
          <a:ln w="12700">
            <a:solidFill>
              <a:srgbClr val="2451B7"/>
            </a:solidFill>
            <a:prstDash val="solid"/>
          </a:ln>
          <a:effectLst>
            <a:outerShdw blurRad="101600" dist="38100" dir="8100000" algn="bl" rotWithShape="0">
              <a:srgbClr val="000000">
                <a:alpha val="18000"/>
              </a:srgbClr>
            </a:outerShdw>
          </a:effectLst>
        </p:spPr>
        <p:txBody>
          <a:bodyPr/>
          <a:lstStyle/>
          <a:p>
            <a:endParaRPr lang="en-US">
              <a:latin typeface="Baskerville" panose="02020502070401020303" pitchFamily="18" charset="0"/>
              <a:ea typeface="Baskerville" panose="02020502070401020303" pitchFamily="18" charset="0"/>
            </a:endParaRPr>
          </a:p>
        </p:txBody>
      </p:sp>
      <p:sp>
        <p:nvSpPr>
          <p:cNvPr id="15" name="Text 12"/>
          <p:cNvSpPr/>
          <p:nvPr/>
        </p:nvSpPr>
        <p:spPr>
          <a:xfrm>
            <a:off x="7315200" y="2084832"/>
            <a:ext cx="1600200" cy="553212"/>
          </a:xfrm>
          <a:prstGeom prst="rect">
            <a:avLst/>
          </a:prstGeom>
          <a:noFill/>
          <a:ln/>
        </p:spPr>
        <p:txBody>
          <a:bodyPr wrap="square" rtlCol="0" anchor="b"/>
          <a:lstStyle/>
          <a:p>
            <a:pPr marL="0" indent="0" algn="ctr">
              <a:buNone/>
            </a:pPr>
            <a:r>
              <a:rPr lang="en-US" sz="2600" b="1" dirty="0">
                <a:solidFill>
                  <a:srgbClr val="1A3A8F"/>
                </a:solidFill>
                <a:latin typeface="Baskerville" panose="02020502070401020303" pitchFamily="18" charset="0"/>
                <a:ea typeface="Baskerville" panose="02020502070401020303" pitchFamily="18" charset="0"/>
                <a:cs typeface="Calibri" pitchFamily="34" charset="-120"/>
              </a:rPr>
              <a:t>420M</a:t>
            </a:r>
            <a:endParaRPr lang="en-US" sz="2600" dirty="0">
              <a:latin typeface="Baskerville" panose="02020502070401020303" pitchFamily="18" charset="0"/>
              <a:ea typeface="Baskerville" panose="02020502070401020303" pitchFamily="18" charset="0"/>
            </a:endParaRPr>
          </a:p>
        </p:txBody>
      </p:sp>
      <p:sp>
        <p:nvSpPr>
          <p:cNvPr id="16" name="Text 13"/>
          <p:cNvSpPr/>
          <p:nvPr/>
        </p:nvSpPr>
        <p:spPr>
          <a:xfrm>
            <a:off x="7315200" y="2595067"/>
            <a:ext cx="1600200" cy="382219"/>
          </a:xfrm>
          <a:prstGeom prst="rect">
            <a:avLst/>
          </a:prstGeom>
          <a:noFill/>
          <a:ln/>
        </p:spPr>
        <p:txBody>
          <a:bodyPr wrap="square" rtlCol="0" anchor="t"/>
          <a:lstStyle/>
          <a:p>
            <a:pPr marL="0" indent="0" algn="ctr">
              <a:buNone/>
            </a:pPr>
            <a:r>
              <a:rPr lang="en-US" sz="1000" dirty="0">
                <a:solidFill>
                  <a:srgbClr val="8BA4CC"/>
                </a:solidFill>
                <a:latin typeface="Baskerville" panose="02020502070401020303" pitchFamily="18" charset="0"/>
                <a:ea typeface="Baskerville" panose="02020502070401020303" pitchFamily="18" charset="0"/>
                <a:cs typeface="Calibri" pitchFamily="34" charset="-120"/>
              </a:rPr>
              <a:t>ProtBERT</a:t>
            </a:r>
            <a:endParaRPr lang="en-US" sz="1000" dirty="0">
              <a:latin typeface="Baskerville" panose="02020502070401020303" pitchFamily="18" charset="0"/>
              <a:ea typeface="Baskerville" panose="02020502070401020303" pitchFamily="18" charset="0"/>
            </a:endParaRPr>
          </a:p>
          <a:p>
            <a:pPr marL="0" indent="0" algn="ctr">
              <a:buNone/>
            </a:pPr>
            <a:r>
              <a:rPr lang="en-US" sz="1000" dirty="0">
                <a:solidFill>
                  <a:srgbClr val="8BA4CC"/>
                </a:solidFill>
                <a:latin typeface="Baskerville" panose="02020502070401020303" pitchFamily="18" charset="0"/>
                <a:ea typeface="Baskerville" panose="02020502070401020303" pitchFamily="18" charset="0"/>
                <a:cs typeface="Calibri" pitchFamily="34" charset="-120"/>
              </a:rPr>
              <a:t>Parameters</a:t>
            </a:r>
            <a:endParaRPr lang="en-US" sz="1000" dirty="0">
              <a:latin typeface="Baskerville" panose="02020502070401020303" pitchFamily="18" charset="0"/>
              <a:ea typeface="Baskerville" panose="02020502070401020303" pitchFamily="18" charset="0"/>
            </a:endParaRPr>
          </a:p>
        </p:txBody>
      </p:sp>
      <p:sp>
        <p:nvSpPr>
          <p:cNvPr id="17" name="Shape 14"/>
          <p:cNvSpPr/>
          <p:nvPr/>
        </p:nvSpPr>
        <p:spPr>
          <a:xfrm>
            <a:off x="274320" y="3127248"/>
            <a:ext cx="8595360" cy="914400"/>
          </a:xfrm>
          <a:prstGeom prst="rect">
            <a:avLst/>
          </a:prstGeom>
          <a:solidFill>
            <a:srgbClr val="0D1B4B"/>
          </a:solidFill>
          <a:ln w="12700">
            <a:solidFill>
              <a:srgbClr val="000000"/>
            </a:solidFill>
            <a:prstDash val="solid"/>
          </a:ln>
          <a:effectLst>
            <a:outerShdw blurRad="101600" dist="38100" dir="8100000" algn="bl" rotWithShape="0">
              <a:srgbClr val="000000">
                <a:alpha val="18000"/>
              </a:srgbClr>
            </a:outerShdw>
          </a:effectLst>
        </p:spPr>
        <p:txBody>
          <a:bodyPr/>
          <a:lstStyle/>
          <a:p>
            <a:endParaRPr lang="en-US">
              <a:latin typeface="Baskerville" panose="02020502070401020303" pitchFamily="18" charset="0"/>
              <a:ea typeface="Baskerville" panose="02020502070401020303" pitchFamily="18" charset="0"/>
            </a:endParaRPr>
          </a:p>
        </p:txBody>
      </p:sp>
      <p:sp>
        <p:nvSpPr>
          <p:cNvPr id="18" name="Text 15"/>
          <p:cNvSpPr/>
          <p:nvPr/>
        </p:nvSpPr>
        <p:spPr>
          <a:xfrm>
            <a:off x="411480" y="3145536"/>
            <a:ext cx="8321040" cy="877824"/>
          </a:xfrm>
          <a:prstGeom prst="rect">
            <a:avLst/>
          </a:prstGeom>
          <a:noFill/>
          <a:ln/>
        </p:spPr>
        <p:txBody>
          <a:bodyPr wrap="square" rtlCol="0" anchor="ctr"/>
          <a:lstStyle/>
          <a:p>
            <a:pPr marL="0" indent="0">
              <a:buNone/>
            </a:pPr>
            <a:r>
              <a:rPr lang="en-US" sz="1150" b="1" dirty="0">
                <a:solidFill>
                  <a:srgbClr val="E8A838"/>
                </a:solidFill>
                <a:latin typeface="Baskerville" panose="02020502070401020303" pitchFamily="18" charset="0"/>
                <a:ea typeface="Baskerville" panose="02020502070401020303" pitchFamily="18" charset="0"/>
                <a:cs typeface="Calibri" pitchFamily="34" charset="-120"/>
              </a:rPr>
              <a:t>Key Finding:  </a:t>
            </a:r>
            <a:r>
              <a:rPr lang="en-US" sz="1150" dirty="0">
                <a:solidFill>
                  <a:srgbClr val="FFFFFF"/>
                </a:solidFill>
                <a:latin typeface="Baskerville" panose="02020502070401020303" pitchFamily="18" charset="0"/>
                <a:ea typeface="Baskerville" panose="02020502070401020303" pitchFamily="18" charset="0"/>
                <a:cs typeface="Calibri" pitchFamily="34" charset="-120"/>
              </a:rPr>
              <a:t>ProtBERT + Linear SVM achieves 99.1% accuracy — 7 points above the Hybrid model. Linear SVM winning (not XGBoost) reveals that Pfam families are already linearly separable in ProtBERT's embedding space. Pretraining on 217M UniRef100 sequences bakes in the structural organization of protein families.</a:t>
            </a:r>
            <a:endParaRPr lang="en-US" sz="1150" dirty="0">
              <a:latin typeface="Baskerville" panose="02020502070401020303" pitchFamily="18" charset="0"/>
              <a:ea typeface="Baskerville" panose="02020502070401020303" pitchFamily="18" charset="0"/>
            </a:endParaRPr>
          </a:p>
        </p:txBody>
      </p:sp>
      <p:graphicFrame>
        <p:nvGraphicFramePr>
          <p:cNvPr id="19" name="Chart 0"/>
          <p:cNvGraphicFramePr/>
          <p:nvPr>
            <p:extLst>
              <p:ext uri="{D42A27DB-BD31-4B8C-83A1-F6EECF244321}">
                <p14:modId xmlns:p14="http://schemas.microsoft.com/office/powerpoint/2010/main" val="2765890791"/>
              </p:ext>
            </p:extLst>
          </p:nvPr>
        </p:nvGraphicFramePr>
        <p:xfrm>
          <a:off x="274320" y="4133088"/>
          <a:ext cx="8595360" cy="86868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1B4B"/>
          </a:solidFill>
          <a:ln w="12700">
            <a:solidFill>
              <a:srgbClr val="000000"/>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3" name="Text 1"/>
          <p:cNvSpPr/>
          <p:nvPr/>
        </p:nvSpPr>
        <p:spPr>
          <a:xfrm>
            <a:off x="365760" y="0"/>
            <a:ext cx="8229600" cy="640080"/>
          </a:xfrm>
          <a:prstGeom prst="rect">
            <a:avLst/>
          </a:prstGeom>
          <a:noFill/>
          <a:ln/>
        </p:spPr>
        <p:txBody>
          <a:bodyPr wrap="square" rtlCol="0" anchor="ctr"/>
          <a:lstStyle/>
          <a:p>
            <a:pPr marL="0" indent="0">
              <a:buNone/>
            </a:pPr>
            <a:r>
              <a:rPr lang="en-US" sz="2200" b="1" dirty="0">
                <a:solidFill>
                  <a:srgbClr val="FFFFFF"/>
                </a:solidFill>
                <a:latin typeface="Baskerville" panose="02020502070401020303" pitchFamily="18" charset="0"/>
                <a:ea typeface="Baskerville" panose="02020502070401020303" pitchFamily="18" charset="0"/>
                <a:cs typeface="Calibri" pitchFamily="34" charset="-120"/>
              </a:rPr>
              <a:t>Embedding Space &amp; Interpretability</a:t>
            </a:r>
            <a:endParaRPr lang="en-US" sz="2200" dirty="0">
              <a:latin typeface="Baskerville" panose="02020502070401020303" pitchFamily="18" charset="0"/>
              <a:ea typeface="Baskerville" panose="02020502070401020303" pitchFamily="18" charset="0"/>
            </a:endParaRPr>
          </a:p>
        </p:txBody>
      </p:sp>
      <p:sp>
        <p:nvSpPr>
          <p:cNvPr id="4" name="Shape 2"/>
          <p:cNvSpPr/>
          <p:nvPr/>
        </p:nvSpPr>
        <p:spPr>
          <a:xfrm>
            <a:off x="274320" y="749808"/>
            <a:ext cx="4023360" cy="1325880"/>
          </a:xfrm>
          <a:prstGeom prst="rect">
            <a:avLst/>
          </a:prstGeom>
          <a:solidFill>
            <a:srgbClr val="EEF4FF"/>
          </a:solidFill>
          <a:ln w="19050">
            <a:solidFill>
              <a:srgbClr val="2451B7"/>
            </a:solidFill>
            <a:prstDash val="solid"/>
          </a:ln>
          <a:effectLst>
            <a:outerShdw blurRad="101600" dist="38100" dir="8100000" algn="bl" rotWithShape="0">
              <a:srgbClr val="000000">
                <a:alpha val="18000"/>
              </a:srgbClr>
            </a:outerShdw>
          </a:effectLst>
        </p:spPr>
        <p:txBody>
          <a:bodyPr/>
          <a:lstStyle/>
          <a:p>
            <a:endParaRPr lang="en-US">
              <a:latin typeface="Baskerville" panose="02020502070401020303" pitchFamily="18" charset="0"/>
              <a:ea typeface="Baskerville" panose="02020502070401020303" pitchFamily="18" charset="0"/>
            </a:endParaRPr>
          </a:p>
        </p:txBody>
      </p:sp>
      <p:sp>
        <p:nvSpPr>
          <p:cNvPr id="5" name="Shape 3"/>
          <p:cNvSpPr/>
          <p:nvPr/>
        </p:nvSpPr>
        <p:spPr>
          <a:xfrm>
            <a:off x="274320" y="749808"/>
            <a:ext cx="4023360" cy="292608"/>
          </a:xfrm>
          <a:prstGeom prst="rect">
            <a:avLst/>
          </a:prstGeom>
          <a:solidFill>
            <a:srgbClr val="2451B7"/>
          </a:solidFill>
          <a:ln w="12700">
            <a:solidFill>
              <a:srgbClr val="000000"/>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6" name="Text 4"/>
          <p:cNvSpPr/>
          <p:nvPr/>
        </p:nvSpPr>
        <p:spPr>
          <a:xfrm>
            <a:off x="347472" y="768096"/>
            <a:ext cx="3886200" cy="256032"/>
          </a:xfrm>
          <a:prstGeom prst="rect">
            <a:avLst/>
          </a:prstGeom>
          <a:noFill/>
          <a:ln/>
        </p:spPr>
        <p:txBody>
          <a:bodyPr wrap="square" rtlCol="0" anchor="ctr"/>
          <a:lstStyle/>
          <a:p>
            <a:pPr marL="0" indent="0">
              <a:buNone/>
            </a:pPr>
            <a:r>
              <a:rPr lang="en-US" sz="1000" b="1" dirty="0">
                <a:solidFill>
                  <a:srgbClr val="FFFFFF"/>
                </a:solidFill>
                <a:latin typeface="Baskerville" panose="02020502070401020303" pitchFamily="18" charset="0"/>
                <a:ea typeface="Baskerville" panose="02020502070401020303" pitchFamily="18" charset="0"/>
                <a:cs typeface="Calibri" pitchFamily="34" charset="-120"/>
              </a:rPr>
              <a:t>Protein Embedding Space (ProtBERT UMAP)</a:t>
            </a:r>
            <a:endParaRPr lang="en-US" sz="1000" dirty="0">
              <a:latin typeface="Baskerville" panose="02020502070401020303" pitchFamily="18" charset="0"/>
              <a:ea typeface="Baskerville" panose="02020502070401020303" pitchFamily="18" charset="0"/>
            </a:endParaRPr>
          </a:p>
        </p:txBody>
      </p:sp>
      <p:sp>
        <p:nvSpPr>
          <p:cNvPr id="7" name="Text 5"/>
          <p:cNvSpPr/>
          <p:nvPr/>
        </p:nvSpPr>
        <p:spPr>
          <a:xfrm>
            <a:off x="347472" y="1078992"/>
            <a:ext cx="3886200" cy="950976"/>
          </a:xfrm>
          <a:prstGeom prst="rect">
            <a:avLst/>
          </a:prstGeom>
          <a:noFill/>
          <a:ln/>
        </p:spPr>
        <p:txBody>
          <a:bodyPr wrap="square" rtlCol="0" anchor="ctr"/>
          <a:lstStyle/>
          <a:p>
            <a:pPr marL="0" indent="0">
              <a:buNone/>
            </a:pPr>
            <a:r>
              <a:rPr lang="en-US" sz="950" dirty="0">
                <a:solidFill>
                  <a:srgbClr val="333355"/>
                </a:solidFill>
                <a:latin typeface="Baskerville" panose="02020502070401020303" pitchFamily="18" charset="0"/>
                <a:ea typeface="Baskerville" panose="02020502070401020303" pitchFamily="18" charset="0"/>
                <a:cs typeface="Calibri" pitchFamily="34" charset="-120"/>
              </a:rPr>
              <a:t>2,293 protein sequences projected via UMAP from ProtBERT embeddings. 10 Pfam families form tight, well-separated clusters with minimal overlap — explaining why a Linear SVM achieves 99.1%. The pretraining has organized the manifold along functional axes.</a:t>
            </a:r>
            <a:endParaRPr lang="en-US" sz="950" dirty="0">
              <a:latin typeface="Baskerville" panose="02020502070401020303" pitchFamily="18" charset="0"/>
              <a:ea typeface="Baskerville" panose="02020502070401020303" pitchFamily="18" charset="0"/>
            </a:endParaRPr>
          </a:p>
        </p:txBody>
      </p:sp>
      <p:sp>
        <p:nvSpPr>
          <p:cNvPr id="8" name="Shape 6"/>
          <p:cNvSpPr/>
          <p:nvPr/>
        </p:nvSpPr>
        <p:spPr>
          <a:xfrm>
            <a:off x="274320" y="2148840"/>
            <a:ext cx="4023360" cy="1280160"/>
          </a:xfrm>
          <a:prstGeom prst="rect">
            <a:avLst/>
          </a:prstGeom>
          <a:solidFill>
            <a:srgbClr val="F0FBF8"/>
          </a:solidFill>
          <a:ln w="19050">
            <a:solidFill>
              <a:srgbClr val="1B7B8A"/>
            </a:solidFill>
            <a:prstDash val="solid"/>
          </a:ln>
          <a:effectLst>
            <a:outerShdw blurRad="101600" dist="38100" dir="8100000" algn="bl" rotWithShape="0">
              <a:srgbClr val="000000">
                <a:alpha val="18000"/>
              </a:srgbClr>
            </a:outerShdw>
          </a:effectLst>
        </p:spPr>
        <p:txBody>
          <a:bodyPr/>
          <a:lstStyle/>
          <a:p>
            <a:endParaRPr lang="en-US">
              <a:latin typeface="Baskerville" panose="02020502070401020303" pitchFamily="18" charset="0"/>
              <a:ea typeface="Baskerville" panose="02020502070401020303" pitchFamily="18" charset="0"/>
            </a:endParaRPr>
          </a:p>
        </p:txBody>
      </p:sp>
      <p:sp>
        <p:nvSpPr>
          <p:cNvPr id="9" name="Shape 7"/>
          <p:cNvSpPr/>
          <p:nvPr/>
        </p:nvSpPr>
        <p:spPr>
          <a:xfrm>
            <a:off x="274320" y="2148840"/>
            <a:ext cx="4023360" cy="292608"/>
          </a:xfrm>
          <a:prstGeom prst="rect">
            <a:avLst/>
          </a:prstGeom>
          <a:solidFill>
            <a:srgbClr val="1B7B8A"/>
          </a:solidFill>
          <a:ln w="12700">
            <a:solidFill>
              <a:srgbClr val="000000"/>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10" name="Text 8"/>
          <p:cNvSpPr/>
          <p:nvPr/>
        </p:nvSpPr>
        <p:spPr>
          <a:xfrm>
            <a:off x="347472" y="2167128"/>
            <a:ext cx="3886200" cy="256032"/>
          </a:xfrm>
          <a:prstGeom prst="rect">
            <a:avLst/>
          </a:prstGeom>
          <a:noFill/>
          <a:ln/>
        </p:spPr>
        <p:txBody>
          <a:bodyPr wrap="square" rtlCol="0" anchor="ctr"/>
          <a:lstStyle/>
          <a:p>
            <a:pPr marL="0" indent="0">
              <a:buNone/>
            </a:pPr>
            <a:r>
              <a:rPr lang="en-US" sz="1000" b="1" dirty="0">
                <a:solidFill>
                  <a:srgbClr val="FFFFFF"/>
                </a:solidFill>
                <a:latin typeface="Baskerville" panose="02020502070401020303" pitchFamily="18" charset="0"/>
                <a:ea typeface="Baskerville" panose="02020502070401020303" pitchFamily="18" charset="0"/>
                <a:cs typeface="Calibri" pitchFamily="34" charset="-120"/>
              </a:rPr>
              <a:t>DNA Embedding Space (NT-500M UMAP)</a:t>
            </a:r>
            <a:endParaRPr lang="en-US" sz="1000" dirty="0">
              <a:latin typeface="Baskerville" panose="02020502070401020303" pitchFamily="18" charset="0"/>
              <a:ea typeface="Baskerville" panose="02020502070401020303" pitchFamily="18" charset="0"/>
            </a:endParaRPr>
          </a:p>
        </p:txBody>
      </p:sp>
      <p:sp>
        <p:nvSpPr>
          <p:cNvPr id="11" name="Text 9"/>
          <p:cNvSpPr/>
          <p:nvPr/>
        </p:nvSpPr>
        <p:spPr>
          <a:xfrm>
            <a:off x="347472" y="2478024"/>
            <a:ext cx="3886200" cy="914400"/>
          </a:xfrm>
          <a:prstGeom prst="rect">
            <a:avLst/>
          </a:prstGeom>
          <a:noFill/>
          <a:ln/>
        </p:spPr>
        <p:txBody>
          <a:bodyPr wrap="square" rtlCol="0" anchor="ctr"/>
          <a:lstStyle/>
          <a:p>
            <a:pPr marL="0" indent="0">
              <a:buNone/>
            </a:pPr>
            <a:r>
              <a:rPr lang="en-US" sz="950" dirty="0">
                <a:solidFill>
                  <a:srgbClr val="333355"/>
                </a:solidFill>
                <a:latin typeface="Baskerville" panose="02020502070401020303" pitchFamily="18" charset="0"/>
                <a:ea typeface="Baskerville" panose="02020502070401020303" pitchFamily="18" charset="0"/>
                <a:cs typeface="Calibri" pitchFamily="34" charset="-120"/>
              </a:rPr>
              <a:t>4,000 DNA sequences projected via UMAP from NT-500M embeddings. Promoter and non-promoter classes show significant overlap in the center of the projection — no clean linear boundary is achievable, explaining the marginal +1.5 AUC improvement over classical baselines.</a:t>
            </a:r>
            <a:endParaRPr lang="en-US" sz="950" dirty="0">
              <a:latin typeface="Baskerville" panose="02020502070401020303" pitchFamily="18" charset="0"/>
              <a:ea typeface="Baskerville" panose="02020502070401020303" pitchFamily="18" charset="0"/>
            </a:endParaRPr>
          </a:p>
        </p:txBody>
      </p:sp>
      <p:sp>
        <p:nvSpPr>
          <p:cNvPr id="12" name="Text 10"/>
          <p:cNvSpPr/>
          <p:nvPr/>
        </p:nvSpPr>
        <p:spPr>
          <a:xfrm>
            <a:off x="274320" y="3493008"/>
            <a:ext cx="4023360" cy="548640"/>
          </a:xfrm>
          <a:prstGeom prst="rect">
            <a:avLst/>
          </a:prstGeom>
          <a:noFill/>
          <a:ln/>
        </p:spPr>
        <p:txBody>
          <a:bodyPr wrap="square" rtlCol="0" anchor="ctr"/>
          <a:lstStyle/>
          <a:p>
            <a:pPr marL="0" indent="0" algn="ctr">
              <a:buNone/>
            </a:pPr>
            <a:r>
              <a:rPr lang="en-US" sz="1100" b="1" dirty="0">
                <a:solidFill>
                  <a:srgbClr val="2451B7"/>
                </a:solidFill>
                <a:latin typeface="Baskerville" panose="02020502070401020303" pitchFamily="18" charset="0"/>
                <a:ea typeface="Baskerville" panose="02020502070401020303" pitchFamily="18" charset="0"/>
                <a:cs typeface="Calibri" pitchFamily="34" charset="-120"/>
              </a:rPr>
              <a:t>Clusters vs Overlap</a:t>
            </a:r>
            <a:endParaRPr lang="en-US" sz="1100" dirty="0">
              <a:latin typeface="Baskerville" panose="02020502070401020303" pitchFamily="18" charset="0"/>
              <a:ea typeface="Baskerville" panose="02020502070401020303" pitchFamily="18" charset="0"/>
            </a:endParaRPr>
          </a:p>
          <a:p>
            <a:pPr marL="0" indent="0" algn="ctr">
              <a:buNone/>
            </a:pPr>
            <a:r>
              <a:rPr lang="en-US" sz="1100" b="1" dirty="0">
                <a:solidFill>
                  <a:srgbClr val="2451B7"/>
                </a:solidFill>
                <a:latin typeface="Baskerville" panose="02020502070401020303" pitchFamily="18" charset="0"/>
                <a:ea typeface="Baskerville" panose="02020502070401020303" pitchFamily="18" charset="0"/>
                <a:cs typeface="Calibri" pitchFamily="34" charset="-120"/>
              </a:rPr>
              <a:t>→ Task-Dependent Result</a:t>
            </a:r>
            <a:endParaRPr lang="en-US" sz="1100" dirty="0">
              <a:latin typeface="Baskerville" panose="02020502070401020303" pitchFamily="18" charset="0"/>
              <a:ea typeface="Baskerville" panose="02020502070401020303" pitchFamily="18" charset="0"/>
            </a:endParaRPr>
          </a:p>
        </p:txBody>
      </p:sp>
      <p:sp>
        <p:nvSpPr>
          <p:cNvPr id="13" name="Shape 11"/>
          <p:cNvSpPr/>
          <p:nvPr/>
        </p:nvSpPr>
        <p:spPr>
          <a:xfrm>
            <a:off x="4572000" y="749808"/>
            <a:ext cx="4297680" cy="1417320"/>
          </a:xfrm>
          <a:prstGeom prst="rect">
            <a:avLst/>
          </a:prstGeom>
          <a:solidFill>
            <a:srgbClr val="FFFFFF"/>
          </a:solidFill>
          <a:ln w="12700">
            <a:solidFill>
              <a:srgbClr val="2451B7"/>
            </a:solidFill>
            <a:prstDash val="solid"/>
          </a:ln>
          <a:effectLst>
            <a:outerShdw blurRad="101600" dist="38100" dir="8100000" algn="bl" rotWithShape="0">
              <a:srgbClr val="000000">
                <a:alpha val="18000"/>
              </a:srgbClr>
            </a:outerShdw>
          </a:effectLst>
        </p:spPr>
        <p:txBody>
          <a:bodyPr/>
          <a:lstStyle/>
          <a:p>
            <a:endParaRPr lang="en-US">
              <a:latin typeface="Baskerville" panose="02020502070401020303" pitchFamily="18" charset="0"/>
              <a:ea typeface="Baskerville" panose="02020502070401020303" pitchFamily="18" charset="0"/>
            </a:endParaRPr>
          </a:p>
        </p:txBody>
      </p:sp>
      <p:sp>
        <p:nvSpPr>
          <p:cNvPr id="14" name="Shape 12"/>
          <p:cNvSpPr/>
          <p:nvPr/>
        </p:nvSpPr>
        <p:spPr>
          <a:xfrm>
            <a:off x="4572000" y="749808"/>
            <a:ext cx="4297680" cy="292608"/>
          </a:xfrm>
          <a:prstGeom prst="rect">
            <a:avLst/>
          </a:prstGeom>
          <a:solidFill>
            <a:srgbClr val="2451B7"/>
          </a:solidFill>
          <a:ln w="12700">
            <a:solidFill>
              <a:srgbClr val="000000"/>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15" name="Text 13"/>
          <p:cNvSpPr/>
          <p:nvPr/>
        </p:nvSpPr>
        <p:spPr>
          <a:xfrm>
            <a:off x="4645152" y="768096"/>
            <a:ext cx="4160520" cy="256032"/>
          </a:xfrm>
          <a:prstGeom prst="rect">
            <a:avLst/>
          </a:prstGeom>
          <a:noFill/>
          <a:ln/>
        </p:spPr>
        <p:txBody>
          <a:bodyPr wrap="square" rtlCol="0" anchor="ctr"/>
          <a:lstStyle/>
          <a:p>
            <a:pPr marL="0" indent="0">
              <a:buNone/>
            </a:pPr>
            <a:r>
              <a:rPr lang="en-US" sz="1000" b="1" dirty="0">
                <a:solidFill>
                  <a:srgbClr val="FFFFFF"/>
                </a:solidFill>
                <a:latin typeface="Baskerville" panose="02020502070401020303" pitchFamily="18" charset="0"/>
                <a:ea typeface="Baskerville" panose="02020502070401020303" pitchFamily="18" charset="0"/>
                <a:cs typeface="Calibri" pitchFamily="34" charset="-120"/>
              </a:rPr>
              <a:t>In-Silico Mutagenesis (DNA)</a:t>
            </a:r>
            <a:endParaRPr lang="en-US" sz="1000" dirty="0">
              <a:latin typeface="Baskerville" panose="02020502070401020303" pitchFamily="18" charset="0"/>
              <a:ea typeface="Baskerville" panose="02020502070401020303" pitchFamily="18" charset="0"/>
            </a:endParaRPr>
          </a:p>
        </p:txBody>
      </p:sp>
      <p:sp>
        <p:nvSpPr>
          <p:cNvPr id="16" name="Text 14"/>
          <p:cNvSpPr/>
          <p:nvPr/>
        </p:nvSpPr>
        <p:spPr>
          <a:xfrm>
            <a:off x="4645152" y="1078992"/>
            <a:ext cx="4160520" cy="1042416"/>
          </a:xfrm>
          <a:prstGeom prst="rect">
            <a:avLst/>
          </a:prstGeom>
          <a:noFill/>
          <a:ln/>
        </p:spPr>
        <p:txBody>
          <a:bodyPr wrap="square" rtlCol="0" anchor="ctr"/>
          <a:lstStyle/>
          <a:p>
            <a:pPr marL="0" indent="0">
              <a:lnSpc>
                <a:spcPct val="120000"/>
              </a:lnSpc>
              <a:buNone/>
            </a:pPr>
            <a:r>
              <a:rPr lang="en-US" sz="950" b="1" dirty="0">
                <a:solidFill>
                  <a:srgbClr val="2451B7"/>
                </a:solidFill>
                <a:latin typeface="Baskerville" panose="02020502070401020303" pitchFamily="18" charset="0"/>
                <a:ea typeface="Baskerville" panose="02020502070401020303" pitchFamily="18" charset="0"/>
                <a:cs typeface="Calibri" pitchFamily="34" charset="-120"/>
              </a:rPr>
              <a:t>Method: </a:t>
            </a:r>
            <a:r>
              <a:rPr lang="en-US" sz="950" dirty="0">
                <a:solidFill>
                  <a:srgbClr val="333355"/>
                </a:solidFill>
                <a:latin typeface="Baskerville" panose="02020502070401020303" pitchFamily="18" charset="0"/>
                <a:ea typeface="Baskerville" panose="02020502070401020303" pitchFamily="18" charset="0"/>
                <a:cs typeface="Calibri" pitchFamily="34" charset="-120"/>
              </a:rPr>
              <a:t>Each of 200 nucleotide positions substituted with 3 alternative bases (600 forward passes per sequence). ΔP(promoter) scored per position.
</a:t>
            </a:r>
            <a:r>
              <a:rPr lang="en-US" sz="950" b="1" dirty="0">
                <a:solidFill>
                  <a:srgbClr val="1B7B4A"/>
                </a:solidFill>
                <a:latin typeface="Baskerville" panose="02020502070401020303" pitchFamily="18" charset="0"/>
                <a:ea typeface="Baskerville" panose="02020502070401020303" pitchFamily="18" charset="0"/>
                <a:cs typeface="Calibri" pitchFamily="34" charset="-120"/>
              </a:rPr>
              <a:t>Green positions </a:t>
            </a:r>
            <a:r>
              <a:rPr lang="en-US" sz="950" dirty="0">
                <a:solidFill>
                  <a:srgbClr val="333355"/>
                </a:solidFill>
                <a:latin typeface="Baskerville" panose="02020502070401020303" pitchFamily="18" charset="0"/>
                <a:ea typeface="Baskerville" panose="02020502070401020303" pitchFamily="18" charset="0"/>
                <a:cs typeface="Calibri" pitchFamily="34" charset="-120"/>
              </a:rPr>
              <a:t>tolerate substitution. </a:t>
            </a:r>
            <a:r>
              <a:rPr lang="en-US" sz="950" b="1" dirty="0">
                <a:solidFill>
                  <a:srgbClr val="B83232"/>
                </a:solidFill>
                <a:latin typeface="Baskerville" panose="02020502070401020303" pitchFamily="18" charset="0"/>
                <a:ea typeface="Baskerville" panose="02020502070401020303" pitchFamily="18" charset="0"/>
                <a:cs typeface="Calibri" pitchFamily="34" charset="-120"/>
              </a:rPr>
              <a:t>Red positions </a:t>
            </a:r>
            <a:r>
              <a:rPr lang="en-US" sz="950" dirty="0">
                <a:solidFill>
                  <a:srgbClr val="333355"/>
                </a:solidFill>
                <a:latin typeface="Baskerville" panose="02020502070401020303" pitchFamily="18" charset="0"/>
                <a:ea typeface="Baskerville" panose="02020502070401020303" pitchFamily="18" charset="0"/>
                <a:cs typeface="Calibri" pitchFamily="34" charset="-120"/>
              </a:rPr>
              <a:t>are functionally critical — likely transcription factor binding sites or TATA box elements.</a:t>
            </a:r>
            <a:endParaRPr lang="en-US" sz="950" dirty="0">
              <a:latin typeface="Baskerville" panose="02020502070401020303" pitchFamily="18" charset="0"/>
              <a:ea typeface="Baskerville" panose="02020502070401020303" pitchFamily="18" charset="0"/>
            </a:endParaRPr>
          </a:p>
        </p:txBody>
      </p:sp>
      <p:sp>
        <p:nvSpPr>
          <p:cNvPr id="17" name="Shape 15"/>
          <p:cNvSpPr/>
          <p:nvPr/>
        </p:nvSpPr>
        <p:spPr>
          <a:xfrm>
            <a:off x="4572000" y="2240280"/>
            <a:ext cx="4297680" cy="1325880"/>
          </a:xfrm>
          <a:prstGeom prst="rect">
            <a:avLst/>
          </a:prstGeom>
          <a:solidFill>
            <a:srgbClr val="FFFFFF"/>
          </a:solidFill>
          <a:ln w="12700">
            <a:solidFill>
              <a:srgbClr val="1B7B8A"/>
            </a:solidFill>
            <a:prstDash val="solid"/>
          </a:ln>
          <a:effectLst>
            <a:outerShdw blurRad="101600" dist="38100" dir="8100000" algn="bl" rotWithShape="0">
              <a:srgbClr val="000000">
                <a:alpha val="18000"/>
              </a:srgbClr>
            </a:outerShdw>
          </a:effectLst>
        </p:spPr>
        <p:txBody>
          <a:bodyPr/>
          <a:lstStyle/>
          <a:p>
            <a:endParaRPr lang="en-US">
              <a:latin typeface="Baskerville" panose="02020502070401020303" pitchFamily="18" charset="0"/>
              <a:ea typeface="Baskerville" panose="02020502070401020303" pitchFamily="18" charset="0"/>
            </a:endParaRPr>
          </a:p>
        </p:txBody>
      </p:sp>
      <p:sp>
        <p:nvSpPr>
          <p:cNvPr id="18" name="Shape 16"/>
          <p:cNvSpPr/>
          <p:nvPr/>
        </p:nvSpPr>
        <p:spPr>
          <a:xfrm>
            <a:off x="4572000" y="2240280"/>
            <a:ext cx="4297680" cy="292608"/>
          </a:xfrm>
          <a:prstGeom prst="rect">
            <a:avLst/>
          </a:prstGeom>
          <a:solidFill>
            <a:srgbClr val="1B7B8A"/>
          </a:solidFill>
          <a:ln w="12700">
            <a:solidFill>
              <a:srgbClr val="000000"/>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19" name="Text 17"/>
          <p:cNvSpPr/>
          <p:nvPr/>
        </p:nvSpPr>
        <p:spPr>
          <a:xfrm>
            <a:off x="4645152" y="2258568"/>
            <a:ext cx="4160520" cy="256032"/>
          </a:xfrm>
          <a:prstGeom prst="rect">
            <a:avLst/>
          </a:prstGeom>
          <a:noFill/>
          <a:ln/>
        </p:spPr>
        <p:txBody>
          <a:bodyPr wrap="square" rtlCol="0" anchor="ctr"/>
          <a:lstStyle/>
          <a:p>
            <a:pPr marL="0" indent="0">
              <a:buNone/>
            </a:pPr>
            <a:r>
              <a:rPr lang="en-US" sz="1000" b="1" dirty="0">
                <a:solidFill>
                  <a:srgbClr val="FFFFFF"/>
                </a:solidFill>
                <a:latin typeface="Baskerville" panose="02020502070401020303" pitchFamily="18" charset="0"/>
                <a:ea typeface="Baskerville" panose="02020502070401020303" pitchFamily="18" charset="0"/>
                <a:cs typeface="Calibri" pitchFamily="34" charset="-120"/>
              </a:rPr>
              <a:t>Alanine Scanning (Protein)</a:t>
            </a:r>
            <a:endParaRPr lang="en-US" sz="1000" dirty="0">
              <a:latin typeface="Baskerville" panose="02020502070401020303" pitchFamily="18" charset="0"/>
              <a:ea typeface="Baskerville" panose="02020502070401020303" pitchFamily="18" charset="0"/>
            </a:endParaRPr>
          </a:p>
        </p:txBody>
      </p:sp>
      <p:sp>
        <p:nvSpPr>
          <p:cNvPr id="20" name="Text 18"/>
          <p:cNvSpPr/>
          <p:nvPr/>
        </p:nvSpPr>
        <p:spPr>
          <a:xfrm>
            <a:off x="4645152" y="2569464"/>
            <a:ext cx="4160520" cy="950976"/>
          </a:xfrm>
          <a:prstGeom prst="rect">
            <a:avLst/>
          </a:prstGeom>
          <a:noFill/>
          <a:ln/>
        </p:spPr>
        <p:txBody>
          <a:bodyPr wrap="square" rtlCol="0" anchor="ctr"/>
          <a:lstStyle/>
          <a:p>
            <a:pPr marL="0" indent="0">
              <a:lnSpc>
                <a:spcPct val="125000"/>
              </a:lnSpc>
              <a:buNone/>
            </a:pPr>
            <a:r>
              <a:rPr lang="en-US" sz="950" b="1" dirty="0">
                <a:solidFill>
                  <a:srgbClr val="1B7B8A"/>
                </a:solidFill>
                <a:latin typeface="Baskerville" panose="02020502070401020303" pitchFamily="18" charset="0"/>
                <a:ea typeface="Baskerville" panose="02020502070401020303" pitchFamily="18" charset="0"/>
                <a:cs typeface="Calibri" pitchFamily="34" charset="-120"/>
              </a:rPr>
              <a:t>Method: </a:t>
            </a:r>
            <a:r>
              <a:rPr lang="en-US" sz="950" dirty="0">
                <a:solidFill>
                  <a:srgbClr val="333355"/>
                </a:solidFill>
                <a:latin typeface="Baskerville" panose="02020502070401020303" pitchFamily="18" charset="0"/>
                <a:ea typeface="Baskerville" panose="02020502070401020303" pitchFamily="18" charset="0"/>
                <a:cs typeface="Calibri" pitchFamily="34" charset="-120"/>
              </a:rPr>
              <a:t>Each residue substituted with alanine (smallest side-chain amino acid). Positions where substitution drops Pfam classification confidence are flagged as functionally critical — likely active sites, binding interfaces, or structural core residues.</a:t>
            </a:r>
            <a:endParaRPr lang="en-US" sz="950" dirty="0">
              <a:latin typeface="Baskerville" panose="02020502070401020303" pitchFamily="18" charset="0"/>
              <a:ea typeface="Baskerville" panose="02020502070401020303" pitchFamily="18" charset="0"/>
            </a:endParaRPr>
          </a:p>
        </p:txBody>
      </p:sp>
      <p:sp>
        <p:nvSpPr>
          <p:cNvPr id="21" name="Shape 19"/>
          <p:cNvSpPr/>
          <p:nvPr/>
        </p:nvSpPr>
        <p:spPr>
          <a:xfrm>
            <a:off x="4572000" y="3630168"/>
            <a:ext cx="4297680" cy="1344168"/>
          </a:xfrm>
          <a:prstGeom prst="rect">
            <a:avLst/>
          </a:prstGeom>
          <a:solidFill>
            <a:srgbClr val="FFFFFF"/>
          </a:solidFill>
          <a:ln w="12700">
            <a:solidFill>
              <a:srgbClr val="B07A10"/>
            </a:solidFill>
            <a:prstDash val="solid"/>
          </a:ln>
          <a:effectLst>
            <a:outerShdw blurRad="101600" dist="38100" dir="8100000" algn="bl" rotWithShape="0">
              <a:srgbClr val="000000">
                <a:alpha val="18000"/>
              </a:srgbClr>
            </a:outerShdw>
          </a:effectLst>
        </p:spPr>
        <p:txBody>
          <a:bodyPr/>
          <a:lstStyle/>
          <a:p>
            <a:endParaRPr lang="en-US">
              <a:latin typeface="Baskerville" panose="02020502070401020303" pitchFamily="18" charset="0"/>
              <a:ea typeface="Baskerville" panose="02020502070401020303" pitchFamily="18" charset="0"/>
            </a:endParaRPr>
          </a:p>
        </p:txBody>
      </p:sp>
      <p:sp>
        <p:nvSpPr>
          <p:cNvPr id="22" name="Shape 20"/>
          <p:cNvSpPr/>
          <p:nvPr/>
        </p:nvSpPr>
        <p:spPr>
          <a:xfrm>
            <a:off x="4572000" y="3630168"/>
            <a:ext cx="4297680" cy="292608"/>
          </a:xfrm>
          <a:prstGeom prst="rect">
            <a:avLst/>
          </a:prstGeom>
          <a:solidFill>
            <a:srgbClr val="B07A10"/>
          </a:solidFill>
          <a:ln w="12700">
            <a:solidFill>
              <a:srgbClr val="000000"/>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23" name="Text 21"/>
          <p:cNvSpPr/>
          <p:nvPr/>
        </p:nvSpPr>
        <p:spPr>
          <a:xfrm>
            <a:off x="4645152" y="3648456"/>
            <a:ext cx="4160520" cy="256032"/>
          </a:xfrm>
          <a:prstGeom prst="rect">
            <a:avLst/>
          </a:prstGeom>
          <a:noFill/>
          <a:ln/>
        </p:spPr>
        <p:txBody>
          <a:bodyPr wrap="square" rtlCol="0" anchor="ctr"/>
          <a:lstStyle/>
          <a:p>
            <a:pPr marL="0" indent="0">
              <a:buNone/>
            </a:pPr>
            <a:r>
              <a:rPr lang="en-US" sz="1000" b="1" dirty="0">
                <a:solidFill>
                  <a:srgbClr val="FFFFFF"/>
                </a:solidFill>
                <a:latin typeface="Baskerville" panose="02020502070401020303" pitchFamily="18" charset="0"/>
                <a:ea typeface="Baskerville" panose="02020502070401020303" pitchFamily="18" charset="0"/>
                <a:cs typeface="Calibri" pitchFamily="34" charset="-120"/>
              </a:rPr>
              <a:t>Feature Importance (XGBoost)</a:t>
            </a:r>
            <a:endParaRPr lang="en-US" sz="1000" dirty="0">
              <a:latin typeface="Baskerville" panose="02020502070401020303" pitchFamily="18" charset="0"/>
              <a:ea typeface="Baskerville" panose="02020502070401020303" pitchFamily="18" charset="0"/>
            </a:endParaRPr>
          </a:p>
        </p:txBody>
      </p:sp>
      <p:sp>
        <p:nvSpPr>
          <p:cNvPr id="24" name="Text 22"/>
          <p:cNvSpPr/>
          <p:nvPr/>
        </p:nvSpPr>
        <p:spPr>
          <a:xfrm>
            <a:off x="4645152" y="3959352"/>
            <a:ext cx="4160520" cy="969264"/>
          </a:xfrm>
          <a:prstGeom prst="rect">
            <a:avLst/>
          </a:prstGeom>
          <a:noFill/>
          <a:ln/>
        </p:spPr>
        <p:txBody>
          <a:bodyPr wrap="square" rtlCol="0" anchor="ctr"/>
          <a:lstStyle/>
          <a:p>
            <a:pPr marL="0" indent="0">
              <a:buNone/>
            </a:pPr>
            <a:r>
              <a:rPr lang="en-US" sz="950" dirty="0">
                <a:solidFill>
                  <a:srgbClr val="333355"/>
                </a:solidFill>
                <a:latin typeface="Baskerville" panose="02020502070401020303" pitchFamily="18" charset="0"/>
                <a:ea typeface="Baskerville" panose="02020502070401020303" pitchFamily="18" charset="0"/>
                <a:cs typeface="Calibri" pitchFamily="34" charset="-120"/>
              </a:rPr>
              <a:t>Top DNA features by XGBoost SHAP importance: GRAVY score, CTD descriptors, reduced dipeptide compositions — all biologically grounded measures. Validates that the engineered baseline captures real biological signal, not noise — explaining why the transformer ceiling is so hard to exceed for DNA.</a:t>
            </a:r>
            <a:endParaRPr lang="en-US" sz="950" dirty="0">
              <a:latin typeface="Baskerville" panose="02020502070401020303" pitchFamily="18" charset="0"/>
              <a:ea typeface="Baskerville" panose="02020502070401020303" pitchFamily="18" charset="0"/>
            </a:endParaRPr>
          </a:p>
        </p:txBody>
      </p:sp>
      <p:pic>
        <p:nvPicPr>
          <p:cNvPr id="27" name="Picture 26">
            <a:extLst>
              <a:ext uri="{FF2B5EF4-FFF2-40B4-BE49-F238E27FC236}">
                <a16:creationId xmlns:a16="http://schemas.microsoft.com/office/drawing/2014/main" id="{F3519386-1FC9-0B8B-4FBE-13C2AA28CF75}"/>
              </a:ext>
            </a:extLst>
          </p:cNvPr>
          <p:cNvPicPr>
            <a:picLocks noChangeAspect="1"/>
          </p:cNvPicPr>
          <p:nvPr/>
        </p:nvPicPr>
        <p:blipFill>
          <a:blip r:embed="rId3"/>
          <a:stretch>
            <a:fillRect/>
          </a:stretch>
        </p:blipFill>
        <p:spPr>
          <a:xfrm>
            <a:off x="274320" y="4009225"/>
            <a:ext cx="1996182" cy="965111"/>
          </a:xfrm>
          <a:prstGeom prst="rect">
            <a:avLst/>
          </a:prstGeom>
        </p:spPr>
      </p:pic>
      <p:pic>
        <p:nvPicPr>
          <p:cNvPr id="29" name="Picture 28">
            <a:extLst>
              <a:ext uri="{FF2B5EF4-FFF2-40B4-BE49-F238E27FC236}">
                <a16:creationId xmlns:a16="http://schemas.microsoft.com/office/drawing/2014/main" id="{1F318CCB-4DAB-B533-414A-A8FC523A3569}"/>
              </a:ext>
            </a:extLst>
          </p:cNvPr>
          <p:cNvPicPr>
            <a:picLocks noChangeAspect="1"/>
          </p:cNvPicPr>
          <p:nvPr/>
        </p:nvPicPr>
        <p:blipFill>
          <a:blip r:embed="rId4"/>
          <a:stretch>
            <a:fillRect/>
          </a:stretch>
        </p:blipFill>
        <p:spPr>
          <a:xfrm>
            <a:off x="2602151" y="4005184"/>
            <a:ext cx="1631521" cy="96915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1B4B"/>
          </a:solidFill>
          <a:ln w="12700">
            <a:solidFill>
              <a:srgbClr val="000000"/>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3" name="Text 1"/>
          <p:cNvSpPr/>
          <p:nvPr/>
        </p:nvSpPr>
        <p:spPr>
          <a:xfrm>
            <a:off x="365760" y="0"/>
            <a:ext cx="8229600" cy="640080"/>
          </a:xfrm>
          <a:prstGeom prst="rect">
            <a:avLst/>
          </a:prstGeom>
          <a:noFill/>
          <a:ln/>
        </p:spPr>
        <p:txBody>
          <a:bodyPr wrap="square" rtlCol="0" anchor="ctr"/>
          <a:lstStyle/>
          <a:p>
            <a:pPr marL="0" indent="0">
              <a:buNone/>
            </a:pPr>
            <a:r>
              <a:rPr lang="en-US" sz="2000" b="1" dirty="0">
                <a:solidFill>
                  <a:srgbClr val="FFFFFF"/>
                </a:solidFill>
                <a:latin typeface="Baskerville" panose="02020502070401020303" pitchFamily="18" charset="0"/>
                <a:ea typeface="Baskerville" panose="02020502070401020303" pitchFamily="18" charset="0"/>
                <a:cs typeface="Calibri" pitchFamily="34" charset="-120"/>
              </a:rPr>
              <a:t>Bio Seq LM Explorer — Interactive Application</a:t>
            </a:r>
            <a:endParaRPr lang="en-US" sz="2000" dirty="0">
              <a:latin typeface="Baskerville" panose="02020502070401020303" pitchFamily="18" charset="0"/>
              <a:ea typeface="Baskerville" panose="02020502070401020303" pitchFamily="18" charset="0"/>
            </a:endParaRPr>
          </a:p>
        </p:txBody>
      </p:sp>
      <p:sp>
        <p:nvSpPr>
          <p:cNvPr id="4" name="Text 2"/>
          <p:cNvSpPr/>
          <p:nvPr/>
        </p:nvSpPr>
        <p:spPr>
          <a:xfrm>
            <a:off x="365760" y="713232"/>
            <a:ext cx="8412480" cy="274320"/>
          </a:xfrm>
          <a:prstGeom prst="rect">
            <a:avLst/>
          </a:prstGeom>
          <a:noFill/>
          <a:ln/>
        </p:spPr>
        <p:txBody>
          <a:bodyPr wrap="square" rtlCol="0" anchor="ctr"/>
          <a:lstStyle/>
          <a:p>
            <a:pPr marL="0" indent="0">
              <a:buNone/>
            </a:pPr>
            <a:r>
              <a:rPr lang="en-US" sz="1200" i="1" dirty="0">
                <a:solidFill>
                  <a:srgbClr val="8BA4CC"/>
                </a:solidFill>
                <a:latin typeface="Baskerville" panose="02020502070401020303" pitchFamily="18" charset="0"/>
                <a:ea typeface="Baskerville" panose="02020502070401020303" pitchFamily="18" charset="0"/>
                <a:cs typeface="Calibri" pitchFamily="34" charset="-120"/>
              </a:rPr>
              <a:t>Real-time biological sequence analysis without any ML setup</a:t>
            </a:r>
            <a:endParaRPr lang="en-US" sz="1200" dirty="0">
              <a:latin typeface="Baskerville" panose="02020502070401020303" pitchFamily="18" charset="0"/>
              <a:ea typeface="Baskerville" panose="02020502070401020303" pitchFamily="18" charset="0"/>
            </a:endParaRPr>
          </a:p>
        </p:txBody>
      </p:sp>
      <p:sp>
        <p:nvSpPr>
          <p:cNvPr id="5" name="Shape 3"/>
          <p:cNvSpPr/>
          <p:nvPr/>
        </p:nvSpPr>
        <p:spPr>
          <a:xfrm>
            <a:off x="274320" y="1078992"/>
            <a:ext cx="2743200" cy="1737360"/>
          </a:xfrm>
          <a:prstGeom prst="rect">
            <a:avLst/>
          </a:prstGeom>
          <a:solidFill>
            <a:srgbClr val="FFFFFF"/>
          </a:solidFill>
          <a:ln w="19050">
            <a:solidFill>
              <a:srgbClr val="2451B7"/>
            </a:solidFill>
            <a:prstDash val="solid"/>
          </a:ln>
          <a:effectLst>
            <a:outerShdw blurRad="101600" dist="38100" dir="8100000" algn="bl" rotWithShape="0">
              <a:srgbClr val="000000">
                <a:alpha val="18000"/>
              </a:srgbClr>
            </a:outerShdw>
          </a:effectLst>
        </p:spPr>
        <p:txBody>
          <a:bodyPr/>
          <a:lstStyle/>
          <a:p>
            <a:endParaRPr lang="en-US">
              <a:latin typeface="Baskerville" panose="02020502070401020303" pitchFamily="18" charset="0"/>
              <a:ea typeface="Baskerville" panose="02020502070401020303" pitchFamily="18" charset="0"/>
            </a:endParaRPr>
          </a:p>
        </p:txBody>
      </p:sp>
      <p:sp>
        <p:nvSpPr>
          <p:cNvPr id="6" name="Shape 4"/>
          <p:cNvSpPr/>
          <p:nvPr/>
        </p:nvSpPr>
        <p:spPr>
          <a:xfrm>
            <a:off x="411480" y="1188720"/>
            <a:ext cx="457200" cy="457200"/>
          </a:xfrm>
          <a:prstGeom prst="ellipse">
            <a:avLst/>
          </a:prstGeom>
          <a:solidFill>
            <a:srgbClr val="2451B7"/>
          </a:solidFill>
          <a:ln w="12700">
            <a:solidFill>
              <a:srgbClr val="000000"/>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7" name="Text 5"/>
          <p:cNvSpPr/>
          <p:nvPr/>
        </p:nvSpPr>
        <p:spPr>
          <a:xfrm>
            <a:off x="411480" y="1188720"/>
            <a:ext cx="457200" cy="457200"/>
          </a:xfrm>
          <a:prstGeom prst="rect">
            <a:avLst/>
          </a:prstGeom>
          <a:noFill/>
          <a:ln/>
        </p:spPr>
        <p:txBody>
          <a:bodyPr wrap="square" rtlCol="0" anchor="ctr"/>
          <a:lstStyle/>
          <a:p>
            <a:pPr marL="0" indent="0" algn="ctr">
              <a:buNone/>
            </a:pPr>
            <a:r>
              <a:rPr lang="en-US" sz="1600" dirty="0">
                <a:solidFill>
                  <a:srgbClr val="000000"/>
                </a:solidFill>
                <a:latin typeface="Baskerville" panose="02020502070401020303" pitchFamily="18" charset="0"/>
                <a:ea typeface="Baskerville" panose="02020502070401020303" pitchFamily="18" charset="0"/>
              </a:rPr>
              <a:t>🧬</a:t>
            </a:r>
            <a:endParaRPr lang="en-US" sz="1600" dirty="0">
              <a:latin typeface="Baskerville" panose="02020502070401020303" pitchFamily="18" charset="0"/>
              <a:ea typeface="Baskerville" panose="02020502070401020303" pitchFamily="18" charset="0"/>
            </a:endParaRPr>
          </a:p>
        </p:txBody>
      </p:sp>
      <p:sp>
        <p:nvSpPr>
          <p:cNvPr id="8" name="Text 6"/>
          <p:cNvSpPr/>
          <p:nvPr/>
        </p:nvSpPr>
        <p:spPr>
          <a:xfrm>
            <a:off x="932688" y="1188720"/>
            <a:ext cx="2011680" cy="457200"/>
          </a:xfrm>
          <a:prstGeom prst="rect">
            <a:avLst/>
          </a:prstGeom>
          <a:noFill/>
          <a:ln/>
        </p:spPr>
        <p:txBody>
          <a:bodyPr wrap="square" rtlCol="0" anchor="ctr"/>
          <a:lstStyle/>
          <a:p>
            <a:pPr marL="0" indent="0">
              <a:buNone/>
            </a:pPr>
            <a:r>
              <a:rPr lang="en-US" sz="1100" b="1" dirty="0">
                <a:solidFill>
                  <a:srgbClr val="2451B7"/>
                </a:solidFill>
                <a:latin typeface="Baskerville" panose="02020502070401020303" pitchFamily="18" charset="0"/>
                <a:ea typeface="Baskerville" panose="02020502070401020303" pitchFamily="18" charset="0"/>
                <a:cs typeface="Calibri" pitchFamily="34" charset="-120"/>
              </a:rPr>
              <a:t>DNA Classification</a:t>
            </a:r>
            <a:endParaRPr lang="en-US" sz="1100" dirty="0">
              <a:latin typeface="Baskerville" panose="02020502070401020303" pitchFamily="18" charset="0"/>
              <a:ea typeface="Baskerville" panose="02020502070401020303" pitchFamily="18" charset="0"/>
            </a:endParaRPr>
          </a:p>
        </p:txBody>
      </p:sp>
      <p:sp>
        <p:nvSpPr>
          <p:cNvPr id="9" name="Text 7"/>
          <p:cNvSpPr/>
          <p:nvPr/>
        </p:nvSpPr>
        <p:spPr>
          <a:xfrm>
            <a:off x="384048" y="1700784"/>
            <a:ext cx="2542032" cy="1042416"/>
          </a:xfrm>
          <a:prstGeom prst="rect">
            <a:avLst/>
          </a:prstGeom>
          <a:noFill/>
          <a:ln/>
        </p:spPr>
        <p:txBody>
          <a:bodyPr wrap="square" rtlCol="0" anchor="ctr"/>
          <a:lstStyle/>
          <a:p>
            <a:pPr marL="0" indent="0">
              <a:buNone/>
            </a:pPr>
            <a:r>
              <a:rPr lang="en-US" sz="950" dirty="0">
                <a:solidFill>
                  <a:srgbClr val="333355"/>
                </a:solidFill>
                <a:latin typeface="Baskerville" panose="02020502070401020303" pitchFamily="18" charset="0"/>
                <a:ea typeface="Baskerville" panose="02020502070401020303" pitchFamily="18" charset="0"/>
                <a:cs typeface="Calibri" pitchFamily="34" charset="-120"/>
              </a:rPr>
              <a:t>Paste any 200bp sequence. Predict promoter probability using NT-500M + XGBoost. Instant scoring with confidence intervals.</a:t>
            </a:r>
            <a:endParaRPr lang="en-US" sz="950" dirty="0">
              <a:latin typeface="Baskerville" panose="02020502070401020303" pitchFamily="18" charset="0"/>
              <a:ea typeface="Baskerville" panose="02020502070401020303" pitchFamily="18" charset="0"/>
            </a:endParaRPr>
          </a:p>
        </p:txBody>
      </p:sp>
      <p:sp>
        <p:nvSpPr>
          <p:cNvPr id="10" name="Shape 8"/>
          <p:cNvSpPr/>
          <p:nvPr/>
        </p:nvSpPr>
        <p:spPr>
          <a:xfrm>
            <a:off x="3200400" y="1078992"/>
            <a:ext cx="2743200" cy="1737360"/>
          </a:xfrm>
          <a:prstGeom prst="rect">
            <a:avLst/>
          </a:prstGeom>
          <a:solidFill>
            <a:srgbClr val="FFFFFF"/>
          </a:solidFill>
          <a:ln w="19050">
            <a:solidFill>
              <a:srgbClr val="1B7B8A"/>
            </a:solidFill>
            <a:prstDash val="solid"/>
          </a:ln>
          <a:effectLst>
            <a:outerShdw blurRad="101600" dist="38100" dir="8100000" algn="bl" rotWithShape="0">
              <a:srgbClr val="000000">
                <a:alpha val="18000"/>
              </a:srgbClr>
            </a:outerShdw>
          </a:effectLst>
        </p:spPr>
        <p:txBody>
          <a:bodyPr/>
          <a:lstStyle/>
          <a:p>
            <a:endParaRPr lang="en-US">
              <a:latin typeface="Baskerville" panose="02020502070401020303" pitchFamily="18" charset="0"/>
              <a:ea typeface="Baskerville" panose="02020502070401020303" pitchFamily="18" charset="0"/>
            </a:endParaRPr>
          </a:p>
        </p:txBody>
      </p:sp>
      <p:sp>
        <p:nvSpPr>
          <p:cNvPr id="11" name="Shape 9"/>
          <p:cNvSpPr/>
          <p:nvPr/>
        </p:nvSpPr>
        <p:spPr>
          <a:xfrm>
            <a:off x="3337560" y="1188720"/>
            <a:ext cx="457200" cy="457200"/>
          </a:xfrm>
          <a:prstGeom prst="ellipse">
            <a:avLst/>
          </a:prstGeom>
          <a:solidFill>
            <a:srgbClr val="1B7B8A"/>
          </a:solidFill>
          <a:ln w="12700">
            <a:solidFill>
              <a:srgbClr val="000000"/>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12" name="Text 10"/>
          <p:cNvSpPr/>
          <p:nvPr/>
        </p:nvSpPr>
        <p:spPr>
          <a:xfrm>
            <a:off x="3337560" y="1188720"/>
            <a:ext cx="457200" cy="457200"/>
          </a:xfrm>
          <a:prstGeom prst="rect">
            <a:avLst/>
          </a:prstGeom>
          <a:noFill/>
          <a:ln/>
        </p:spPr>
        <p:txBody>
          <a:bodyPr wrap="square" rtlCol="0" anchor="ctr"/>
          <a:lstStyle/>
          <a:p>
            <a:pPr marL="0" indent="0" algn="ctr">
              <a:buNone/>
            </a:pPr>
            <a:r>
              <a:rPr lang="en-US" sz="1600" dirty="0">
                <a:solidFill>
                  <a:srgbClr val="000000"/>
                </a:solidFill>
                <a:latin typeface="Baskerville" panose="02020502070401020303" pitchFamily="18" charset="0"/>
                <a:ea typeface="Baskerville" panose="02020502070401020303" pitchFamily="18" charset="0"/>
              </a:rPr>
              <a:t>🔬</a:t>
            </a:r>
            <a:endParaRPr lang="en-US" sz="1600" dirty="0">
              <a:latin typeface="Baskerville" panose="02020502070401020303" pitchFamily="18" charset="0"/>
              <a:ea typeface="Baskerville" panose="02020502070401020303" pitchFamily="18" charset="0"/>
            </a:endParaRPr>
          </a:p>
        </p:txBody>
      </p:sp>
      <p:sp>
        <p:nvSpPr>
          <p:cNvPr id="13" name="Text 11"/>
          <p:cNvSpPr/>
          <p:nvPr/>
        </p:nvSpPr>
        <p:spPr>
          <a:xfrm>
            <a:off x="3858768" y="1188720"/>
            <a:ext cx="2011680" cy="457200"/>
          </a:xfrm>
          <a:prstGeom prst="rect">
            <a:avLst/>
          </a:prstGeom>
          <a:noFill/>
          <a:ln/>
        </p:spPr>
        <p:txBody>
          <a:bodyPr wrap="square" rtlCol="0" anchor="ctr"/>
          <a:lstStyle/>
          <a:p>
            <a:pPr marL="0" indent="0">
              <a:buNone/>
            </a:pPr>
            <a:r>
              <a:rPr lang="en-US" sz="1100" b="1" dirty="0">
                <a:solidFill>
                  <a:srgbClr val="1B7B8A"/>
                </a:solidFill>
                <a:latin typeface="Baskerville" panose="02020502070401020303" pitchFamily="18" charset="0"/>
                <a:ea typeface="Baskerville" panose="02020502070401020303" pitchFamily="18" charset="0"/>
                <a:cs typeface="Calibri" pitchFamily="34" charset="-120"/>
              </a:rPr>
              <a:t>Protein Classification</a:t>
            </a:r>
            <a:endParaRPr lang="en-US" sz="1100" dirty="0">
              <a:latin typeface="Baskerville" panose="02020502070401020303" pitchFamily="18" charset="0"/>
              <a:ea typeface="Baskerville" panose="02020502070401020303" pitchFamily="18" charset="0"/>
            </a:endParaRPr>
          </a:p>
        </p:txBody>
      </p:sp>
      <p:sp>
        <p:nvSpPr>
          <p:cNvPr id="14" name="Text 12"/>
          <p:cNvSpPr/>
          <p:nvPr/>
        </p:nvSpPr>
        <p:spPr>
          <a:xfrm>
            <a:off x="3310128" y="1700784"/>
            <a:ext cx="2542032" cy="1042416"/>
          </a:xfrm>
          <a:prstGeom prst="rect">
            <a:avLst/>
          </a:prstGeom>
          <a:noFill/>
          <a:ln/>
        </p:spPr>
        <p:txBody>
          <a:bodyPr wrap="square" rtlCol="0" anchor="ctr"/>
          <a:lstStyle/>
          <a:p>
            <a:pPr marL="0" indent="0">
              <a:buNone/>
            </a:pPr>
            <a:r>
              <a:rPr lang="en-US" sz="950" dirty="0">
                <a:solidFill>
                  <a:srgbClr val="333355"/>
                </a:solidFill>
                <a:latin typeface="Baskerville" panose="02020502070401020303" pitchFamily="18" charset="0"/>
                <a:ea typeface="Baskerville" panose="02020502070401020303" pitchFamily="18" charset="0"/>
                <a:cs typeface="Calibri" pitchFamily="34" charset="-120"/>
              </a:rPr>
              <a:t>Predict Pfam family from raw amino acid sequence using ProtBERT + Linear SVM across 10 family classes.</a:t>
            </a:r>
            <a:endParaRPr lang="en-US" sz="950" dirty="0">
              <a:latin typeface="Baskerville" panose="02020502070401020303" pitchFamily="18" charset="0"/>
              <a:ea typeface="Baskerville" panose="02020502070401020303" pitchFamily="18" charset="0"/>
            </a:endParaRPr>
          </a:p>
        </p:txBody>
      </p:sp>
      <p:sp>
        <p:nvSpPr>
          <p:cNvPr id="15" name="Shape 13"/>
          <p:cNvSpPr/>
          <p:nvPr/>
        </p:nvSpPr>
        <p:spPr>
          <a:xfrm>
            <a:off x="6126480" y="1078992"/>
            <a:ext cx="2743200" cy="1737360"/>
          </a:xfrm>
          <a:prstGeom prst="rect">
            <a:avLst/>
          </a:prstGeom>
          <a:solidFill>
            <a:srgbClr val="FFFFFF"/>
          </a:solidFill>
          <a:ln w="19050">
            <a:solidFill>
              <a:srgbClr val="1B6B4A"/>
            </a:solidFill>
            <a:prstDash val="solid"/>
          </a:ln>
          <a:effectLst>
            <a:outerShdw blurRad="101600" dist="38100" dir="8100000" algn="bl" rotWithShape="0">
              <a:srgbClr val="000000">
                <a:alpha val="18000"/>
              </a:srgbClr>
            </a:outerShdw>
          </a:effectLst>
        </p:spPr>
        <p:txBody>
          <a:bodyPr/>
          <a:lstStyle/>
          <a:p>
            <a:endParaRPr lang="en-US">
              <a:latin typeface="Baskerville" panose="02020502070401020303" pitchFamily="18" charset="0"/>
              <a:ea typeface="Baskerville" panose="02020502070401020303" pitchFamily="18" charset="0"/>
            </a:endParaRPr>
          </a:p>
        </p:txBody>
      </p:sp>
      <p:sp>
        <p:nvSpPr>
          <p:cNvPr id="16" name="Shape 14"/>
          <p:cNvSpPr/>
          <p:nvPr/>
        </p:nvSpPr>
        <p:spPr>
          <a:xfrm>
            <a:off x="6263640" y="1188720"/>
            <a:ext cx="457200" cy="457200"/>
          </a:xfrm>
          <a:prstGeom prst="ellipse">
            <a:avLst/>
          </a:prstGeom>
          <a:solidFill>
            <a:srgbClr val="1B6B4A"/>
          </a:solidFill>
          <a:ln w="12700">
            <a:solidFill>
              <a:srgbClr val="000000"/>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17" name="Text 15"/>
          <p:cNvSpPr/>
          <p:nvPr/>
        </p:nvSpPr>
        <p:spPr>
          <a:xfrm>
            <a:off x="6263640" y="1188720"/>
            <a:ext cx="457200" cy="457200"/>
          </a:xfrm>
          <a:prstGeom prst="rect">
            <a:avLst/>
          </a:prstGeom>
          <a:noFill/>
          <a:ln/>
        </p:spPr>
        <p:txBody>
          <a:bodyPr wrap="square" rtlCol="0" anchor="ctr"/>
          <a:lstStyle/>
          <a:p>
            <a:pPr marL="0" indent="0" algn="ctr">
              <a:buNone/>
            </a:pPr>
            <a:r>
              <a:rPr lang="en-US" sz="1600" dirty="0">
                <a:solidFill>
                  <a:srgbClr val="000000"/>
                </a:solidFill>
                <a:latin typeface="Baskerville" panose="02020502070401020303" pitchFamily="18" charset="0"/>
                <a:ea typeface="Baskerville" panose="02020502070401020303" pitchFamily="18" charset="0"/>
              </a:rPr>
              <a:t>📊</a:t>
            </a:r>
            <a:endParaRPr lang="en-US" sz="1600" dirty="0">
              <a:latin typeface="Baskerville" panose="02020502070401020303" pitchFamily="18" charset="0"/>
              <a:ea typeface="Baskerville" panose="02020502070401020303" pitchFamily="18" charset="0"/>
            </a:endParaRPr>
          </a:p>
        </p:txBody>
      </p:sp>
      <p:sp>
        <p:nvSpPr>
          <p:cNvPr id="18" name="Text 16"/>
          <p:cNvSpPr/>
          <p:nvPr/>
        </p:nvSpPr>
        <p:spPr>
          <a:xfrm>
            <a:off x="6784848" y="1188720"/>
            <a:ext cx="2011680" cy="457200"/>
          </a:xfrm>
          <a:prstGeom prst="rect">
            <a:avLst/>
          </a:prstGeom>
          <a:noFill/>
          <a:ln/>
        </p:spPr>
        <p:txBody>
          <a:bodyPr wrap="square" rtlCol="0" anchor="ctr"/>
          <a:lstStyle/>
          <a:p>
            <a:pPr marL="0" indent="0">
              <a:buNone/>
            </a:pPr>
            <a:r>
              <a:rPr lang="en-US" sz="1100" b="1" dirty="0">
                <a:solidFill>
                  <a:srgbClr val="1B6B4A"/>
                </a:solidFill>
                <a:latin typeface="Baskerville" panose="02020502070401020303" pitchFamily="18" charset="0"/>
                <a:ea typeface="Baskerville" panose="02020502070401020303" pitchFamily="18" charset="0"/>
                <a:cs typeface="Calibri" pitchFamily="34" charset="-120"/>
              </a:rPr>
              <a:t>Embedding Explorer</a:t>
            </a:r>
            <a:endParaRPr lang="en-US" sz="1100" dirty="0">
              <a:latin typeface="Baskerville" panose="02020502070401020303" pitchFamily="18" charset="0"/>
              <a:ea typeface="Baskerville" panose="02020502070401020303" pitchFamily="18" charset="0"/>
            </a:endParaRPr>
          </a:p>
        </p:txBody>
      </p:sp>
      <p:sp>
        <p:nvSpPr>
          <p:cNvPr id="19" name="Text 17"/>
          <p:cNvSpPr/>
          <p:nvPr/>
        </p:nvSpPr>
        <p:spPr>
          <a:xfrm>
            <a:off x="6236208" y="1700784"/>
            <a:ext cx="2542032" cy="1042416"/>
          </a:xfrm>
          <a:prstGeom prst="rect">
            <a:avLst/>
          </a:prstGeom>
          <a:noFill/>
          <a:ln/>
        </p:spPr>
        <p:txBody>
          <a:bodyPr wrap="square" rtlCol="0" anchor="ctr"/>
          <a:lstStyle/>
          <a:p>
            <a:pPr marL="0" indent="0">
              <a:buNone/>
            </a:pPr>
            <a:r>
              <a:rPr lang="en-US" sz="950" dirty="0">
                <a:solidFill>
                  <a:srgbClr val="333355"/>
                </a:solidFill>
                <a:latin typeface="Baskerville" panose="02020502070401020303" pitchFamily="18" charset="0"/>
                <a:ea typeface="Baskerville" panose="02020502070401020303" pitchFamily="18" charset="0"/>
                <a:cs typeface="Calibri" pitchFamily="34" charset="-120"/>
              </a:rPr>
              <a:t>UMAP visualization of your sequence plotted against the training set. See where your sequence lands in the learned embedding space.</a:t>
            </a:r>
            <a:endParaRPr lang="en-US" sz="950" dirty="0">
              <a:latin typeface="Baskerville" panose="02020502070401020303" pitchFamily="18" charset="0"/>
              <a:ea typeface="Baskerville" panose="02020502070401020303" pitchFamily="18" charset="0"/>
            </a:endParaRPr>
          </a:p>
        </p:txBody>
      </p:sp>
      <p:sp>
        <p:nvSpPr>
          <p:cNvPr id="20" name="Shape 18"/>
          <p:cNvSpPr/>
          <p:nvPr/>
        </p:nvSpPr>
        <p:spPr>
          <a:xfrm>
            <a:off x="274320" y="2953512"/>
            <a:ext cx="2743200" cy="1737360"/>
          </a:xfrm>
          <a:prstGeom prst="rect">
            <a:avLst/>
          </a:prstGeom>
          <a:solidFill>
            <a:srgbClr val="FFFFFF"/>
          </a:solidFill>
          <a:ln w="19050">
            <a:solidFill>
              <a:srgbClr val="1A3A8F"/>
            </a:solidFill>
            <a:prstDash val="solid"/>
          </a:ln>
          <a:effectLst>
            <a:outerShdw blurRad="101600" dist="38100" dir="8100000" algn="bl" rotWithShape="0">
              <a:srgbClr val="000000">
                <a:alpha val="18000"/>
              </a:srgbClr>
            </a:outerShdw>
          </a:effectLst>
        </p:spPr>
        <p:txBody>
          <a:bodyPr/>
          <a:lstStyle/>
          <a:p>
            <a:endParaRPr lang="en-US">
              <a:latin typeface="Baskerville" panose="02020502070401020303" pitchFamily="18" charset="0"/>
              <a:ea typeface="Baskerville" panose="02020502070401020303" pitchFamily="18" charset="0"/>
            </a:endParaRPr>
          </a:p>
        </p:txBody>
      </p:sp>
      <p:sp>
        <p:nvSpPr>
          <p:cNvPr id="21" name="Shape 19"/>
          <p:cNvSpPr/>
          <p:nvPr/>
        </p:nvSpPr>
        <p:spPr>
          <a:xfrm>
            <a:off x="411480" y="3063240"/>
            <a:ext cx="457200" cy="457200"/>
          </a:xfrm>
          <a:prstGeom prst="ellipse">
            <a:avLst/>
          </a:prstGeom>
          <a:solidFill>
            <a:srgbClr val="1A3A8F"/>
          </a:solidFill>
          <a:ln w="12700">
            <a:solidFill>
              <a:srgbClr val="000000"/>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22" name="Text 20"/>
          <p:cNvSpPr/>
          <p:nvPr/>
        </p:nvSpPr>
        <p:spPr>
          <a:xfrm>
            <a:off x="411480" y="3063240"/>
            <a:ext cx="457200" cy="457200"/>
          </a:xfrm>
          <a:prstGeom prst="rect">
            <a:avLst/>
          </a:prstGeom>
          <a:noFill/>
          <a:ln/>
        </p:spPr>
        <p:txBody>
          <a:bodyPr wrap="square" rtlCol="0" anchor="ctr"/>
          <a:lstStyle/>
          <a:p>
            <a:pPr marL="0" indent="0" algn="ctr">
              <a:buNone/>
            </a:pPr>
            <a:r>
              <a:rPr lang="en-US" sz="1600" dirty="0">
                <a:solidFill>
                  <a:srgbClr val="000000"/>
                </a:solidFill>
                <a:latin typeface="Baskerville" panose="02020502070401020303" pitchFamily="18" charset="0"/>
                <a:ea typeface="Baskerville" panose="02020502070401020303" pitchFamily="18" charset="0"/>
              </a:rPr>
              <a:t>⚡</a:t>
            </a:r>
            <a:endParaRPr lang="en-US" sz="1600" dirty="0">
              <a:latin typeface="Baskerville" panose="02020502070401020303" pitchFamily="18" charset="0"/>
              <a:ea typeface="Baskerville" panose="02020502070401020303" pitchFamily="18" charset="0"/>
            </a:endParaRPr>
          </a:p>
        </p:txBody>
      </p:sp>
      <p:sp>
        <p:nvSpPr>
          <p:cNvPr id="23" name="Text 21"/>
          <p:cNvSpPr/>
          <p:nvPr/>
        </p:nvSpPr>
        <p:spPr>
          <a:xfrm>
            <a:off x="932688" y="3063240"/>
            <a:ext cx="2011680" cy="457200"/>
          </a:xfrm>
          <a:prstGeom prst="rect">
            <a:avLst/>
          </a:prstGeom>
          <a:noFill/>
          <a:ln/>
        </p:spPr>
        <p:txBody>
          <a:bodyPr wrap="square" rtlCol="0" anchor="ctr"/>
          <a:lstStyle/>
          <a:p>
            <a:pPr marL="0" indent="0">
              <a:buNone/>
            </a:pPr>
            <a:r>
              <a:rPr lang="en-US" sz="1100" b="1" dirty="0">
                <a:solidFill>
                  <a:srgbClr val="1A3A8F"/>
                </a:solidFill>
                <a:latin typeface="Baskerville" panose="02020502070401020303" pitchFamily="18" charset="0"/>
                <a:ea typeface="Baskerville" panose="02020502070401020303" pitchFamily="18" charset="0"/>
                <a:cs typeface="Calibri" pitchFamily="34" charset="-120"/>
              </a:rPr>
              <a:t>In-Silico Mutagenesis</a:t>
            </a:r>
            <a:endParaRPr lang="en-US" sz="1100" dirty="0">
              <a:latin typeface="Baskerville" panose="02020502070401020303" pitchFamily="18" charset="0"/>
              <a:ea typeface="Baskerville" panose="02020502070401020303" pitchFamily="18" charset="0"/>
            </a:endParaRPr>
          </a:p>
        </p:txBody>
      </p:sp>
      <p:sp>
        <p:nvSpPr>
          <p:cNvPr id="24" name="Text 22"/>
          <p:cNvSpPr/>
          <p:nvPr/>
        </p:nvSpPr>
        <p:spPr>
          <a:xfrm>
            <a:off x="384048" y="3575304"/>
            <a:ext cx="2542032" cy="1042416"/>
          </a:xfrm>
          <a:prstGeom prst="rect">
            <a:avLst/>
          </a:prstGeom>
          <a:noFill/>
          <a:ln/>
        </p:spPr>
        <p:txBody>
          <a:bodyPr wrap="square" rtlCol="0" anchor="ctr"/>
          <a:lstStyle/>
          <a:p>
            <a:pPr marL="0" indent="0">
              <a:buNone/>
            </a:pPr>
            <a:r>
              <a:rPr lang="en-US" sz="950" dirty="0">
                <a:solidFill>
                  <a:srgbClr val="333355"/>
                </a:solidFill>
                <a:latin typeface="Baskerville" panose="02020502070401020303" pitchFamily="18" charset="0"/>
                <a:ea typeface="Baskerville" panose="02020502070401020303" pitchFamily="18" charset="0"/>
                <a:cs typeface="Calibri" pitchFamily="34" charset="-120"/>
              </a:rPr>
              <a:t>Per-position sensitivity scan for DNA sequences. Green/red heatmap shows which nucleotides are functionally constrained.</a:t>
            </a:r>
            <a:endParaRPr lang="en-US" sz="950" dirty="0">
              <a:latin typeface="Baskerville" panose="02020502070401020303" pitchFamily="18" charset="0"/>
              <a:ea typeface="Baskerville" panose="02020502070401020303" pitchFamily="18" charset="0"/>
            </a:endParaRPr>
          </a:p>
        </p:txBody>
      </p:sp>
      <p:sp>
        <p:nvSpPr>
          <p:cNvPr id="25" name="Shape 23"/>
          <p:cNvSpPr/>
          <p:nvPr/>
        </p:nvSpPr>
        <p:spPr>
          <a:xfrm>
            <a:off x="3200400" y="2953512"/>
            <a:ext cx="2743200" cy="1737360"/>
          </a:xfrm>
          <a:prstGeom prst="rect">
            <a:avLst/>
          </a:prstGeom>
          <a:solidFill>
            <a:srgbClr val="FFFFFF"/>
          </a:solidFill>
          <a:ln w="19050">
            <a:solidFill>
              <a:srgbClr val="8B4A10"/>
            </a:solidFill>
            <a:prstDash val="solid"/>
          </a:ln>
          <a:effectLst>
            <a:outerShdw blurRad="101600" dist="38100" dir="8100000" algn="bl" rotWithShape="0">
              <a:srgbClr val="000000">
                <a:alpha val="18000"/>
              </a:srgbClr>
            </a:outerShdw>
          </a:effectLst>
        </p:spPr>
        <p:txBody>
          <a:bodyPr/>
          <a:lstStyle/>
          <a:p>
            <a:endParaRPr lang="en-US">
              <a:latin typeface="Baskerville" panose="02020502070401020303" pitchFamily="18" charset="0"/>
              <a:ea typeface="Baskerville" panose="02020502070401020303" pitchFamily="18" charset="0"/>
            </a:endParaRPr>
          </a:p>
        </p:txBody>
      </p:sp>
      <p:sp>
        <p:nvSpPr>
          <p:cNvPr id="26" name="Shape 24"/>
          <p:cNvSpPr/>
          <p:nvPr/>
        </p:nvSpPr>
        <p:spPr>
          <a:xfrm>
            <a:off x="3337560" y="3063240"/>
            <a:ext cx="457200" cy="457200"/>
          </a:xfrm>
          <a:prstGeom prst="ellipse">
            <a:avLst/>
          </a:prstGeom>
          <a:solidFill>
            <a:srgbClr val="8B4A10"/>
          </a:solidFill>
          <a:ln w="12700">
            <a:solidFill>
              <a:srgbClr val="000000"/>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27" name="Text 25"/>
          <p:cNvSpPr/>
          <p:nvPr/>
        </p:nvSpPr>
        <p:spPr>
          <a:xfrm>
            <a:off x="3337560" y="3063240"/>
            <a:ext cx="457200" cy="457200"/>
          </a:xfrm>
          <a:prstGeom prst="rect">
            <a:avLst/>
          </a:prstGeom>
          <a:noFill/>
          <a:ln/>
        </p:spPr>
        <p:txBody>
          <a:bodyPr wrap="square" rtlCol="0" anchor="ctr"/>
          <a:lstStyle/>
          <a:p>
            <a:pPr marL="0" indent="0" algn="ctr">
              <a:buNone/>
            </a:pPr>
            <a:r>
              <a:rPr lang="en-US" sz="1600" dirty="0">
                <a:solidFill>
                  <a:srgbClr val="000000"/>
                </a:solidFill>
                <a:latin typeface="Baskerville" panose="02020502070401020303" pitchFamily="18" charset="0"/>
                <a:ea typeface="Baskerville" panose="02020502070401020303" pitchFamily="18" charset="0"/>
              </a:rPr>
              <a:t>🔑</a:t>
            </a:r>
            <a:endParaRPr lang="en-US" sz="1600" dirty="0">
              <a:latin typeface="Baskerville" panose="02020502070401020303" pitchFamily="18" charset="0"/>
              <a:ea typeface="Baskerville" panose="02020502070401020303" pitchFamily="18" charset="0"/>
            </a:endParaRPr>
          </a:p>
        </p:txBody>
      </p:sp>
      <p:sp>
        <p:nvSpPr>
          <p:cNvPr id="28" name="Text 26"/>
          <p:cNvSpPr/>
          <p:nvPr/>
        </p:nvSpPr>
        <p:spPr>
          <a:xfrm>
            <a:off x="3858768" y="3063240"/>
            <a:ext cx="2011680" cy="457200"/>
          </a:xfrm>
          <a:prstGeom prst="rect">
            <a:avLst/>
          </a:prstGeom>
          <a:noFill/>
          <a:ln/>
        </p:spPr>
        <p:txBody>
          <a:bodyPr wrap="square" rtlCol="0" anchor="ctr"/>
          <a:lstStyle/>
          <a:p>
            <a:pPr marL="0" indent="0">
              <a:buNone/>
            </a:pPr>
            <a:r>
              <a:rPr lang="en-US" sz="1100" b="1" dirty="0">
                <a:solidFill>
                  <a:srgbClr val="8B4A10"/>
                </a:solidFill>
                <a:latin typeface="Baskerville" panose="02020502070401020303" pitchFamily="18" charset="0"/>
                <a:ea typeface="Baskerville" panose="02020502070401020303" pitchFamily="18" charset="0"/>
                <a:cs typeface="Calibri" pitchFamily="34" charset="-120"/>
              </a:rPr>
              <a:t>Alanine Scanning</a:t>
            </a:r>
            <a:endParaRPr lang="en-US" sz="1100" dirty="0">
              <a:latin typeface="Baskerville" panose="02020502070401020303" pitchFamily="18" charset="0"/>
              <a:ea typeface="Baskerville" panose="02020502070401020303" pitchFamily="18" charset="0"/>
            </a:endParaRPr>
          </a:p>
        </p:txBody>
      </p:sp>
      <p:sp>
        <p:nvSpPr>
          <p:cNvPr id="29" name="Text 27"/>
          <p:cNvSpPr/>
          <p:nvPr/>
        </p:nvSpPr>
        <p:spPr>
          <a:xfrm>
            <a:off x="3310128" y="3575304"/>
            <a:ext cx="2542032" cy="1042416"/>
          </a:xfrm>
          <a:prstGeom prst="rect">
            <a:avLst/>
          </a:prstGeom>
          <a:noFill/>
          <a:ln/>
        </p:spPr>
        <p:txBody>
          <a:bodyPr wrap="square" rtlCol="0" anchor="ctr"/>
          <a:lstStyle/>
          <a:p>
            <a:pPr marL="0" indent="0">
              <a:buNone/>
            </a:pPr>
            <a:r>
              <a:rPr lang="en-US" sz="950" dirty="0">
                <a:solidFill>
                  <a:srgbClr val="333355"/>
                </a:solidFill>
                <a:latin typeface="Baskerville" panose="02020502070401020303" pitchFamily="18" charset="0"/>
                <a:ea typeface="Baskerville" panose="02020502070401020303" pitchFamily="18" charset="0"/>
                <a:cs typeface="Calibri" pitchFamily="34" charset="-120"/>
              </a:rPr>
              <a:t>Residue-level functional site detection for proteins. Flags positions critical to Pfam family classification.</a:t>
            </a:r>
            <a:endParaRPr lang="en-US" sz="950" dirty="0">
              <a:latin typeface="Baskerville" panose="02020502070401020303" pitchFamily="18" charset="0"/>
              <a:ea typeface="Baskerville" panose="02020502070401020303" pitchFamily="18" charset="0"/>
            </a:endParaRPr>
          </a:p>
        </p:txBody>
      </p:sp>
      <p:sp>
        <p:nvSpPr>
          <p:cNvPr id="30" name="Shape 28"/>
          <p:cNvSpPr/>
          <p:nvPr/>
        </p:nvSpPr>
        <p:spPr>
          <a:xfrm>
            <a:off x="6126480" y="2953512"/>
            <a:ext cx="2743200" cy="1737360"/>
          </a:xfrm>
          <a:prstGeom prst="rect">
            <a:avLst/>
          </a:prstGeom>
          <a:solidFill>
            <a:srgbClr val="FFFFFF"/>
          </a:solidFill>
          <a:ln w="19050">
            <a:solidFill>
              <a:srgbClr val="5B2A8B"/>
            </a:solidFill>
            <a:prstDash val="solid"/>
          </a:ln>
          <a:effectLst>
            <a:outerShdw blurRad="101600" dist="38100" dir="8100000" algn="bl" rotWithShape="0">
              <a:srgbClr val="000000">
                <a:alpha val="18000"/>
              </a:srgbClr>
            </a:outerShdw>
          </a:effectLst>
        </p:spPr>
        <p:txBody>
          <a:bodyPr/>
          <a:lstStyle/>
          <a:p>
            <a:endParaRPr lang="en-US">
              <a:latin typeface="Baskerville" panose="02020502070401020303" pitchFamily="18" charset="0"/>
              <a:ea typeface="Baskerville" panose="02020502070401020303" pitchFamily="18" charset="0"/>
            </a:endParaRPr>
          </a:p>
        </p:txBody>
      </p:sp>
      <p:sp>
        <p:nvSpPr>
          <p:cNvPr id="31" name="Shape 29"/>
          <p:cNvSpPr/>
          <p:nvPr/>
        </p:nvSpPr>
        <p:spPr>
          <a:xfrm>
            <a:off x="6263640" y="3063240"/>
            <a:ext cx="457200" cy="457200"/>
          </a:xfrm>
          <a:prstGeom prst="ellipse">
            <a:avLst/>
          </a:prstGeom>
          <a:solidFill>
            <a:srgbClr val="5B2A8B"/>
          </a:solidFill>
          <a:ln w="12700">
            <a:solidFill>
              <a:srgbClr val="000000"/>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32" name="Text 30"/>
          <p:cNvSpPr/>
          <p:nvPr/>
        </p:nvSpPr>
        <p:spPr>
          <a:xfrm>
            <a:off x="6263640" y="3063240"/>
            <a:ext cx="457200" cy="457200"/>
          </a:xfrm>
          <a:prstGeom prst="rect">
            <a:avLst/>
          </a:prstGeom>
          <a:noFill/>
          <a:ln/>
        </p:spPr>
        <p:txBody>
          <a:bodyPr wrap="square" rtlCol="0" anchor="ctr"/>
          <a:lstStyle/>
          <a:p>
            <a:pPr marL="0" indent="0" algn="ctr">
              <a:buNone/>
            </a:pPr>
            <a:r>
              <a:rPr lang="en-US" sz="1600" dirty="0">
                <a:solidFill>
                  <a:srgbClr val="000000"/>
                </a:solidFill>
                <a:latin typeface="Baskerville" panose="02020502070401020303" pitchFamily="18" charset="0"/>
                <a:ea typeface="Baskerville" panose="02020502070401020303" pitchFamily="18" charset="0"/>
              </a:rPr>
              <a:t>🔍</a:t>
            </a:r>
            <a:endParaRPr lang="en-US" sz="1600" dirty="0">
              <a:latin typeface="Baskerville" panose="02020502070401020303" pitchFamily="18" charset="0"/>
              <a:ea typeface="Baskerville" panose="02020502070401020303" pitchFamily="18" charset="0"/>
            </a:endParaRPr>
          </a:p>
        </p:txBody>
      </p:sp>
      <p:sp>
        <p:nvSpPr>
          <p:cNvPr id="33" name="Text 31"/>
          <p:cNvSpPr/>
          <p:nvPr/>
        </p:nvSpPr>
        <p:spPr>
          <a:xfrm>
            <a:off x="6784848" y="3063240"/>
            <a:ext cx="2011680" cy="457200"/>
          </a:xfrm>
          <a:prstGeom prst="rect">
            <a:avLst/>
          </a:prstGeom>
          <a:noFill/>
          <a:ln/>
        </p:spPr>
        <p:txBody>
          <a:bodyPr wrap="square" rtlCol="0" anchor="ctr"/>
          <a:lstStyle/>
          <a:p>
            <a:pPr marL="0" indent="0">
              <a:buNone/>
            </a:pPr>
            <a:r>
              <a:rPr lang="en-US" sz="1100" b="1" dirty="0">
                <a:solidFill>
                  <a:srgbClr val="5B2A8B"/>
                </a:solidFill>
                <a:latin typeface="Baskerville" panose="02020502070401020303" pitchFamily="18" charset="0"/>
                <a:ea typeface="Baskerville" panose="02020502070401020303" pitchFamily="18" charset="0"/>
                <a:cs typeface="Calibri" pitchFamily="34" charset="-120"/>
              </a:rPr>
              <a:t>Similarity Search</a:t>
            </a:r>
            <a:endParaRPr lang="en-US" sz="1100" dirty="0">
              <a:latin typeface="Baskerville" panose="02020502070401020303" pitchFamily="18" charset="0"/>
              <a:ea typeface="Baskerville" panose="02020502070401020303" pitchFamily="18" charset="0"/>
            </a:endParaRPr>
          </a:p>
        </p:txBody>
      </p:sp>
      <p:sp>
        <p:nvSpPr>
          <p:cNvPr id="34" name="Text 32"/>
          <p:cNvSpPr/>
          <p:nvPr/>
        </p:nvSpPr>
        <p:spPr>
          <a:xfrm>
            <a:off x="6236208" y="3575304"/>
            <a:ext cx="2542032" cy="1042416"/>
          </a:xfrm>
          <a:prstGeom prst="rect">
            <a:avLst/>
          </a:prstGeom>
          <a:noFill/>
          <a:ln/>
        </p:spPr>
        <p:txBody>
          <a:bodyPr wrap="square" rtlCol="0" anchor="ctr"/>
          <a:lstStyle/>
          <a:p>
            <a:pPr marL="0" indent="0">
              <a:buNone/>
            </a:pPr>
            <a:r>
              <a:rPr lang="en-US" sz="950" dirty="0">
                <a:solidFill>
                  <a:srgbClr val="333355"/>
                </a:solidFill>
                <a:latin typeface="Baskerville" panose="02020502070401020303" pitchFamily="18" charset="0"/>
                <a:ea typeface="Baskerville" panose="02020502070401020303" pitchFamily="18" charset="0"/>
                <a:cs typeface="Calibri" pitchFamily="34" charset="-120"/>
              </a:rPr>
              <a:t>Find the nearest neighbors in the training set to your query sequence using embedding-space distance.</a:t>
            </a:r>
            <a:endParaRPr lang="en-US" sz="950" dirty="0">
              <a:latin typeface="Baskerville" panose="02020502070401020303" pitchFamily="18" charset="0"/>
              <a:ea typeface="Baskerville" panose="02020502070401020303" pitchFamily="18" charset="0"/>
            </a:endParaRPr>
          </a:p>
        </p:txBody>
      </p:sp>
      <p:sp>
        <p:nvSpPr>
          <p:cNvPr id="35" name="Shape 33"/>
          <p:cNvSpPr/>
          <p:nvPr/>
        </p:nvSpPr>
        <p:spPr>
          <a:xfrm>
            <a:off x="274320" y="4828032"/>
            <a:ext cx="8595360" cy="246888"/>
          </a:xfrm>
          <a:prstGeom prst="rect">
            <a:avLst/>
          </a:prstGeom>
          <a:solidFill>
            <a:srgbClr val="E8F0FE"/>
          </a:solidFill>
          <a:ln w="6350">
            <a:solidFill>
              <a:srgbClr val="2451B7"/>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36" name="Text 34"/>
          <p:cNvSpPr/>
          <p:nvPr/>
        </p:nvSpPr>
        <p:spPr>
          <a:xfrm>
            <a:off x="365760" y="4837176"/>
            <a:ext cx="8412480" cy="228600"/>
          </a:xfrm>
          <a:prstGeom prst="rect">
            <a:avLst/>
          </a:prstGeom>
          <a:noFill/>
          <a:ln/>
        </p:spPr>
        <p:txBody>
          <a:bodyPr wrap="square" rtlCol="0" anchor="ctr"/>
          <a:lstStyle/>
          <a:p>
            <a:pPr marL="0" indent="0">
              <a:buNone/>
            </a:pPr>
            <a:r>
              <a:rPr lang="en-US" sz="850" i="1" dirty="0">
                <a:solidFill>
                  <a:srgbClr val="2451B7"/>
                </a:solidFill>
                <a:latin typeface="Baskerville" panose="02020502070401020303" pitchFamily="18" charset="0"/>
                <a:ea typeface="Baskerville" panose="02020502070401020303" pitchFamily="18" charset="0"/>
                <a:cs typeface="Calibri" pitchFamily="34" charset="-120"/>
              </a:rPr>
              <a:t>Deployment: Streamlit Community Cloud (in progress)  |  All models load from Hugging Face Hub  |  No GPU required for demo mode (pre-extracted embeddings)</a:t>
            </a:r>
            <a:endParaRPr lang="en-US" sz="850" dirty="0">
              <a:latin typeface="Baskerville" panose="02020502070401020303" pitchFamily="18" charset="0"/>
              <a:ea typeface="Baskerville" panose="02020502070401020303"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999963" y="-1999641"/>
            <a:ext cx="5143500" cy="9143425"/>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733" y="0"/>
            <a:ext cx="6803134" cy="5143179"/>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737118" y="-1264380"/>
            <a:ext cx="3670923" cy="9145160"/>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5CC93090-10AB-26AF-1376-46E8E99C9768}"/>
              </a:ext>
            </a:extLst>
          </p:cNvPr>
          <p:cNvPicPr>
            <a:picLocks noChangeAspect="1"/>
          </p:cNvPicPr>
          <p:nvPr/>
        </p:nvPicPr>
        <p:blipFill>
          <a:blip r:embed="rId2"/>
          <a:stretch>
            <a:fillRect/>
          </a:stretch>
        </p:blipFill>
        <p:spPr>
          <a:xfrm>
            <a:off x="-1735" y="1"/>
            <a:ext cx="9145161" cy="5143500"/>
          </a:xfrm>
          <a:prstGeom prst="rect">
            <a:avLst/>
          </a:prstGeom>
        </p:spPr>
      </p:pic>
    </p:spTree>
    <p:extLst>
      <p:ext uri="{BB962C8B-B14F-4D97-AF65-F5344CB8AC3E}">
        <p14:creationId xmlns:p14="http://schemas.microsoft.com/office/powerpoint/2010/main" val="985285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1B4B"/>
          </a:solidFill>
          <a:ln w="12700">
            <a:solidFill>
              <a:srgbClr val="000000"/>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3" name="Text 1"/>
          <p:cNvSpPr/>
          <p:nvPr/>
        </p:nvSpPr>
        <p:spPr>
          <a:xfrm>
            <a:off x="365760" y="0"/>
            <a:ext cx="8229600" cy="640080"/>
          </a:xfrm>
          <a:prstGeom prst="rect">
            <a:avLst/>
          </a:prstGeom>
          <a:noFill/>
          <a:ln/>
        </p:spPr>
        <p:txBody>
          <a:bodyPr wrap="square" rtlCol="0" anchor="ctr"/>
          <a:lstStyle/>
          <a:p>
            <a:pPr marL="0" indent="0">
              <a:buNone/>
            </a:pPr>
            <a:r>
              <a:rPr lang="en-US" sz="2000" b="1" dirty="0">
                <a:solidFill>
                  <a:srgbClr val="FFFFFF"/>
                </a:solidFill>
                <a:latin typeface="Baskerville" panose="02020502070401020303" pitchFamily="18" charset="0"/>
                <a:ea typeface="Baskerville" panose="02020502070401020303" pitchFamily="18" charset="0"/>
                <a:cs typeface="Calibri" pitchFamily="34" charset="-120"/>
              </a:rPr>
              <a:t>Challenges, Decisions &amp; Lessons Learned</a:t>
            </a:r>
            <a:endParaRPr lang="en-US" sz="2000" dirty="0">
              <a:latin typeface="Baskerville" panose="02020502070401020303" pitchFamily="18" charset="0"/>
              <a:ea typeface="Baskerville" panose="02020502070401020303" pitchFamily="18" charset="0"/>
            </a:endParaRPr>
          </a:p>
        </p:txBody>
      </p:sp>
      <p:sp>
        <p:nvSpPr>
          <p:cNvPr id="4" name="Shape 2"/>
          <p:cNvSpPr/>
          <p:nvPr/>
        </p:nvSpPr>
        <p:spPr>
          <a:xfrm>
            <a:off x="274320" y="749808"/>
            <a:ext cx="4160520" cy="2011680"/>
          </a:xfrm>
          <a:prstGeom prst="rect">
            <a:avLst/>
          </a:prstGeom>
          <a:solidFill>
            <a:srgbClr val="FFFFFF"/>
          </a:solidFill>
          <a:ln w="19050">
            <a:solidFill>
              <a:srgbClr val="2451B7"/>
            </a:solidFill>
            <a:prstDash val="solid"/>
          </a:ln>
          <a:effectLst>
            <a:outerShdw blurRad="101600" dist="38100" dir="8100000" algn="bl" rotWithShape="0">
              <a:srgbClr val="000000">
                <a:alpha val="18000"/>
              </a:srgbClr>
            </a:outerShdw>
          </a:effectLst>
        </p:spPr>
        <p:txBody>
          <a:bodyPr/>
          <a:lstStyle/>
          <a:p>
            <a:endParaRPr lang="en-US">
              <a:latin typeface="Baskerville" panose="02020502070401020303" pitchFamily="18" charset="0"/>
              <a:ea typeface="Baskerville" panose="02020502070401020303" pitchFamily="18" charset="0"/>
            </a:endParaRPr>
          </a:p>
        </p:txBody>
      </p:sp>
      <p:sp>
        <p:nvSpPr>
          <p:cNvPr id="5" name="Shape 3"/>
          <p:cNvSpPr/>
          <p:nvPr/>
        </p:nvSpPr>
        <p:spPr>
          <a:xfrm>
            <a:off x="274320" y="749808"/>
            <a:ext cx="4160520" cy="320040"/>
          </a:xfrm>
          <a:prstGeom prst="rect">
            <a:avLst/>
          </a:prstGeom>
          <a:solidFill>
            <a:srgbClr val="2451B7"/>
          </a:solidFill>
          <a:ln w="12700">
            <a:solidFill>
              <a:srgbClr val="000000"/>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6" name="Text 4"/>
          <p:cNvSpPr/>
          <p:nvPr/>
        </p:nvSpPr>
        <p:spPr>
          <a:xfrm>
            <a:off x="365760" y="768096"/>
            <a:ext cx="4005072" cy="283464"/>
          </a:xfrm>
          <a:prstGeom prst="rect">
            <a:avLst/>
          </a:prstGeom>
          <a:noFill/>
          <a:ln/>
        </p:spPr>
        <p:txBody>
          <a:bodyPr wrap="square" rtlCol="0" anchor="ctr"/>
          <a:lstStyle/>
          <a:p>
            <a:pPr marL="0" indent="0">
              <a:buNone/>
            </a:pPr>
            <a:r>
              <a:rPr lang="en-US" sz="1100" b="1" dirty="0">
                <a:solidFill>
                  <a:srgbClr val="FFFFFF"/>
                </a:solidFill>
                <a:latin typeface="Baskerville" panose="02020502070401020303" pitchFamily="18" charset="0"/>
                <a:ea typeface="Baskerville" panose="02020502070401020303" pitchFamily="18" charset="0"/>
                <a:cs typeface="Calibri" pitchFamily="34" charset="-120"/>
              </a:rPr>
              <a:t>⚙️  HiPerGator Environment</a:t>
            </a:r>
            <a:endParaRPr lang="en-US" sz="1100" dirty="0">
              <a:latin typeface="Baskerville" panose="02020502070401020303" pitchFamily="18" charset="0"/>
              <a:ea typeface="Baskerville" panose="02020502070401020303" pitchFamily="18" charset="0"/>
            </a:endParaRPr>
          </a:p>
        </p:txBody>
      </p:sp>
      <p:sp>
        <p:nvSpPr>
          <p:cNvPr id="7" name="Text 5"/>
          <p:cNvSpPr/>
          <p:nvPr/>
        </p:nvSpPr>
        <p:spPr>
          <a:xfrm>
            <a:off x="384048" y="1133856"/>
            <a:ext cx="3931920" cy="201168"/>
          </a:xfrm>
          <a:prstGeom prst="rect">
            <a:avLst/>
          </a:prstGeom>
          <a:noFill/>
          <a:ln/>
        </p:spPr>
        <p:txBody>
          <a:bodyPr wrap="square" rtlCol="0" anchor="ctr"/>
          <a:lstStyle/>
          <a:p>
            <a:pPr marL="0" indent="0">
              <a:buNone/>
            </a:pPr>
            <a:r>
              <a:rPr lang="en-US" sz="900" b="1" dirty="0">
                <a:solidFill>
                  <a:srgbClr val="2451B7"/>
                </a:solidFill>
                <a:latin typeface="Baskerville" panose="02020502070401020303" pitchFamily="18" charset="0"/>
                <a:ea typeface="Baskerville" panose="02020502070401020303" pitchFamily="18" charset="0"/>
                <a:cs typeface="Calibri" pitchFamily="34" charset="-120"/>
              </a:rPr>
              <a:t>Challenge:</a:t>
            </a:r>
            <a:endParaRPr lang="en-US" sz="900" dirty="0">
              <a:latin typeface="Baskerville" panose="02020502070401020303" pitchFamily="18" charset="0"/>
              <a:ea typeface="Baskerville" panose="02020502070401020303" pitchFamily="18" charset="0"/>
            </a:endParaRPr>
          </a:p>
        </p:txBody>
      </p:sp>
      <p:sp>
        <p:nvSpPr>
          <p:cNvPr id="8" name="Text 6"/>
          <p:cNvSpPr/>
          <p:nvPr/>
        </p:nvSpPr>
        <p:spPr>
          <a:xfrm>
            <a:off x="384048" y="1316736"/>
            <a:ext cx="3931920" cy="658368"/>
          </a:xfrm>
          <a:prstGeom prst="rect">
            <a:avLst/>
          </a:prstGeom>
          <a:noFill/>
          <a:ln/>
        </p:spPr>
        <p:txBody>
          <a:bodyPr wrap="square" rtlCol="0" anchor="ctr"/>
          <a:lstStyle/>
          <a:p>
            <a:pPr marL="0" indent="0">
              <a:buNone/>
            </a:pPr>
            <a:r>
              <a:rPr lang="en-US" sz="950" dirty="0">
                <a:solidFill>
                  <a:srgbClr val="444455"/>
                </a:solidFill>
                <a:latin typeface="Baskerville" panose="02020502070401020303" pitchFamily="18" charset="0"/>
                <a:ea typeface="Baskerville" panose="02020502070401020303" pitchFamily="18" charset="0"/>
                <a:cs typeface="Calibri" pitchFamily="34" charset="-120"/>
              </a:rPr>
              <a:t>conda not initialized on compute nodes; protobuf 6.33.5 incompatible with Streamlit 1.9.0; SSH tunnel requires exact compute node hostname.</a:t>
            </a:r>
            <a:endParaRPr lang="en-US" sz="950" dirty="0">
              <a:latin typeface="Baskerville" panose="02020502070401020303" pitchFamily="18" charset="0"/>
              <a:ea typeface="Baskerville" panose="02020502070401020303" pitchFamily="18" charset="0"/>
            </a:endParaRPr>
          </a:p>
        </p:txBody>
      </p:sp>
      <p:sp>
        <p:nvSpPr>
          <p:cNvPr id="9" name="Text 7"/>
          <p:cNvSpPr/>
          <p:nvPr/>
        </p:nvSpPr>
        <p:spPr>
          <a:xfrm>
            <a:off x="384048" y="1993392"/>
            <a:ext cx="3931920" cy="201168"/>
          </a:xfrm>
          <a:prstGeom prst="rect">
            <a:avLst/>
          </a:prstGeom>
          <a:noFill/>
          <a:ln/>
        </p:spPr>
        <p:txBody>
          <a:bodyPr wrap="square" rtlCol="0" anchor="ctr"/>
          <a:lstStyle/>
          <a:p>
            <a:pPr marL="0" indent="0">
              <a:buNone/>
            </a:pPr>
            <a:r>
              <a:rPr lang="en-US" sz="900" b="1" dirty="0">
                <a:solidFill>
                  <a:srgbClr val="2451B7"/>
                </a:solidFill>
                <a:latin typeface="Baskerville" panose="02020502070401020303" pitchFamily="18" charset="0"/>
                <a:ea typeface="Baskerville" panose="02020502070401020303" pitchFamily="18" charset="0"/>
                <a:cs typeface="Calibri" pitchFamily="34" charset="-120"/>
              </a:rPr>
              <a:t>Lesson:</a:t>
            </a:r>
            <a:endParaRPr lang="en-US" sz="900" dirty="0">
              <a:latin typeface="Baskerville" panose="02020502070401020303" pitchFamily="18" charset="0"/>
              <a:ea typeface="Baskerville" panose="02020502070401020303" pitchFamily="18" charset="0"/>
            </a:endParaRPr>
          </a:p>
        </p:txBody>
      </p:sp>
      <p:sp>
        <p:nvSpPr>
          <p:cNvPr id="10" name="Text 8"/>
          <p:cNvSpPr/>
          <p:nvPr/>
        </p:nvSpPr>
        <p:spPr>
          <a:xfrm>
            <a:off x="384048" y="2185416"/>
            <a:ext cx="3931920" cy="512064"/>
          </a:xfrm>
          <a:prstGeom prst="rect">
            <a:avLst/>
          </a:prstGeom>
          <a:noFill/>
          <a:ln/>
        </p:spPr>
        <p:txBody>
          <a:bodyPr wrap="square" rtlCol="0" anchor="ctr"/>
          <a:lstStyle/>
          <a:p>
            <a:pPr marL="0" indent="0">
              <a:buNone/>
            </a:pPr>
            <a:r>
              <a:rPr lang="en-US" sz="950" dirty="0">
                <a:solidFill>
                  <a:srgbClr val="1B3A5A"/>
                </a:solidFill>
                <a:latin typeface="Baskerville" panose="02020502070401020303" pitchFamily="18" charset="0"/>
                <a:ea typeface="Baskerville" panose="02020502070401020303" pitchFamily="18" charset="0"/>
                <a:cs typeface="Calibri" pitchFamily="34" charset="-120"/>
              </a:rPr>
              <a:t>Tested deployment incrementally. Upgraded Streamlit to 1.32+ and configured SSH port forwarding. Dependency pinning at environment creation time is essential for reproducibility.</a:t>
            </a:r>
            <a:endParaRPr lang="en-US" sz="950" dirty="0">
              <a:latin typeface="Baskerville" panose="02020502070401020303" pitchFamily="18" charset="0"/>
              <a:ea typeface="Baskerville" panose="02020502070401020303" pitchFamily="18" charset="0"/>
            </a:endParaRPr>
          </a:p>
        </p:txBody>
      </p:sp>
      <p:sp>
        <p:nvSpPr>
          <p:cNvPr id="11" name="Shape 9"/>
          <p:cNvSpPr/>
          <p:nvPr/>
        </p:nvSpPr>
        <p:spPr>
          <a:xfrm>
            <a:off x="4709160" y="749808"/>
            <a:ext cx="4160520" cy="2011680"/>
          </a:xfrm>
          <a:prstGeom prst="rect">
            <a:avLst/>
          </a:prstGeom>
          <a:solidFill>
            <a:srgbClr val="FFFFFF"/>
          </a:solidFill>
          <a:ln w="19050">
            <a:solidFill>
              <a:srgbClr val="1B7B8A"/>
            </a:solidFill>
            <a:prstDash val="solid"/>
          </a:ln>
          <a:effectLst>
            <a:outerShdw blurRad="101600" dist="38100" dir="8100000" algn="bl" rotWithShape="0">
              <a:srgbClr val="000000">
                <a:alpha val="18000"/>
              </a:srgbClr>
            </a:outerShdw>
          </a:effectLst>
        </p:spPr>
        <p:txBody>
          <a:bodyPr/>
          <a:lstStyle/>
          <a:p>
            <a:endParaRPr lang="en-US">
              <a:latin typeface="Baskerville" panose="02020502070401020303" pitchFamily="18" charset="0"/>
              <a:ea typeface="Baskerville" panose="02020502070401020303" pitchFamily="18" charset="0"/>
            </a:endParaRPr>
          </a:p>
        </p:txBody>
      </p:sp>
      <p:sp>
        <p:nvSpPr>
          <p:cNvPr id="12" name="Shape 10"/>
          <p:cNvSpPr/>
          <p:nvPr/>
        </p:nvSpPr>
        <p:spPr>
          <a:xfrm>
            <a:off x="4709160" y="749808"/>
            <a:ext cx="4160520" cy="320040"/>
          </a:xfrm>
          <a:prstGeom prst="rect">
            <a:avLst/>
          </a:prstGeom>
          <a:solidFill>
            <a:srgbClr val="1B7B8A"/>
          </a:solidFill>
          <a:ln w="12700">
            <a:solidFill>
              <a:srgbClr val="000000"/>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13" name="Text 11"/>
          <p:cNvSpPr/>
          <p:nvPr/>
        </p:nvSpPr>
        <p:spPr>
          <a:xfrm>
            <a:off x="4800600" y="768096"/>
            <a:ext cx="4005072" cy="283464"/>
          </a:xfrm>
          <a:prstGeom prst="rect">
            <a:avLst/>
          </a:prstGeom>
          <a:noFill/>
          <a:ln/>
        </p:spPr>
        <p:txBody>
          <a:bodyPr wrap="square" rtlCol="0" anchor="ctr"/>
          <a:lstStyle/>
          <a:p>
            <a:pPr marL="0" indent="0">
              <a:buNone/>
            </a:pPr>
            <a:r>
              <a:rPr lang="en-US" sz="1100" b="1" dirty="0">
                <a:solidFill>
                  <a:srgbClr val="FFFFFF"/>
                </a:solidFill>
                <a:latin typeface="Baskerville" panose="02020502070401020303" pitchFamily="18" charset="0"/>
                <a:ea typeface="Baskerville" panose="02020502070401020303" pitchFamily="18" charset="0"/>
                <a:cs typeface="Calibri" pitchFamily="34" charset="-120"/>
              </a:rPr>
              <a:t>📏  Framing the DNA Result</a:t>
            </a:r>
            <a:endParaRPr lang="en-US" sz="1100" dirty="0">
              <a:latin typeface="Baskerville" panose="02020502070401020303" pitchFamily="18" charset="0"/>
              <a:ea typeface="Baskerville" panose="02020502070401020303" pitchFamily="18" charset="0"/>
            </a:endParaRPr>
          </a:p>
        </p:txBody>
      </p:sp>
      <p:sp>
        <p:nvSpPr>
          <p:cNvPr id="14" name="Text 12"/>
          <p:cNvSpPr/>
          <p:nvPr/>
        </p:nvSpPr>
        <p:spPr>
          <a:xfrm>
            <a:off x="4818888" y="1133856"/>
            <a:ext cx="3931920" cy="201168"/>
          </a:xfrm>
          <a:prstGeom prst="rect">
            <a:avLst/>
          </a:prstGeom>
          <a:noFill/>
          <a:ln/>
        </p:spPr>
        <p:txBody>
          <a:bodyPr wrap="square" rtlCol="0" anchor="ctr"/>
          <a:lstStyle/>
          <a:p>
            <a:pPr marL="0" indent="0">
              <a:buNone/>
            </a:pPr>
            <a:r>
              <a:rPr lang="en-US" sz="900" b="1" dirty="0">
                <a:solidFill>
                  <a:srgbClr val="1B7B8A"/>
                </a:solidFill>
                <a:latin typeface="Baskerville" panose="02020502070401020303" pitchFamily="18" charset="0"/>
                <a:ea typeface="Baskerville" panose="02020502070401020303" pitchFamily="18" charset="0"/>
                <a:cs typeface="Calibri" pitchFamily="34" charset="-120"/>
              </a:rPr>
              <a:t>Challenge:</a:t>
            </a:r>
            <a:endParaRPr lang="en-US" sz="900" dirty="0">
              <a:latin typeface="Baskerville" panose="02020502070401020303" pitchFamily="18" charset="0"/>
              <a:ea typeface="Baskerville" panose="02020502070401020303" pitchFamily="18" charset="0"/>
            </a:endParaRPr>
          </a:p>
        </p:txBody>
      </p:sp>
      <p:sp>
        <p:nvSpPr>
          <p:cNvPr id="15" name="Text 13"/>
          <p:cNvSpPr/>
          <p:nvPr/>
        </p:nvSpPr>
        <p:spPr>
          <a:xfrm>
            <a:off x="4818888" y="1316736"/>
            <a:ext cx="3931920" cy="658368"/>
          </a:xfrm>
          <a:prstGeom prst="rect">
            <a:avLst/>
          </a:prstGeom>
          <a:noFill/>
          <a:ln/>
        </p:spPr>
        <p:txBody>
          <a:bodyPr wrap="square" rtlCol="0" anchor="ctr"/>
          <a:lstStyle/>
          <a:p>
            <a:pPr marL="0" indent="0">
              <a:buNone/>
            </a:pPr>
            <a:r>
              <a:rPr lang="en-US" sz="950" dirty="0">
                <a:solidFill>
                  <a:srgbClr val="444455"/>
                </a:solidFill>
                <a:latin typeface="Baskerville" panose="02020502070401020303" pitchFamily="18" charset="0"/>
                <a:ea typeface="Baskerville" panose="02020502070401020303" pitchFamily="18" charset="0"/>
                <a:cs typeface="Calibri" pitchFamily="34" charset="-120"/>
              </a:rPr>
              <a:t>NT-500M gains only +1.5 AUC over Random Forest. Risk of presenting this as a failure rather than a scientific finding.</a:t>
            </a:r>
            <a:endParaRPr lang="en-US" sz="950" dirty="0">
              <a:latin typeface="Baskerville" panose="02020502070401020303" pitchFamily="18" charset="0"/>
              <a:ea typeface="Baskerville" panose="02020502070401020303" pitchFamily="18" charset="0"/>
            </a:endParaRPr>
          </a:p>
        </p:txBody>
      </p:sp>
      <p:sp>
        <p:nvSpPr>
          <p:cNvPr id="16" name="Text 14"/>
          <p:cNvSpPr/>
          <p:nvPr/>
        </p:nvSpPr>
        <p:spPr>
          <a:xfrm>
            <a:off x="4818888" y="1993392"/>
            <a:ext cx="3931920" cy="201168"/>
          </a:xfrm>
          <a:prstGeom prst="rect">
            <a:avLst/>
          </a:prstGeom>
          <a:noFill/>
          <a:ln/>
        </p:spPr>
        <p:txBody>
          <a:bodyPr wrap="square" rtlCol="0" anchor="ctr"/>
          <a:lstStyle/>
          <a:p>
            <a:pPr marL="0" indent="0">
              <a:buNone/>
            </a:pPr>
            <a:r>
              <a:rPr lang="en-US" sz="900" b="1" dirty="0">
                <a:solidFill>
                  <a:srgbClr val="1B7B8A"/>
                </a:solidFill>
                <a:latin typeface="Baskerville" panose="02020502070401020303" pitchFamily="18" charset="0"/>
                <a:ea typeface="Baskerville" panose="02020502070401020303" pitchFamily="18" charset="0"/>
                <a:cs typeface="Calibri" pitchFamily="34" charset="-120"/>
              </a:rPr>
              <a:t>Lesson:</a:t>
            </a:r>
            <a:endParaRPr lang="en-US" sz="900" dirty="0">
              <a:latin typeface="Baskerville" panose="02020502070401020303" pitchFamily="18" charset="0"/>
              <a:ea typeface="Baskerville" panose="02020502070401020303" pitchFamily="18" charset="0"/>
            </a:endParaRPr>
          </a:p>
        </p:txBody>
      </p:sp>
      <p:sp>
        <p:nvSpPr>
          <p:cNvPr id="17" name="Text 15"/>
          <p:cNvSpPr/>
          <p:nvPr/>
        </p:nvSpPr>
        <p:spPr>
          <a:xfrm>
            <a:off x="4818888" y="2185416"/>
            <a:ext cx="3931920" cy="512064"/>
          </a:xfrm>
          <a:prstGeom prst="rect">
            <a:avLst/>
          </a:prstGeom>
          <a:noFill/>
          <a:ln/>
        </p:spPr>
        <p:txBody>
          <a:bodyPr wrap="square" rtlCol="0" anchor="ctr"/>
          <a:lstStyle/>
          <a:p>
            <a:pPr marL="0" indent="0">
              <a:buNone/>
            </a:pPr>
            <a:r>
              <a:rPr lang="en-US" sz="950" dirty="0">
                <a:solidFill>
                  <a:srgbClr val="1B3A5A"/>
                </a:solidFill>
                <a:latin typeface="Baskerville" panose="02020502070401020303" pitchFamily="18" charset="0"/>
                <a:ea typeface="Baskerville" panose="02020502070401020303" pitchFamily="18" charset="0"/>
                <a:cs typeface="Calibri" pitchFamily="34" charset="-120"/>
              </a:rPr>
              <a:t>Reframed as evidence of a high feature engineering ceiling — promoters are compositionally defined, and 95 GC/CpG features already capture the core signal. The finding is meaningful, not negative.</a:t>
            </a:r>
            <a:endParaRPr lang="en-US" sz="950" dirty="0">
              <a:latin typeface="Baskerville" panose="02020502070401020303" pitchFamily="18" charset="0"/>
              <a:ea typeface="Baskerville" panose="02020502070401020303" pitchFamily="18" charset="0"/>
            </a:endParaRPr>
          </a:p>
        </p:txBody>
      </p:sp>
      <p:sp>
        <p:nvSpPr>
          <p:cNvPr id="18" name="Shape 16"/>
          <p:cNvSpPr/>
          <p:nvPr/>
        </p:nvSpPr>
        <p:spPr>
          <a:xfrm>
            <a:off x="274320" y="2898648"/>
            <a:ext cx="4160520" cy="2011680"/>
          </a:xfrm>
          <a:prstGeom prst="rect">
            <a:avLst/>
          </a:prstGeom>
          <a:solidFill>
            <a:srgbClr val="FFFFFF"/>
          </a:solidFill>
          <a:ln w="19050">
            <a:solidFill>
              <a:srgbClr val="1B6B4A"/>
            </a:solidFill>
            <a:prstDash val="solid"/>
          </a:ln>
          <a:effectLst>
            <a:outerShdw blurRad="101600" dist="38100" dir="8100000" algn="bl" rotWithShape="0">
              <a:srgbClr val="000000">
                <a:alpha val="18000"/>
              </a:srgbClr>
            </a:outerShdw>
          </a:effectLst>
        </p:spPr>
        <p:txBody>
          <a:bodyPr/>
          <a:lstStyle/>
          <a:p>
            <a:endParaRPr lang="en-US">
              <a:latin typeface="Baskerville" panose="02020502070401020303" pitchFamily="18" charset="0"/>
              <a:ea typeface="Baskerville" panose="02020502070401020303" pitchFamily="18" charset="0"/>
            </a:endParaRPr>
          </a:p>
        </p:txBody>
      </p:sp>
      <p:sp>
        <p:nvSpPr>
          <p:cNvPr id="19" name="Shape 17"/>
          <p:cNvSpPr/>
          <p:nvPr/>
        </p:nvSpPr>
        <p:spPr>
          <a:xfrm>
            <a:off x="274320" y="2898648"/>
            <a:ext cx="4160520" cy="320040"/>
          </a:xfrm>
          <a:prstGeom prst="rect">
            <a:avLst/>
          </a:prstGeom>
          <a:solidFill>
            <a:srgbClr val="1B6B4A"/>
          </a:solidFill>
          <a:ln w="12700">
            <a:solidFill>
              <a:srgbClr val="000000"/>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20" name="Text 18"/>
          <p:cNvSpPr/>
          <p:nvPr/>
        </p:nvSpPr>
        <p:spPr>
          <a:xfrm>
            <a:off x="365760" y="2916936"/>
            <a:ext cx="4005072" cy="283464"/>
          </a:xfrm>
          <a:prstGeom prst="rect">
            <a:avLst/>
          </a:prstGeom>
          <a:noFill/>
          <a:ln/>
        </p:spPr>
        <p:txBody>
          <a:bodyPr wrap="square" rtlCol="0" anchor="ctr"/>
          <a:lstStyle/>
          <a:p>
            <a:pPr marL="0" indent="0">
              <a:buNone/>
            </a:pPr>
            <a:r>
              <a:rPr lang="en-US" sz="1100" b="1" dirty="0">
                <a:solidFill>
                  <a:srgbClr val="FFFFFF"/>
                </a:solidFill>
                <a:latin typeface="Baskerville" panose="02020502070401020303" pitchFamily="18" charset="0"/>
                <a:ea typeface="Baskerville" panose="02020502070401020303" pitchFamily="18" charset="0"/>
                <a:cs typeface="Calibri" pitchFamily="34" charset="-120"/>
              </a:rPr>
              <a:t>💾  Model Inference at Scale</a:t>
            </a:r>
            <a:endParaRPr lang="en-US" sz="1100" dirty="0">
              <a:latin typeface="Baskerville" panose="02020502070401020303" pitchFamily="18" charset="0"/>
              <a:ea typeface="Baskerville" panose="02020502070401020303" pitchFamily="18" charset="0"/>
            </a:endParaRPr>
          </a:p>
        </p:txBody>
      </p:sp>
      <p:sp>
        <p:nvSpPr>
          <p:cNvPr id="21" name="Text 19"/>
          <p:cNvSpPr/>
          <p:nvPr/>
        </p:nvSpPr>
        <p:spPr>
          <a:xfrm>
            <a:off x="384048" y="3282696"/>
            <a:ext cx="3931920" cy="201168"/>
          </a:xfrm>
          <a:prstGeom prst="rect">
            <a:avLst/>
          </a:prstGeom>
          <a:noFill/>
          <a:ln/>
        </p:spPr>
        <p:txBody>
          <a:bodyPr wrap="square" rtlCol="0" anchor="ctr"/>
          <a:lstStyle/>
          <a:p>
            <a:pPr marL="0" indent="0">
              <a:buNone/>
            </a:pPr>
            <a:r>
              <a:rPr lang="en-US" sz="900" b="1" dirty="0">
                <a:solidFill>
                  <a:srgbClr val="1B6B4A"/>
                </a:solidFill>
                <a:latin typeface="Baskerville" panose="02020502070401020303" pitchFamily="18" charset="0"/>
                <a:ea typeface="Baskerville" panose="02020502070401020303" pitchFamily="18" charset="0"/>
                <a:cs typeface="Calibri" pitchFamily="34" charset="-120"/>
              </a:rPr>
              <a:t>Challenge:</a:t>
            </a:r>
            <a:endParaRPr lang="en-US" sz="900" dirty="0">
              <a:latin typeface="Baskerville" panose="02020502070401020303" pitchFamily="18" charset="0"/>
              <a:ea typeface="Baskerville" panose="02020502070401020303" pitchFamily="18" charset="0"/>
            </a:endParaRPr>
          </a:p>
        </p:txBody>
      </p:sp>
      <p:sp>
        <p:nvSpPr>
          <p:cNvPr id="22" name="Text 20"/>
          <p:cNvSpPr/>
          <p:nvPr/>
        </p:nvSpPr>
        <p:spPr>
          <a:xfrm>
            <a:off x="384048" y="3465576"/>
            <a:ext cx="3931920" cy="658368"/>
          </a:xfrm>
          <a:prstGeom prst="rect">
            <a:avLst/>
          </a:prstGeom>
          <a:noFill/>
          <a:ln/>
        </p:spPr>
        <p:txBody>
          <a:bodyPr wrap="square" rtlCol="0" anchor="ctr"/>
          <a:lstStyle/>
          <a:p>
            <a:pPr marL="0" indent="0">
              <a:buNone/>
            </a:pPr>
            <a:r>
              <a:rPr lang="en-US" sz="950" dirty="0">
                <a:solidFill>
                  <a:srgbClr val="444455"/>
                </a:solidFill>
                <a:latin typeface="Baskerville" panose="02020502070401020303" pitchFamily="18" charset="0"/>
                <a:ea typeface="Baskerville" panose="02020502070401020303" pitchFamily="18" charset="0"/>
                <a:cs typeface="Calibri" pitchFamily="34" charset="-120"/>
              </a:rPr>
              <a:t>Loading 117M–500M parameter models at app startup is impractical without dedicated GPU allocation during demo sessions.</a:t>
            </a:r>
            <a:endParaRPr lang="en-US" sz="950" dirty="0">
              <a:latin typeface="Baskerville" panose="02020502070401020303" pitchFamily="18" charset="0"/>
              <a:ea typeface="Baskerville" panose="02020502070401020303" pitchFamily="18" charset="0"/>
            </a:endParaRPr>
          </a:p>
        </p:txBody>
      </p:sp>
      <p:sp>
        <p:nvSpPr>
          <p:cNvPr id="23" name="Text 21"/>
          <p:cNvSpPr/>
          <p:nvPr/>
        </p:nvSpPr>
        <p:spPr>
          <a:xfrm>
            <a:off x="384048" y="4142232"/>
            <a:ext cx="3931920" cy="201168"/>
          </a:xfrm>
          <a:prstGeom prst="rect">
            <a:avLst/>
          </a:prstGeom>
          <a:noFill/>
          <a:ln/>
        </p:spPr>
        <p:txBody>
          <a:bodyPr wrap="square" rtlCol="0" anchor="ctr"/>
          <a:lstStyle/>
          <a:p>
            <a:pPr marL="0" indent="0">
              <a:buNone/>
            </a:pPr>
            <a:r>
              <a:rPr lang="en-US" sz="900" b="1" dirty="0">
                <a:solidFill>
                  <a:srgbClr val="1B6B4A"/>
                </a:solidFill>
                <a:latin typeface="Baskerville" panose="02020502070401020303" pitchFamily="18" charset="0"/>
                <a:ea typeface="Baskerville" panose="02020502070401020303" pitchFamily="18" charset="0"/>
                <a:cs typeface="Calibri" pitchFamily="34" charset="-120"/>
              </a:rPr>
              <a:t>Lesson:</a:t>
            </a:r>
            <a:endParaRPr lang="en-US" sz="900" dirty="0">
              <a:latin typeface="Baskerville" panose="02020502070401020303" pitchFamily="18" charset="0"/>
              <a:ea typeface="Baskerville" panose="02020502070401020303" pitchFamily="18" charset="0"/>
            </a:endParaRPr>
          </a:p>
        </p:txBody>
      </p:sp>
      <p:sp>
        <p:nvSpPr>
          <p:cNvPr id="24" name="Text 22"/>
          <p:cNvSpPr/>
          <p:nvPr/>
        </p:nvSpPr>
        <p:spPr>
          <a:xfrm>
            <a:off x="384048" y="4334256"/>
            <a:ext cx="3931920" cy="512064"/>
          </a:xfrm>
          <a:prstGeom prst="rect">
            <a:avLst/>
          </a:prstGeom>
          <a:noFill/>
          <a:ln/>
        </p:spPr>
        <p:txBody>
          <a:bodyPr wrap="square" rtlCol="0" anchor="ctr"/>
          <a:lstStyle/>
          <a:p>
            <a:pPr marL="0" indent="0">
              <a:buNone/>
            </a:pPr>
            <a:r>
              <a:rPr lang="en-US" sz="950" dirty="0">
                <a:solidFill>
                  <a:srgbClr val="1B3A5A"/>
                </a:solidFill>
                <a:latin typeface="Baskerville" panose="02020502070401020303" pitchFamily="18" charset="0"/>
                <a:ea typeface="Baskerville" panose="02020502070401020303" pitchFamily="18" charset="0"/>
                <a:cs typeface="Calibri" pitchFamily="34" charset="-120"/>
              </a:rPr>
              <a:t>Disabled live transformer inference by default. Pre-extracted embeddings used in demo mode with sidebar toggle for GPU-enabled inference. Preserves app responsiveness.</a:t>
            </a:r>
            <a:endParaRPr lang="en-US" sz="950" dirty="0">
              <a:latin typeface="Baskerville" panose="02020502070401020303" pitchFamily="18" charset="0"/>
              <a:ea typeface="Baskerville" panose="02020502070401020303" pitchFamily="18" charset="0"/>
            </a:endParaRPr>
          </a:p>
        </p:txBody>
      </p:sp>
      <p:sp>
        <p:nvSpPr>
          <p:cNvPr id="25" name="Shape 23"/>
          <p:cNvSpPr/>
          <p:nvPr/>
        </p:nvSpPr>
        <p:spPr>
          <a:xfrm>
            <a:off x="4709160" y="2898648"/>
            <a:ext cx="4160520" cy="2011680"/>
          </a:xfrm>
          <a:prstGeom prst="rect">
            <a:avLst/>
          </a:prstGeom>
          <a:solidFill>
            <a:srgbClr val="FFFFFF"/>
          </a:solidFill>
          <a:ln w="19050">
            <a:solidFill>
              <a:srgbClr val="8B4A10"/>
            </a:solidFill>
            <a:prstDash val="solid"/>
          </a:ln>
          <a:effectLst>
            <a:outerShdw blurRad="101600" dist="38100" dir="8100000" algn="bl" rotWithShape="0">
              <a:srgbClr val="000000">
                <a:alpha val="18000"/>
              </a:srgbClr>
            </a:outerShdw>
          </a:effectLst>
        </p:spPr>
        <p:txBody>
          <a:bodyPr/>
          <a:lstStyle/>
          <a:p>
            <a:endParaRPr lang="en-US">
              <a:latin typeface="Baskerville" panose="02020502070401020303" pitchFamily="18" charset="0"/>
              <a:ea typeface="Baskerville" panose="02020502070401020303" pitchFamily="18" charset="0"/>
            </a:endParaRPr>
          </a:p>
        </p:txBody>
      </p:sp>
      <p:sp>
        <p:nvSpPr>
          <p:cNvPr id="26" name="Shape 24"/>
          <p:cNvSpPr/>
          <p:nvPr/>
        </p:nvSpPr>
        <p:spPr>
          <a:xfrm>
            <a:off x="4709160" y="2898648"/>
            <a:ext cx="4160520" cy="320040"/>
          </a:xfrm>
          <a:prstGeom prst="rect">
            <a:avLst/>
          </a:prstGeom>
          <a:solidFill>
            <a:srgbClr val="8B4A10"/>
          </a:solidFill>
          <a:ln w="12700">
            <a:solidFill>
              <a:srgbClr val="000000"/>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27" name="Text 25"/>
          <p:cNvSpPr/>
          <p:nvPr/>
        </p:nvSpPr>
        <p:spPr>
          <a:xfrm>
            <a:off x="4800600" y="2916936"/>
            <a:ext cx="4005072" cy="283464"/>
          </a:xfrm>
          <a:prstGeom prst="rect">
            <a:avLst/>
          </a:prstGeom>
          <a:noFill/>
          <a:ln/>
        </p:spPr>
        <p:txBody>
          <a:bodyPr wrap="square" rtlCol="0" anchor="ctr"/>
          <a:lstStyle/>
          <a:p>
            <a:pPr marL="0" indent="0">
              <a:buNone/>
            </a:pPr>
            <a:r>
              <a:rPr lang="en-US" sz="1100" b="1" dirty="0">
                <a:solidFill>
                  <a:srgbClr val="FFFFFF"/>
                </a:solidFill>
                <a:latin typeface="Baskerville" panose="02020502070401020303" pitchFamily="18" charset="0"/>
                <a:ea typeface="Baskerville" panose="02020502070401020303" pitchFamily="18" charset="0"/>
                <a:cs typeface="Calibri" pitchFamily="34" charset="-120"/>
              </a:rPr>
              <a:t>🗂️  Cloud Deployment</a:t>
            </a:r>
            <a:endParaRPr lang="en-US" sz="1100" dirty="0">
              <a:latin typeface="Baskerville" panose="02020502070401020303" pitchFamily="18" charset="0"/>
              <a:ea typeface="Baskerville" panose="02020502070401020303" pitchFamily="18" charset="0"/>
            </a:endParaRPr>
          </a:p>
        </p:txBody>
      </p:sp>
      <p:sp>
        <p:nvSpPr>
          <p:cNvPr id="28" name="Text 26"/>
          <p:cNvSpPr/>
          <p:nvPr/>
        </p:nvSpPr>
        <p:spPr>
          <a:xfrm>
            <a:off x="4818888" y="3282696"/>
            <a:ext cx="3931920" cy="201168"/>
          </a:xfrm>
          <a:prstGeom prst="rect">
            <a:avLst/>
          </a:prstGeom>
          <a:noFill/>
          <a:ln/>
        </p:spPr>
        <p:txBody>
          <a:bodyPr wrap="square" rtlCol="0" anchor="ctr"/>
          <a:lstStyle/>
          <a:p>
            <a:pPr marL="0" indent="0">
              <a:buNone/>
            </a:pPr>
            <a:r>
              <a:rPr lang="en-US" sz="900" b="1" dirty="0">
                <a:solidFill>
                  <a:srgbClr val="8B4A10"/>
                </a:solidFill>
                <a:latin typeface="Baskerville" panose="02020502070401020303" pitchFamily="18" charset="0"/>
                <a:ea typeface="Baskerville" panose="02020502070401020303" pitchFamily="18" charset="0"/>
                <a:cs typeface="Calibri" pitchFamily="34" charset="-120"/>
              </a:rPr>
              <a:t>Challenge:</a:t>
            </a:r>
            <a:endParaRPr lang="en-US" sz="900" dirty="0">
              <a:latin typeface="Baskerville" panose="02020502070401020303" pitchFamily="18" charset="0"/>
              <a:ea typeface="Baskerville" panose="02020502070401020303" pitchFamily="18" charset="0"/>
            </a:endParaRPr>
          </a:p>
        </p:txBody>
      </p:sp>
      <p:sp>
        <p:nvSpPr>
          <p:cNvPr id="29" name="Text 27"/>
          <p:cNvSpPr/>
          <p:nvPr/>
        </p:nvSpPr>
        <p:spPr>
          <a:xfrm>
            <a:off x="4818888" y="3465576"/>
            <a:ext cx="3931920" cy="658368"/>
          </a:xfrm>
          <a:prstGeom prst="rect">
            <a:avLst/>
          </a:prstGeom>
          <a:noFill/>
          <a:ln/>
        </p:spPr>
        <p:txBody>
          <a:bodyPr wrap="square" rtlCol="0" anchor="ctr"/>
          <a:lstStyle/>
          <a:p>
            <a:pPr marL="0" indent="0">
              <a:buNone/>
            </a:pPr>
            <a:r>
              <a:rPr lang="en-US" sz="950" dirty="0">
                <a:solidFill>
                  <a:srgbClr val="444455"/>
                </a:solidFill>
                <a:latin typeface="Baskerville" panose="02020502070401020303" pitchFamily="18" charset="0"/>
                <a:ea typeface="Baskerville" panose="02020502070401020303" pitchFamily="18" charset="0"/>
                <a:cs typeface="Calibri" pitchFamily="34" charset="-120"/>
              </a:rPr>
              <a:t>All models loaded from local HiPerGator paths. Migrating to a public deployment requires resolving cluster-specific path dependencies.</a:t>
            </a:r>
            <a:endParaRPr lang="en-US" sz="950" dirty="0">
              <a:latin typeface="Baskerville" panose="02020502070401020303" pitchFamily="18" charset="0"/>
              <a:ea typeface="Baskerville" panose="02020502070401020303" pitchFamily="18" charset="0"/>
            </a:endParaRPr>
          </a:p>
        </p:txBody>
      </p:sp>
      <p:sp>
        <p:nvSpPr>
          <p:cNvPr id="30" name="Text 28"/>
          <p:cNvSpPr/>
          <p:nvPr/>
        </p:nvSpPr>
        <p:spPr>
          <a:xfrm>
            <a:off x="4818888" y="4142232"/>
            <a:ext cx="3931920" cy="201168"/>
          </a:xfrm>
          <a:prstGeom prst="rect">
            <a:avLst/>
          </a:prstGeom>
          <a:noFill/>
          <a:ln/>
        </p:spPr>
        <p:txBody>
          <a:bodyPr wrap="square" rtlCol="0" anchor="ctr"/>
          <a:lstStyle/>
          <a:p>
            <a:pPr marL="0" indent="0">
              <a:buNone/>
            </a:pPr>
            <a:r>
              <a:rPr lang="en-US" sz="900" b="1" dirty="0">
                <a:solidFill>
                  <a:srgbClr val="8B4A10"/>
                </a:solidFill>
                <a:latin typeface="Baskerville" panose="02020502070401020303" pitchFamily="18" charset="0"/>
                <a:ea typeface="Baskerville" panose="02020502070401020303" pitchFamily="18" charset="0"/>
                <a:cs typeface="Calibri" pitchFamily="34" charset="-120"/>
              </a:rPr>
              <a:t>Lesson:</a:t>
            </a:r>
            <a:endParaRPr lang="en-US" sz="900" dirty="0">
              <a:latin typeface="Baskerville" panose="02020502070401020303" pitchFamily="18" charset="0"/>
              <a:ea typeface="Baskerville" panose="02020502070401020303" pitchFamily="18" charset="0"/>
            </a:endParaRPr>
          </a:p>
        </p:txBody>
      </p:sp>
      <p:sp>
        <p:nvSpPr>
          <p:cNvPr id="31" name="Text 29"/>
          <p:cNvSpPr/>
          <p:nvPr/>
        </p:nvSpPr>
        <p:spPr>
          <a:xfrm>
            <a:off x="4818888" y="4334256"/>
            <a:ext cx="3931920" cy="512064"/>
          </a:xfrm>
          <a:prstGeom prst="rect">
            <a:avLst/>
          </a:prstGeom>
          <a:noFill/>
          <a:ln/>
        </p:spPr>
        <p:txBody>
          <a:bodyPr wrap="square" rtlCol="0" anchor="ctr"/>
          <a:lstStyle/>
          <a:p>
            <a:pPr marL="0" indent="0">
              <a:buNone/>
            </a:pPr>
            <a:r>
              <a:rPr lang="en-US" sz="950" dirty="0">
                <a:solidFill>
                  <a:srgbClr val="1B3A5A"/>
                </a:solidFill>
                <a:latin typeface="Baskerville" panose="02020502070401020303" pitchFamily="18" charset="0"/>
                <a:ea typeface="Baskerville" panose="02020502070401020303" pitchFamily="18" charset="0"/>
                <a:cs typeface="Calibri" pitchFamily="34" charset="-120"/>
              </a:rPr>
              <a:t>Prototyping Hugging Face Hub loading as a path-agnostic alternative. Streamlit Community Cloud chosen for speed-to-deployment; Hugging Face Spaces for bio-ML community visibility.</a:t>
            </a:r>
            <a:endParaRPr lang="en-US" sz="950" dirty="0">
              <a:latin typeface="Baskerville" panose="02020502070401020303" pitchFamily="18" charset="0"/>
              <a:ea typeface="Baskerville" panose="02020502070401020303"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1B4B"/>
          </a:solidFill>
          <a:ln w="12700">
            <a:solidFill>
              <a:srgbClr val="000000"/>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3" name="Text 1"/>
          <p:cNvSpPr/>
          <p:nvPr/>
        </p:nvSpPr>
        <p:spPr>
          <a:xfrm>
            <a:off x="365760" y="0"/>
            <a:ext cx="8229600" cy="640080"/>
          </a:xfrm>
          <a:prstGeom prst="rect">
            <a:avLst/>
          </a:prstGeom>
          <a:noFill/>
          <a:ln/>
        </p:spPr>
        <p:txBody>
          <a:bodyPr wrap="square" rtlCol="0" anchor="ctr"/>
          <a:lstStyle/>
          <a:p>
            <a:pPr marL="0" indent="0">
              <a:buNone/>
            </a:pPr>
            <a:r>
              <a:rPr lang="en-US" sz="2200" b="1" dirty="0">
                <a:solidFill>
                  <a:srgbClr val="FFFFFF"/>
                </a:solidFill>
                <a:latin typeface="Baskerville" panose="02020502070401020303" pitchFamily="18" charset="0"/>
                <a:ea typeface="Baskerville" panose="02020502070401020303" pitchFamily="18" charset="0"/>
                <a:cs typeface="Calibri" pitchFamily="34" charset="-120"/>
              </a:rPr>
              <a:t>Key Takeaways &amp; Impact</a:t>
            </a:r>
            <a:endParaRPr lang="en-US" sz="2200" dirty="0">
              <a:latin typeface="Baskerville" panose="02020502070401020303" pitchFamily="18" charset="0"/>
              <a:ea typeface="Baskerville" panose="02020502070401020303" pitchFamily="18" charset="0"/>
            </a:endParaRPr>
          </a:p>
        </p:txBody>
      </p:sp>
      <p:sp>
        <p:nvSpPr>
          <p:cNvPr id="4" name="Shape 2"/>
          <p:cNvSpPr/>
          <p:nvPr/>
        </p:nvSpPr>
        <p:spPr>
          <a:xfrm>
            <a:off x="274320" y="868680"/>
            <a:ext cx="457200" cy="457200"/>
          </a:xfrm>
          <a:prstGeom prst="ellipse">
            <a:avLst/>
          </a:prstGeom>
          <a:solidFill>
            <a:srgbClr val="2451B7"/>
          </a:solidFill>
          <a:ln w="12700">
            <a:solidFill>
              <a:srgbClr val="000000"/>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5" name="Text 3"/>
          <p:cNvSpPr/>
          <p:nvPr/>
        </p:nvSpPr>
        <p:spPr>
          <a:xfrm>
            <a:off x="274320" y="868680"/>
            <a:ext cx="457200" cy="457200"/>
          </a:xfrm>
          <a:prstGeom prst="rect">
            <a:avLst/>
          </a:prstGeom>
          <a:noFill/>
          <a:ln/>
        </p:spPr>
        <p:txBody>
          <a:bodyPr wrap="square" rtlCol="0" anchor="ctr"/>
          <a:lstStyle/>
          <a:p>
            <a:pPr marL="0" indent="0" algn="ctr">
              <a:buNone/>
            </a:pPr>
            <a:r>
              <a:rPr lang="en-US" sz="1600" b="1" dirty="0">
                <a:solidFill>
                  <a:srgbClr val="FFFFFF"/>
                </a:solidFill>
                <a:latin typeface="Baskerville" panose="02020502070401020303" pitchFamily="18" charset="0"/>
                <a:ea typeface="Baskerville" panose="02020502070401020303" pitchFamily="18" charset="0"/>
                <a:cs typeface="Calibri" pitchFamily="34" charset="-120"/>
              </a:rPr>
              <a:t>1</a:t>
            </a:r>
            <a:endParaRPr lang="en-US" sz="1600" dirty="0">
              <a:latin typeface="Baskerville" panose="02020502070401020303" pitchFamily="18" charset="0"/>
              <a:ea typeface="Baskerville" panose="02020502070401020303" pitchFamily="18" charset="0"/>
            </a:endParaRPr>
          </a:p>
        </p:txBody>
      </p:sp>
      <p:sp>
        <p:nvSpPr>
          <p:cNvPr id="6" name="Shape 4"/>
          <p:cNvSpPr/>
          <p:nvPr/>
        </p:nvSpPr>
        <p:spPr>
          <a:xfrm>
            <a:off x="841248" y="758952"/>
            <a:ext cx="8001000" cy="685800"/>
          </a:xfrm>
          <a:prstGeom prst="rect">
            <a:avLst/>
          </a:prstGeom>
          <a:solidFill>
            <a:srgbClr val="FFFFFF"/>
          </a:solidFill>
          <a:ln w="12700">
            <a:solidFill>
              <a:srgbClr val="2451B7"/>
            </a:solidFill>
            <a:prstDash val="solid"/>
          </a:ln>
          <a:effectLst>
            <a:outerShdw blurRad="101600" dist="38100" dir="8100000" algn="bl" rotWithShape="0">
              <a:srgbClr val="000000">
                <a:alpha val="18000"/>
              </a:srgbClr>
            </a:outerShdw>
          </a:effectLst>
        </p:spPr>
        <p:txBody>
          <a:bodyPr/>
          <a:lstStyle/>
          <a:p>
            <a:endParaRPr lang="en-US">
              <a:latin typeface="Baskerville" panose="02020502070401020303" pitchFamily="18" charset="0"/>
              <a:ea typeface="Baskerville" panose="02020502070401020303" pitchFamily="18" charset="0"/>
            </a:endParaRPr>
          </a:p>
        </p:txBody>
      </p:sp>
      <p:sp>
        <p:nvSpPr>
          <p:cNvPr id="7" name="Shape 5"/>
          <p:cNvSpPr/>
          <p:nvPr/>
        </p:nvSpPr>
        <p:spPr>
          <a:xfrm>
            <a:off x="841248" y="758952"/>
            <a:ext cx="64008" cy="685800"/>
          </a:xfrm>
          <a:prstGeom prst="rect">
            <a:avLst/>
          </a:prstGeom>
          <a:solidFill>
            <a:srgbClr val="2451B7"/>
          </a:solidFill>
          <a:ln w="12700">
            <a:solidFill>
              <a:srgbClr val="000000"/>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8" name="Text 6"/>
          <p:cNvSpPr/>
          <p:nvPr/>
        </p:nvSpPr>
        <p:spPr>
          <a:xfrm>
            <a:off x="969264" y="795528"/>
            <a:ext cx="6903720" cy="274320"/>
          </a:xfrm>
          <a:prstGeom prst="rect">
            <a:avLst/>
          </a:prstGeom>
          <a:noFill/>
          <a:ln/>
        </p:spPr>
        <p:txBody>
          <a:bodyPr wrap="square" rtlCol="0" anchor="ctr"/>
          <a:lstStyle/>
          <a:p>
            <a:pPr marL="0" indent="0">
              <a:buNone/>
            </a:pPr>
            <a:r>
              <a:rPr lang="en-US" sz="1200" b="1" dirty="0">
                <a:solidFill>
                  <a:srgbClr val="2451B7"/>
                </a:solidFill>
                <a:latin typeface="Baskerville" panose="02020502070401020303" pitchFamily="18" charset="0"/>
                <a:ea typeface="Baskerville" panose="02020502070401020303" pitchFamily="18" charset="0"/>
                <a:cs typeface="Calibri" pitchFamily="34" charset="-120"/>
              </a:rPr>
              <a:t>Transformers win decisively for proteins</a:t>
            </a:r>
            <a:endParaRPr lang="en-US" sz="1200" dirty="0">
              <a:latin typeface="Baskerville" panose="02020502070401020303" pitchFamily="18" charset="0"/>
              <a:ea typeface="Baskerville" panose="02020502070401020303" pitchFamily="18" charset="0"/>
            </a:endParaRPr>
          </a:p>
        </p:txBody>
      </p:sp>
      <p:sp>
        <p:nvSpPr>
          <p:cNvPr id="9" name="Text 7"/>
          <p:cNvSpPr/>
          <p:nvPr/>
        </p:nvSpPr>
        <p:spPr>
          <a:xfrm>
            <a:off x="969264" y="1088136"/>
            <a:ext cx="6903720" cy="329184"/>
          </a:xfrm>
          <a:prstGeom prst="rect">
            <a:avLst/>
          </a:prstGeom>
          <a:noFill/>
          <a:ln/>
        </p:spPr>
        <p:txBody>
          <a:bodyPr wrap="square" rtlCol="0" anchor="ctr"/>
          <a:lstStyle/>
          <a:p>
            <a:pPr marL="0" indent="0">
              <a:buNone/>
            </a:pPr>
            <a:r>
              <a:rPr lang="en-US" sz="1000" dirty="0">
                <a:solidFill>
                  <a:srgbClr val="333355"/>
                </a:solidFill>
                <a:latin typeface="Baskerville" panose="02020502070401020303" pitchFamily="18" charset="0"/>
                <a:ea typeface="Baskerville" panose="02020502070401020303" pitchFamily="18" charset="0"/>
                <a:cs typeface="Calibri" pitchFamily="34" charset="-120"/>
              </a:rPr>
              <a:t>ProtBERT + Linear SVM achieves 99.1% accuracy — 7 points above the best hybrid model. Pfam families are linearly separable in the pretrained embedding space.</a:t>
            </a:r>
            <a:endParaRPr lang="en-US" sz="1000" dirty="0">
              <a:latin typeface="Baskerville" panose="02020502070401020303" pitchFamily="18" charset="0"/>
              <a:ea typeface="Baskerville" panose="02020502070401020303" pitchFamily="18" charset="0"/>
            </a:endParaRPr>
          </a:p>
        </p:txBody>
      </p:sp>
      <p:sp>
        <p:nvSpPr>
          <p:cNvPr id="10" name="Shape 8"/>
          <p:cNvSpPr/>
          <p:nvPr/>
        </p:nvSpPr>
        <p:spPr>
          <a:xfrm>
            <a:off x="274320" y="1673352"/>
            <a:ext cx="457200" cy="457200"/>
          </a:xfrm>
          <a:prstGeom prst="ellipse">
            <a:avLst/>
          </a:prstGeom>
          <a:solidFill>
            <a:srgbClr val="1B7B8A"/>
          </a:solidFill>
          <a:ln w="12700">
            <a:solidFill>
              <a:srgbClr val="000000"/>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11" name="Text 9"/>
          <p:cNvSpPr/>
          <p:nvPr/>
        </p:nvSpPr>
        <p:spPr>
          <a:xfrm>
            <a:off x="274320" y="1673352"/>
            <a:ext cx="457200" cy="457200"/>
          </a:xfrm>
          <a:prstGeom prst="rect">
            <a:avLst/>
          </a:prstGeom>
          <a:noFill/>
          <a:ln/>
        </p:spPr>
        <p:txBody>
          <a:bodyPr wrap="square" rtlCol="0" anchor="ctr"/>
          <a:lstStyle/>
          <a:p>
            <a:pPr marL="0" indent="0" algn="ctr">
              <a:buNone/>
            </a:pPr>
            <a:r>
              <a:rPr lang="en-US" sz="1600" b="1" dirty="0">
                <a:solidFill>
                  <a:srgbClr val="FFFFFF"/>
                </a:solidFill>
                <a:latin typeface="Baskerville" panose="02020502070401020303" pitchFamily="18" charset="0"/>
                <a:ea typeface="Baskerville" panose="02020502070401020303" pitchFamily="18" charset="0"/>
                <a:cs typeface="Calibri" pitchFamily="34" charset="-120"/>
              </a:rPr>
              <a:t>2</a:t>
            </a:r>
            <a:endParaRPr lang="en-US" sz="1600" dirty="0">
              <a:latin typeface="Baskerville" panose="02020502070401020303" pitchFamily="18" charset="0"/>
              <a:ea typeface="Baskerville" panose="02020502070401020303" pitchFamily="18" charset="0"/>
            </a:endParaRPr>
          </a:p>
        </p:txBody>
      </p:sp>
      <p:sp>
        <p:nvSpPr>
          <p:cNvPr id="12" name="Shape 10"/>
          <p:cNvSpPr/>
          <p:nvPr/>
        </p:nvSpPr>
        <p:spPr>
          <a:xfrm>
            <a:off x="841248" y="1563624"/>
            <a:ext cx="8001000" cy="685800"/>
          </a:xfrm>
          <a:prstGeom prst="rect">
            <a:avLst/>
          </a:prstGeom>
          <a:solidFill>
            <a:srgbClr val="FFFFFF"/>
          </a:solidFill>
          <a:ln w="12700">
            <a:solidFill>
              <a:srgbClr val="1B7B8A"/>
            </a:solidFill>
            <a:prstDash val="solid"/>
          </a:ln>
          <a:effectLst>
            <a:outerShdw blurRad="101600" dist="38100" dir="8100000" algn="bl" rotWithShape="0">
              <a:srgbClr val="000000">
                <a:alpha val="18000"/>
              </a:srgbClr>
            </a:outerShdw>
          </a:effectLst>
        </p:spPr>
        <p:txBody>
          <a:bodyPr/>
          <a:lstStyle/>
          <a:p>
            <a:endParaRPr lang="en-US">
              <a:latin typeface="Baskerville" panose="02020502070401020303" pitchFamily="18" charset="0"/>
              <a:ea typeface="Baskerville" panose="02020502070401020303" pitchFamily="18" charset="0"/>
            </a:endParaRPr>
          </a:p>
        </p:txBody>
      </p:sp>
      <p:sp>
        <p:nvSpPr>
          <p:cNvPr id="13" name="Shape 11"/>
          <p:cNvSpPr/>
          <p:nvPr/>
        </p:nvSpPr>
        <p:spPr>
          <a:xfrm>
            <a:off x="841248" y="1563624"/>
            <a:ext cx="64008" cy="685800"/>
          </a:xfrm>
          <a:prstGeom prst="rect">
            <a:avLst/>
          </a:prstGeom>
          <a:solidFill>
            <a:srgbClr val="1B7B8A"/>
          </a:solidFill>
          <a:ln w="12700">
            <a:solidFill>
              <a:srgbClr val="000000"/>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14" name="Text 12"/>
          <p:cNvSpPr/>
          <p:nvPr/>
        </p:nvSpPr>
        <p:spPr>
          <a:xfrm>
            <a:off x="969264" y="1600200"/>
            <a:ext cx="6903720" cy="274320"/>
          </a:xfrm>
          <a:prstGeom prst="rect">
            <a:avLst/>
          </a:prstGeom>
          <a:noFill/>
          <a:ln/>
        </p:spPr>
        <p:txBody>
          <a:bodyPr wrap="square" rtlCol="0" anchor="ctr"/>
          <a:lstStyle/>
          <a:p>
            <a:pPr marL="0" indent="0">
              <a:buNone/>
            </a:pPr>
            <a:r>
              <a:rPr lang="en-US" sz="1200" b="1" dirty="0">
                <a:solidFill>
                  <a:srgbClr val="1B7B8A"/>
                </a:solidFill>
                <a:latin typeface="Baskerville" panose="02020502070401020303" pitchFamily="18" charset="0"/>
                <a:ea typeface="Baskerville" panose="02020502070401020303" pitchFamily="18" charset="0"/>
                <a:cs typeface="Calibri" pitchFamily="34" charset="-120"/>
              </a:rPr>
              <a:t>DNA is driven by biological features</a:t>
            </a:r>
            <a:endParaRPr lang="en-US" sz="1200" dirty="0">
              <a:latin typeface="Baskerville" panose="02020502070401020303" pitchFamily="18" charset="0"/>
              <a:ea typeface="Baskerville" panose="02020502070401020303" pitchFamily="18" charset="0"/>
            </a:endParaRPr>
          </a:p>
        </p:txBody>
      </p:sp>
      <p:sp>
        <p:nvSpPr>
          <p:cNvPr id="15" name="Text 13"/>
          <p:cNvSpPr/>
          <p:nvPr/>
        </p:nvSpPr>
        <p:spPr>
          <a:xfrm>
            <a:off x="969264" y="1892808"/>
            <a:ext cx="6903720" cy="329184"/>
          </a:xfrm>
          <a:prstGeom prst="rect">
            <a:avLst/>
          </a:prstGeom>
          <a:noFill/>
          <a:ln/>
        </p:spPr>
        <p:txBody>
          <a:bodyPr wrap="square" rtlCol="0" anchor="ctr"/>
          <a:lstStyle/>
          <a:p>
            <a:pPr marL="0" indent="0">
              <a:buNone/>
            </a:pPr>
            <a:r>
              <a:rPr lang="en-US" sz="1000" dirty="0">
                <a:solidFill>
                  <a:srgbClr val="333355"/>
                </a:solidFill>
                <a:latin typeface="Baskerville" panose="02020502070401020303" pitchFamily="18" charset="0"/>
                <a:ea typeface="Baskerville" panose="02020502070401020303" pitchFamily="18" charset="0"/>
                <a:cs typeface="Calibri" pitchFamily="34" charset="-120"/>
              </a:rPr>
              <a:t>GC content and CpG density capture most of the promoter signal. A 500M-parameter model adds only +1.5 AUC points over a Random Forest built on 95 engineered features.</a:t>
            </a:r>
            <a:endParaRPr lang="en-US" sz="1000" dirty="0">
              <a:latin typeface="Baskerville" panose="02020502070401020303" pitchFamily="18" charset="0"/>
              <a:ea typeface="Baskerville" panose="02020502070401020303" pitchFamily="18" charset="0"/>
            </a:endParaRPr>
          </a:p>
        </p:txBody>
      </p:sp>
      <p:sp>
        <p:nvSpPr>
          <p:cNvPr id="16" name="Shape 14"/>
          <p:cNvSpPr/>
          <p:nvPr/>
        </p:nvSpPr>
        <p:spPr>
          <a:xfrm>
            <a:off x="274320" y="2478024"/>
            <a:ext cx="457200" cy="457200"/>
          </a:xfrm>
          <a:prstGeom prst="ellipse">
            <a:avLst/>
          </a:prstGeom>
          <a:solidFill>
            <a:srgbClr val="1B6B4A"/>
          </a:solidFill>
          <a:ln w="12700">
            <a:solidFill>
              <a:srgbClr val="000000"/>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17" name="Text 15"/>
          <p:cNvSpPr/>
          <p:nvPr/>
        </p:nvSpPr>
        <p:spPr>
          <a:xfrm>
            <a:off x="274320" y="2478024"/>
            <a:ext cx="457200" cy="457200"/>
          </a:xfrm>
          <a:prstGeom prst="rect">
            <a:avLst/>
          </a:prstGeom>
          <a:noFill/>
          <a:ln/>
        </p:spPr>
        <p:txBody>
          <a:bodyPr wrap="square" rtlCol="0" anchor="ctr"/>
          <a:lstStyle/>
          <a:p>
            <a:pPr marL="0" indent="0" algn="ctr">
              <a:buNone/>
            </a:pPr>
            <a:r>
              <a:rPr lang="en-US" sz="1600" b="1" dirty="0">
                <a:solidFill>
                  <a:srgbClr val="FFFFFF"/>
                </a:solidFill>
                <a:latin typeface="Baskerville" panose="02020502070401020303" pitchFamily="18" charset="0"/>
                <a:ea typeface="Baskerville" panose="02020502070401020303" pitchFamily="18" charset="0"/>
                <a:cs typeface="Calibri" pitchFamily="34" charset="-120"/>
              </a:rPr>
              <a:t>3</a:t>
            </a:r>
            <a:endParaRPr lang="en-US" sz="1600" dirty="0">
              <a:latin typeface="Baskerville" panose="02020502070401020303" pitchFamily="18" charset="0"/>
              <a:ea typeface="Baskerville" panose="02020502070401020303" pitchFamily="18" charset="0"/>
            </a:endParaRPr>
          </a:p>
        </p:txBody>
      </p:sp>
      <p:sp>
        <p:nvSpPr>
          <p:cNvPr id="18" name="Shape 16"/>
          <p:cNvSpPr/>
          <p:nvPr/>
        </p:nvSpPr>
        <p:spPr>
          <a:xfrm>
            <a:off x="841248" y="2368296"/>
            <a:ext cx="8001000" cy="685800"/>
          </a:xfrm>
          <a:prstGeom prst="rect">
            <a:avLst/>
          </a:prstGeom>
          <a:solidFill>
            <a:srgbClr val="FFFFFF"/>
          </a:solidFill>
          <a:ln w="12700">
            <a:solidFill>
              <a:srgbClr val="1B6B4A"/>
            </a:solidFill>
            <a:prstDash val="solid"/>
          </a:ln>
          <a:effectLst>
            <a:outerShdw blurRad="101600" dist="38100" dir="8100000" algn="bl" rotWithShape="0">
              <a:srgbClr val="000000">
                <a:alpha val="18000"/>
              </a:srgbClr>
            </a:outerShdw>
          </a:effectLst>
        </p:spPr>
        <p:txBody>
          <a:bodyPr/>
          <a:lstStyle/>
          <a:p>
            <a:endParaRPr lang="en-US">
              <a:latin typeface="Baskerville" panose="02020502070401020303" pitchFamily="18" charset="0"/>
              <a:ea typeface="Baskerville" panose="02020502070401020303" pitchFamily="18" charset="0"/>
            </a:endParaRPr>
          </a:p>
        </p:txBody>
      </p:sp>
      <p:sp>
        <p:nvSpPr>
          <p:cNvPr id="19" name="Shape 17"/>
          <p:cNvSpPr/>
          <p:nvPr/>
        </p:nvSpPr>
        <p:spPr>
          <a:xfrm>
            <a:off x="841248" y="2368296"/>
            <a:ext cx="64008" cy="685800"/>
          </a:xfrm>
          <a:prstGeom prst="rect">
            <a:avLst/>
          </a:prstGeom>
          <a:solidFill>
            <a:srgbClr val="1B6B4A"/>
          </a:solidFill>
          <a:ln w="12700">
            <a:solidFill>
              <a:srgbClr val="000000"/>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20" name="Text 18"/>
          <p:cNvSpPr/>
          <p:nvPr/>
        </p:nvSpPr>
        <p:spPr>
          <a:xfrm>
            <a:off x="969264" y="2404872"/>
            <a:ext cx="6903720" cy="274320"/>
          </a:xfrm>
          <a:prstGeom prst="rect">
            <a:avLst/>
          </a:prstGeom>
          <a:noFill/>
          <a:ln/>
        </p:spPr>
        <p:txBody>
          <a:bodyPr wrap="square" rtlCol="0" anchor="ctr"/>
          <a:lstStyle/>
          <a:p>
            <a:pPr marL="0" indent="0">
              <a:buNone/>
            </a:pPr>
            <a:r>
              <a:rPr lang="en-US" sz="1200" b="1" dirty="0">
                <a:solidFill>
                  <a:srgbClr val="1B6B4A"/>
                </a:solidFill>
                <a:latin typeface="Baskerville" panose="02020502070401020303" pitchFamily="18" charset="0"/>
                <a:ea typeface="Baskerville" panose="02020502070401020303" pitchFamily="18" charset="0"/>
                <a:cs typeface="Calibri" pitchFamily="34" charset="-120"/>
              </a:rPr>
              <a:t>Linear separability is a key finding, not a convenience</a:t>
            </a:r>
            <a:endParaRPr lang="en-US" sz="1200" dirty="0">
              <a:latin typeface="Baskerville" panose="02020502070401020303" pitchFamily="18" charset="0"/>
              <a:ea typeface="Baskerville" panose="02020502070401020303" pitchFamily="18" charset="0"/>
            </a:endParaRPr>
          </a:p>
        </p:txBody>
      </p:sp>
      <p:sp>
        <p:nvSpPr>
          <p:cNvPr id="21" name="Text 19"/>
          <p:cNvSpPr/>
          <p:nvPr/>
        </p:nvSpPr>
        <p:spPr>
          <a:xfrm>
            <a:off x="969264" y="2697480"/>
            <a:ext cx="6903720" cy="329184"/>
          </a:xfrm>
          <a:prstGeom prst="rect">
            <a:avLst/>
          </a:prstGeom>
          <a:noFill/>
          <a:ln/>
        </p:spPr>
        <p:txBody>
          <a:bodyPr wrap="square" rtlCol="0" anchor="ctr"/>
          <a:lstStyle/>
          <a:p>
            <a:pPr marL="0" indent="0">
              <a:buNone/>
            </a:pPr>
            <a:r>
              <a:rPr lang="en-US" sz="1000" dirty="0">
                <a:solidFill>
                  <a:srgbClr val="333355"/>
                </a:solidFill>
                <a:latin typeface="Baskerville" panose="02020502070401020303" pitchFamily="18" charset="0"/>
                <a:ea typeface="Baskerville" panose="02020502070401020303" pitchFamily="18" charset="0"/>
                <a:cs typeface="Calibri" pitchFamily="34" charset="-120"/>
              </a:rPr>
              <a:t>Linear SVM winning on proteins confirms ProtBERT's embedding space is organized along functional axes — a direct consequence of pretraining scale and diversity.</a:t>
            </a:r>
            <a:endParaRPr lang="en-US" sz="1000" dirty="0">
              <a:latin typeface="Baskerville" panose="02020502070401020303" pitchFamily="18" charset="0"/>
              <a:ea typeface="Baskerville" panose="02020502070401020303" pitchFamily="18" charset="0"/>
            </a:endParaRPr>
          </a:p>
        </p:txBody>
      </p:sp>
      <p:sp>
        <p:nvSpPr>
          <p:cNvPr id="22" name="Shape 20"/>
          <p:cNvSpPr/>
          <p:nvPr/>
        </p:nvSpPr>
        <p:spPr>
          <a:xfrm>
            <a:off x="274320" y="3282696"/>
            <a:ext cx="457200" cy="457200"/>
          </a:xfrm>
          <a:prstGeom prst="ellipse">
            <a:avLst/>
          </a:prstGeom>
          <a:solidFill>
            <a:srgbClr val="8B4A10"/>
          </a:solidFill>
          <a:ln w="12700">
            <a:solidFill>
              <a:srgbClr val="000000"/>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23" name="Text 21"/>
          <p:cNvSpPr/>
          <p:nvPr/>
        </p:nvSpPr>
        <p:spPr>
          <a:xfrm>
            <a:off x="274320" y="3282696"/>
            <a:ext cx="457200" cy="457200"/>
          </a:xfrm>
          <a:prstGeom prst="rect">
            <a:avLst/>
          </a:prstGeom>
          <a:noFill/>
          <a:ln/>
        </p:spPr>
        <p:txBody>
          <a:bodyPr wrap="square" rtlCol="0" anchor="ctr"/>
          <a:lstStyle/>
          <a:p>
            <a:pPr marL="0" indent="0" algn="ctr">
              <a:buNone/>
            </a:pPr>
            <a:r>
              <a:rPr lang="en-US" sz="1600" b="1" dirty="0">
                <a:solidFill>
                  <a:srgbClr val="FFFFFF"/>
                </a:solidFill>
                <a:latin typeface="Baskerville" panose="02020502070401020303" pitchFamily="18" charset="0"/>
                <a:ea typeface="Baskerville" panose="02020502070401020303" pitchFamily="18" charset="0"/>
                <a:cs typeface="Calibri" pitchFamily="34" charset="-120"/>
              </a:rPr>
              <a:t>4</a:t>
            </a:r>
            <a:endParaRPr lang="en-US" sz="1600" dirty="0">
              <a:latin typeface="Baskerville" panose="02020502070401020303" pitchFamily="18" charset="0"/>
              <a:ea typeface="Baskerville" panose="02020502070401020303" pitchFamily="18" charset="0"/>
            </a:endParaRPr>
          </a:p>
        </p:txBody>
      </p:sp>
      <p:sp>
        <p:nvSpPr>
          <p:cNvPr id="24" name="Shape 22"/>
          <p:cNvSpPr/>
          <p:nvPr/>
        </p:nvSpPr>
        <p:spPr>
          <a:xfrm>
            <a:off x="841248" y="3172968"/>
            <a:ext cx="8001000" cy="685800"/>
          </a:xfrm>
          <a:prstGeom prst="rect">
            <a:avLst/>
          </a:prstGeom>
          <a:solidFill>
            <a:srgbClr val="FFFFFF"/>
          </a:solidFill>
          <a:ln w="12700">
            <a:solidFill>
              <a:srgbClr val="8B4A10"/>
            </a:solidFill>
            <a:prstDash val="solid"/>
          </a:ln>
          <a:effectLst>
            <a:outerShdw blurRad="101600" dist="38100" dir="8100000" algn="bl" rotWithShape="0">
              <a:srgbClr val="000000">
                <a:alpha val="18000"/>
              </a:srgbClr>
            </a:outerShdw>
          </a:effectLst>
        </p:spPr>
        <p:txBody>
          <a:bodyPr/>
          <a:lstStyle/>
          <a:p>
            <a:endParaRPr lang="en-US">
              <a:latin typeface="Baskerville" panose="02020502070401020303" pitchFamily="18" charset="0"/>
              <a:ea typeface="Baskerville" panose="02020502070401020303" pitchFamily="18" charset="0"/>
            </a:endParaRPr>
          </a:p>
        </p:txBody>
      </p:sp>
      <p:sp>
        <p:nvSpPr>
          <p:cNvPr id="25" name="Shape 23"/>
          <p:cNvSpPr/>
          <p:nvPr/>
        </p:nvSpPr>
        <p:spPr>
          <a:xfrm>
            <a:off x="841248" y="3172968"/>
            <a:ext cx="64008" cy="685800"/>
          </a:xfrm>
          <a:prstGeom prst="rect">
            <a:avLst/>
          </a:prstGeom>
          <a:solidFill>
            <a:srgbClr val="8B4A10"/>
          </a:solidFill>
          <a:ln w="12700">
            <a:solidFill>
              <a:srgbClr val="000000"/>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26" name="Text 24"/>
          <p:cNvSpPr/>
          <p:nvPr/>
        </p:nvSpPr>
        <p:spPr>
          <a:xfrm>
            <a:off x="969264" y="3209544"/>
            <a:ext cx="6903720" cy="274320"/>
          </a:xfrm>
          <a:prstGeom prst="rect">
            <a:avLst/>
          </a:prstGeom>
          <a:noFill/>
          <a:ln/>
        </p:spPr>
        <p:txBody>
          <a:bodyPr wrap="square" rtlCol="0" anchor="ctr"/>
          <a:lstStyle/>
          <a:p>
            <a:pPr marL="0" indent="0">
              <a:buNone/>
            </a:pPr>
            <a:r>
              <a:rPr lang="en-US" sz="1200" b="1" dirty="0">
                <a:solidFill>
                  <a:srgbClr val="8B4A10"/>
                </a:solidFill>
                <a:latin typeface="Baskerville" panose="02020502070401020303" pitchFamily="18" charset="0"/>
                <a:ea typeface="Baskerville" panose="02020502070401020303" pitchFamily="18" charset="0"/>
                <a:cs typeface="Calibri" pitchFamily="34" charset="-120"/>
              </a:rPr>
              <a:t>Interpretability reveals real biology</a:t>
            </a:r>
            <a:endParaRPr lang="en-US" sz="1200" dirty="0">
              <a:latin typeface="Baskerville" panose="02020502070401020303" pitchFamily="18" charset="0"/>
              <a:ea typeface="Baskerville" panose="02020502070401020303" pitchFamily="18" charset="0"/>
            </a:endParaRPr>
          </a:p>
        </p:txBody>
      </p:sp>
      <p:sp>
        <p:nvSpPr>
          <p:cNvPr id="27" name="Text 25"/>
          <p:cNvSpPr/>
          <p:nvPr/>
        </p:nvSpPr>
        <p:spPr>
          <a:xfrm>
            <a:off x="969264" y="3502152"/>
            <a:ext cx="6903720" cy="329184"/>
          </a:xfrm>
          <a:prstGeom prst="rect">
            <a:avLst/>
          </a:prstGeom>
          <a:noFill/>
          <a:ln/>
        </p:spPr>
        <p:txBody>
          <a:bodyPr wrap="square" rtlCol="0" anchor="ctr"/>
          <a:lstStyle/>
          <a:p>
            <a:pPr marL="0" indent="0">
              <a:buNone/>
            </a:pPr>
            <a:r>
              <a:rPr lang="en-US" sz="1000" dirty="0">
                <a:solidFill>
                  <a:srgbClr val="333355"/>
                </a:solidFill>
                <a:latin typeface="Baskerville" panose="02020502070401020303" pitchFamily="18" charset="0"/>
                <a:ea typeface="Baskerville" panose="02020502070401020303" pitchFamily="18" charset="0"/>
                <a:cs typeface="Calibri" pitchFamily="34" charset="-120"/>
              </a:rPr>
              <a:t>In-silico mutagenesis and alanine scanning results are biologically coherent. XGBoost top features (GRAVY, CTD) match known biochemical signals — the baselines learn real structure.</a:t>
            </a:r>
            <a:endParaRPr lang="en-US" sz="1000" dirty="0">
              <a:latin typeface="Baskerville" panose="02020502070401020303" pitchFamily="18" charset="0"/>
              <a:ea typeface="Baskerville" panose="02020502070401020303" pitchFamily="18" charset="0"/>
            </a:endParaRPr>
          </a:p>
        </p:txBody>
      </p:sp>
      <p:sp>
        <p:nvSpPr>
          <p:cNvPr id="28" name="Shape 26"/>
          <p:cNvSpPr/>
          <p:nvPr/>
        </p:nvSpPr>
        <p:spPr>
          <a:xfrm>
            <a:off x="274320" y="4087368"/>
            <a:ext cx="457200" cy="457200"/>
          </a:xfrm>
          <a:prstGeom prst="ellipse">
            <a:avLst/>
          </a:prstGeom>
          <a:solidFill>
            <a:srgbClr val="5B2A8B"/>
          </a:solidFill>
          <a:ln w="12700">
            <a:solidFill>
              <a:srgbClr val="000000"/>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29" name="Text 27"/>
          <p:cNvSpPr/>
          <p:nvPr/>
        </p:nvSpPr>
        <p:spPr>
          <a:xfrm>
            <a:off x="274320" y="4087368"/>
            <a:ext cx="457200" cy="457200"/>
          </a:xfrm>
          <a:prstGeom prst="rect">
            <a:avLst/>
          </a:prstGeom>
          <a:noFill/>
          <a:ln/>
        </p:spPr>
        <p:txBody>
          <a:bodyPr wrap="square" rtlCol="0" anchor="ctr"/>
          <a:lstStyle/>
          <a:p>
            <a:pPr marL="0" indent="0" algn="ctr">
              <a:buNone/>
            </a:pPr>
            <a:r>
              <a:rPr lang="en-US" sz="1600" b="1" dirty="0">
                <a:solidFill>
                  <a:srgbClr val="FFFFFF"/>
                </a:solidFill>
                <a:latin typeface="Baskerville" panose="02020502070401020303" pitchFamily="18" charset="0"/>
                <a:ea typeface="Baskerville" panose="02020502070401020303" pitchFamily="18" charset="0"/>
                <a:cs typeface="Calibri" pitchFamily="34" charset="-120"/>
              </a:rPr>
              <a:t>5</a:t>
            </a:r>
            <a:endParaRPr lang="en-US" sz="1600" dirty="0">
              <a:latin typeface="Baskerville" panose="02020502070401020303" pitchFamily="18" charset="0"/>
              <a:ea typeface="Baskerville" panose="02020502070401020303" pitchFamily="18" charset="0"/>
            </a:endParaRPr>
          </a:p>
        </p:txBody>
      </p:sp>
      <p:sp>
        <p:nvSpPr>
          <p:cNvPr id="30" name="Shape 28"/>
          <p:cNvSpPr/>
          <p:nvPr/>
        </p:nvSpPr>
        <p:spPr>
          <a:xfrm>
            <a:off x="841248" y="3977640"/>
            <a:ext cx="8001000" cy="685800"/>
          </a:xfrm>
          <a:prstGeom prst="rect">
            <a:avLst/>
          </a:prstGeom>
          <a:solidFill>
            <a:srgbClr val="FFFFFF"/>
          </a:solidFill>
          <a:ln w="12700">
            <a:solidFill>
              <a:srgbClr val="5B2A8B"/>
            </a:solidFill>
            <a:prstDash val="solid"/>
          </a:ln>
          <a:effectLst>
            <a:outerShdw blurRad="101600" dist="38100" dir="8100000" algn="bl" rotWithShape="0">
              <a:srgbClr val="000000">
                <a:alpha val="18000"/>
              </a:srgbClr>
            </a:outerShdw>
          </a:effectLst>
        </p:spPr>
        <p:txBody>
          <a:bodyPr/>
          <a:lstStyle/>
          <a:p>
            <a:endParaRPr lang="en-US">
              <a:latin typeface="Baskerville" panose="02020502070401020303" pitchFamily="18" charset="0"/>
              <a:ea typeface="Baskerville" panose="02020502070401020303" pitchFamily="18" charset="0"/>
            </a:endParaRPr>
          </a:p>
        </p:txBody>
      </p:sp>
      <p:sp>
        <p:nvSpPr>
          <p:cNvPr id="31" name="Shape 29"/>
          <p:cNvSpPr/>
          <p:nvPr/>
        </p:nvSpPr>
        <p:spPr>
          <a:xfrm>
            <a:off x="841248" y="3977640"/>
            <a:ext cx="64008" cy="685800"/>
          </a:xfrm>
          <a:prstGeom prst="rect">
            <a:avLst/>
          </a:prstGeom>
          <a:solidFill>
            <a:srgbClr val="5B2A8B"/>
          </a:solidFill>
          <a:ln w="12700">
            <a:solidFill>
              <a:srgbClr val="000000"/>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32" name="Text 30"/>
          <p:cNvSpPr/>
          <p:nvPr/>
        </p:nvSpPr>
        <p:spPr>
          <a:xfrm>
            <a:off x="969264" y="4014216"/>
            <a:ext cx="6903720" cy="274320"/>
          </a:xfrm>
          <a:prstGeom prst="rect">
            <a:avLst/>
          </a:prstGeom>
          <a:noFill/>
          <a:ln/>
        </p:spPr>
        <p:txBody>
          <a:bodyPr wrap="square" rtlCol="0" anchor="ctr"/>
          <a:lstStyle/>
          <a:p>
            <a:pPr marL="0" indent="0">
              <a:buNone/>
            </a:pPr>
            <a:r>
              <a:rPr lang="en-US" sz="1200" b="1" dirty="0">
                <a:solidFill>
                  <a:srgbClr val="5B2A8B"/>
                </a:solidFill>
                <a:latin typeface="Baskerville" panose="02020502070401020303" pitchFamily="18" charset="0"/>
                <a:ea typeface="Baskerville" panose="02020502070401020303" pitchFamily="18" charset="0"/>
                <a:cs typeface="Calibri" pitchFamily="34" charset="-120"/>
              </a:rPr>
              <a:t>Unified pipeline enables flexible analysis</a:t>
            </a:r>
            <a:endParaRPr lang="en-US" sz="1200" dirty="0">
              <a:latin typeface="Baskerville" panose="02020502070401020303" pitchFamily="18" charset="0"/>
              <a:ea typeface="Baskerville" panose="02020502070401020303" pitchFamily="18" charset="0"/>
            </a:endParaRPr>
          </a:p>
        </p:txBody>
      </p:sp>
      <p:sp>
        <p:nvSpPr>
          <p:cNvPr id="33" name="Text 31"/>
          <p:cNvSpPr/>
          <p:nvPr/>
        </p:nvSpPr>
        <p:spPr>
          <a:xfrm>
            <a:off x="969264" y="4306824"/>
            <a:ext cx="6903720" cy="329184"/>
          </a:xfrm>
          <a:prstGeom prst="rect">
            <a:avLst/>
          </a:prstGeom>
          <a:noFill/>
          <a:ln/>
        </p:spPr>
        <p:txBody>
          <a:bodyPr wrap="square" rtlCol="0" anchor="ctr"/>
          <a:lstStyle/>
          <a:p>
            <a:pPr marL="0" indent="0">
              <a:buNone/>
            </a:pPr>
            <a:r>
              <a:rPr lang="en-US" sz="1000" dirty="0">
                <a:solidFill>
                  <a:srgbClr val="333355"/>
                </a:solidFill>
                <a:latin typeface="Baskerville" panose="02020502070401020303" pitchFamily="18" charset="0"/>
                <a:ea typeface="Baskerville" panose="02020502070401020303" pitchFamily="18" charset="0"/>
                <a:cs typeface="Calibri" pitchFamily="34" charset="-120"/>
              </a:rPr>
              <a:t>The app lets biologists analyze unseen sequences — prediction, embedding visualization, mutagenesis — without retraining any model or setting up ML infrastructure.</a:t>
            </a:r>
            <a:endParaRPr lang="en-US" sz="1000" dirty="0">
              <a:latin typeface="Baskerville" panose="02020502070401020303" pitchFamily="18" charset="0"/>
              <a:ea typeface="Baskerville" panose="02020502070401020303"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1B4B"/>
          </a:solidFill>
          <a:ln w="12700">
            <a:solidFill>
              <a:srgbClr val="000000"/>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3" name="Text 1"/>
          <p:cNvSpPr/>
          <p:nvPr/>
        </p:nvSpPr>
        <p:spPr>
          <a:xfrm>
            <a:off x="365760" y="0"/>
            <a:ext cx="8229600" cy="640080"/>
          </a:xfrm>
          <a:prstGeom prst="rect">
            <a:avLst/>
          </a:prstGeom>
          <a:noFill/>
          <a:ln/>
        </p:spPr>
        <p:txBody>
          <a:bodyPr wrap="square" rtlCol="0" anchor="ctr"/>
          <a:lstStyle/>
          <a:p>
            <a:pPr marL="0" indent="0">
              <a:buNone/>
            </a:pPr>
            <a:r>
              <a:rPr lang="en-US" sz="2200" b="1" dirty="0">
                <a:solidFill>
                  <a:srgbClr val="FFFFFF"/>
                </a:solidFill>
                <a:latin typeface="Baskerville" panose="02020502070401020303" pitchFamily="18" charset="0"/>
                <a:ea typeface="Baskerville" panose="02020502070401020303" pitchFamily="18" charset="0"/>
                <a:cs typeface="Calibri" pitchFamily="34" charset="-120"/>
              </a:rPr>
              <a:t>Future Work &amp; Extensions</a:t>
            </a:r>
            <a:endParaRPr lang="en-US" sz="2200" dirty="0">
              <a:latin typeface="Baskerville" panose="02020502070401020303" pitchFamily="18" charset="0"/>
              <a:ea typeface="Baskerville" panose="02020502070401020303" pitchFamily="18" charset="0"/>
            </a:endParaRPr>
          </a:p>
        </p:txBody>
      </p:sp>
      <p:sp>
        <p:nvSpPr>
          <p:cNvPr id="4" name="Shape 2"/>
          <p:cNvSpPr/>
          <p:nvPr/>
        </p:nvSpPr>
        <p:spPr>
          <a:xfrm>
            <a:off x="274320" y="777240"/>
            <a:ext cx="4160520" cy="1965960"/>
          </a:xfrm>
          <a:prstGeom prst="rect">
            <a:avLst/>
          </a:prstGeom>
          <a:solidFill>
            <a:srgbClr val="FFFFFF"/>
          </a:solidFill>
          <a:ln w="19050">
            <a:solidFill>
              <a:srgbClr val="2451B7"/>
            </a:solidFill>
            <a:prstDash val="solid"/>
          </a:ln>
          <a:effectLst>
            <a:outerShdw blurRad="101600" dist="38100" dir="8100000" algn="bl" rotWithShape="0">
              <a:srgbClr val="000000">
                <a:alpha val="18000"/>
              </a:srgbClr>
            </a:outerShdw>
          </a:effectLst>
        </p:spPr>
        <p:txBody>
          <a:bodyPr/>
          <a:lstStyle/>
          <a:p>
            <a:endParaRPr lang="en-US">
              <a:latin typeface="Baskerville" panose="02020502070401020303" pitchFamily="18" charset="0"/>
              <a:ea typeface="Baskerville" panose="02020502070401020303" pitchFamily="18" charset="0"/>
            </a:endParaRPr>
          </a:p>
        </p:txBody>
      </p:sp>
      <p:sp>
        <p:nvSpPr>
          <p:cNvPr id="5" name="Shape 3"/>
          <p:cNvSpPr/>
          <p:nvPr/>
        </p:nvSpPr>
        <p:spPr>
          <a:xfrm>
            <a:off x="274320" y="777240"/>
            <a:ext cx="4160520" cy="320040"/>
          </a:xfrm>
          <a:prstGeom prst="rect">
            <a:avLst/>
          </a:prstGeom>
          <a:solidFill>
            <a:srgbClr val="2451B7"/>
          </a:solidFill>
          <a:ln w="12700">
            <a:solidFill>
              <a:srgbClr val="000000"/>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6" name="Text 4"/>
          <p:cNvSpPr/>
          <p:nvPr/>
        </p:nvSpPr>
        <p:spPr>
          <a:xfrm>
            <a:off x="365760" y="795528"/>
            <a:ext cx="4005072" cy="283464"/>
          </a:xfrm>
          <a:prstGeom prst="rect">
            <a:avLst/>
          </a:prstGeom>
          <a:noFill/>
          <a:ln/>
        </p:spPr>
        <p:txBody>
          <a:bodyPr wrap="square" rtlCol="0" anchor="ctr"/>
          <a:lstStyle/>
          <a:p>
            <a:pPr marL="0" indent="0">
              <a:buNone/>
            </a:pPr>
            <a:r>
              <a:rPr lang="en-US" sz="1050" b="1" dirty="0">
                <a:solidFill>
                  <a:srgbClr val="FFFFFF"/>
                </a:solidFill>
                <a:latin typeface="Baskerville" panose="02020502070401020303" pitchFamily="18" charset="0"/>
                <a:ea typeface="Baskerville" panose="02020502070401020303" pitchFamily="18" charset="0"/>
                <a:cs typeface="Calibri" pitchFamily="34" charset="-120"/>
              </a:rPr>
              <a:t>🧬  ClinVar Variant Prioritization (NB08)</a:t>
            </a:r>
            <a:endParaRPr lang="en-US" sz="1050" dirty="0">
              <a:latin typeface="Baskerville" panose="02020502070401020303" pitchFamily="18" charset="0"/>
              <a:ea typeface="Baskerville" panose="02020502070401020303" pitchFamily="18" charset="0"/>
            </a:endParaRPr>
          </a:p>
        </p:txBody>
      </p:sp>
      <p:sp>
        <p:nvSpPr>
          <p:cNvPr id="7" name="Text 5"/>
          <p:cNvSpPr/>
          <p:nvPr/>
        </p:nvSpPr>
        <p:spPr>
          <a:xfrm>
            <a:off x="384048" y="1161288"/>
            <a:ext cx="3931920" cy="1188720"/>
          </a:xfrm>
          <a:prstGeom prst="rect">
            <a:avLst/>
          </a:prstGeom>
          <a:noFill/>
          <a:ln/>
        </p:spPr>
        <p:txBody>
          <a:bodyPr wrap="square" rtlCol="0" anchor="ctr"/>
          <a:lstStyle/>
          <a:p>
            <a:pPr marL="0" indent="0">
              <a:buNone/>
            </a:pPr>
            <a:r>
              <a:rPr lang="en-US" sz="950" dirty="0">
                <a:solidFill>
                  <a:srgbClr val="333355"/>
                </a:solidFill>
                <a:latin typeface="Baskerville" panose="02020502070401020303" pitchFamily="18" charset="0"/>
                <a:ea typeface="Baskerville" panose="02020502070401020303" pitchFamily="18" charset="0"/>
                <a:cs typeface="Calibri" pitchFamily="34" charset="-120"/>
              </a:rPr>
              <a:t>Extend in-silico mutagenesis framework to score variants of uncertain significance (VUS). Combine DNABERT-2 DNA embeddings with ESM-2 protein structure embeddings for cross-modal fusion. Target dataset: ClinVar + AlphaFold DB.</a:t>
            </a:r>
            <a:endParaRPr lang="en-US" sz="950" dirty="0">
              <a:latin typeface="Baskerville" panose="02020502070401020303" pitchFamily="18" charset="0"/>
              <a:ea typeface="Baskerville" panose="02020502070401020303" pitchFamily="18" charset="0"/>
            </a:endParaRPr>
          </a:p>
        </p:txBody>
      </p:sp>
      <p:sp>
        <p:nvSpPr>
          <p:cNvPr id="8" name="Shape 6"/>
          <p:cNvSpPr/>
          <p:nvPr/>
        </p:nvSpPr>
        <p:spPr>
          <a:xfrm>
            <a:off x="384048" y="2395728"/>
            <a:ext cx="3931920" cy="256032"/>
          </a:xfrm>
          <a:prstGeom prst="rect">
            <a:avLst/>
          </a:prstGeom>
          <a:solidFill>
            <a:srgbClr val="000000"/>
          </a:solidFill>
          <a:ln w="12700">
            <a:solidFill>
              <a:srgbClr val="000000"/>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9" name="Text 7"/>
          <p:cNvSpPr/>
          <p:nvPr/>
        </p:nvSpPr>
        <p:spPr>
          <a:xfrm>
            <a:off x="402336" y="2404872"/>
            <a:ext cx="3913632" cy="237744"/>
          </a:xfrm>
          <a:prstGeom prst="rect">
            <a:avLst/>
          </a:prstGeom>
          <a:noFill/>
          <a:ln/>
        </p:spPr>
        <p:txBody>
          <a:bodyPr wrap="square" rtlCol="0" anchor="ctr"/>
          <a:lstStyle/>
          <a:p>
            <a:pPr marL="0" indent="0">
              <a:buNone/>
            </a:pPr>
            <a:r>
              <a:rPr lang="en-US" sz="850" i="1" dirty="0">
                <a:solidFill>
                  <a:srgbClr val="2451B7"/>
                </a:solidFill>
                <a:latin typeface="Baskerville" panose="02020502070401020303" pitchFamily="18" charset="0"/>
                <a:ea typeface="Baskerville" panose="02020502070401020303" pitchFamily="18" charset="0"/>
                <a:cs typeface="Calibri" pitchFamily="34" charset="-120"/>
              </a:rPr>
              <a:t>Target: Bioinformatics (Oxford), NAR, PLOS Comp Bio</a:t>
            </a:r>
            <a:endParaRPr lang="en-US" sz="850" dirty="0">
              <a:latin typeface="Baskerville" panose="02020502070401020303" pitchFamily="18" charset="0"/>
              <a:ea typeface="Baskerville" panose="02020502070401020303" pitchFamily="18" charset="0"/>
            </a:endParaRPr>
          </a:p>
        </p:txBody>
      </p:sp>
      <p:sp>
        <p:nvSpPr>
          <p:cNvPr id="10" name="Shape 8"/>
          <p:cNvSpPr/>
          <p:nvPr/>
        </p:nvSpPr>
        <p:spPr>
          <a:xfrm>
            <a:off x="4709160" y="777240"/>
            <a:ext cx="4160520" cy="1965960"/>
          </a:xfrm>
          <a:prstGeom prst="rect">
            <a:avLst/>
          </a:prstGeom>
          <a:solidFill>
            <a:srgbClr val="FFFFFF"/>
          </a:solidFill>
          <a:ln w="19050">
            <a:solidFill>
              <a:srgbClr val="1B7B8A"/>
            </a:solidFill>
            <a:prstDash val="solid"/>
          </a:ln>
          <a:effectLst>
            <a:outerShdw blurRad="101600" dist="38100" dir="8100000" algn="bl" rotWithShape="0">
              <a:srgbClr val="000000">
                <a:alpha val="18000"/>
              </a:srgbClr>
            </a:outerShdw>
          </a:effectLst>
        </p:spPr>
        <p:txBody>
          <a:bodyPr/>
          <a:lstStyle/>
          <a:p>
            <a:endParaRPr lang="en-US">
              <a:latin typeface="Baskerville" panose="02020502070401020303" pitchFamily="18" charset="0"/>
              <a:ea typeface="Baskerville" panose="02020502070401020303" pitchFamily="18" charset="0"/>
            </a:endParaRPr>
          </a:p>
        </p:txBody>
      </p:sp>
      <p:sp>
        <p:nvSpPr>
          <p:cNvPr id="11" name="Shape 9"/>
          <p:cNvSpPr/>
          <p:nvPr/>
        </p:nvSpPr>
        <p:spPr>
          <a:xfrm>
            <a:off x="4709160" y="777240"/>
            <a:ext cx="4160520" cy="320040"/>
          </a:xfrm>
          <a:prstGeom prst="rect">
            <a:avLst/>
          </a:prstGeom>
          <a:solidFill>
            <a:srgbClr val="1B7B8A"/>
          </a:solidFill>
          <a:ln w="12700">
            <a:solidFill>
              <a:srgbClr val="000000"/>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12" name="Text 10"/>
          <p:cNvSpPr/>
          <p:nvPr/>
        </p:nvSpPr>
        <p:spPr>
          <a:xfrm>
            <a:off x="4800600" y="795528"/>
            <a:ext cx="4005072" cy="283464"/>
          </a:xfrm>
          <a:prstGeom prst="rect">
            <a:avLst/>
          </a:prstGeom>
          <a:noFill/>
          <a:ln/>
        </p:spPr>
        <p:txBody>
          <a:bodyPr wrap="square" rtlCol="0" anchor="ctr"/>
          <a:lstStyle/>
          <a:p>
            <a:pPr marL="0" indent="0">
              <a:buNone/>
            </a:pPr>
            <a:r>
              <a:rPr lang="en-US" sz="1050" b="1" dirty="0">
                <a:solidFill>
                  <a:srgbClr val="FFFFFF"/>
                </a:solidFill>
                <a:latin typeface="Baskerville" panose="02020502070401020303" pitchFamily="18" charset="0"/>
                <a:ea typeface="Baskerville" panose="02020502070401020303" pitchFamily="18" charset="0"/>
                <a:cs typeface="Calibri" pitchFamily="34" charset="-120"/>
              </a:rPr>
              <a:t>☁️  Public Cloud Deployment</a:t>
            </a:r>
            <a:endParaRPr lang="en-US" sz="1050" dirty="0">
              <a:latin typeface="Baskerville" panose="02020502070401020303" pitchFamily="18" charset="0"/>
              <a:ea typeface="Baskerville" panose="02020502070401020303" pitchFamily="18" charset="0"/>
            </a:endParaRPr>
          </a:p>
        </p:txBody>
      </p:sp>
      <p:sp>
        <p:nvSpPr>
          <p:cNvPr id="13" name="Text 11"/>
          <p:cNvSpPr/>
          <p:nvPr/>
        </p:nvSpPr>
        <p:spPr>
          <a:xfrm>
            <a:off x="4818888" y="1161288"/>
            <a:ext cx="3931920" cy="1188720"/>
          </a:xfrm>
          <a:prstGeom prst="rect">
            <a:avLst/>
          </a:prstGeom>
          <a:noFill/>
          <a:ln/>
        </p:spPr>
        <p:txBody>
          <a:bodyPr wrap="square" rtlCol="0" anchor="ctr"/>
          <a:lstStyle/>
          <a:p>
            <a:pPr marL="0" indent="0">
              <a:buNone/>
            </a:pPr>
            <a:r>
              <a:rPr lang="en-US" sz="950" dirty="0">
                <a:solidFill>
                  <a:srgbClr val="333355"/>
                </a:solidFill>
                <a:latin typeface="Baskerville" panose="02020502070401020303" pitchFamily="18" charset="0"/>
                <a:ea typeface="Baskerville" panose="02020502070401020303" pitchFamily="18" charset="0"/>
                <a:cs typeface="Calibri" pitchFamily="34" charset="-120"/>
              </a:rPr>
              <a:t>Deploy Bio Seq LM Explorer to Streamlit Community Cloud with Hugging Face Hub model loading. Cross-post to Hugging Face Spaces for bio-ML research community visibility. Eliminates HiPerGator path dependencies.</a:t>
            </a:r>
            <a:endParaRPr lang="en-US" sz="950" dirty="0">
              <a:latin typeface="Baskerville" panose="02020502070401020303" pitchFamily="18" charset="0"/>
              <a:ea typeface="Baskerville" panose="02020502070401020303" pitchFamily="18" charset="0"/>
            </a:endParaRPr>
          </a:p>
        </p:txBody>
      </p:sp>
      <p:sp>
        <p:nvSpPr>
          <p:cNvPr id="14" name="Shape 12"/>
          <p:cNvSpPr/>
          <p:nvPr/>
        </p:nvSpPr>
        <p:spPr>
          <a:xfrm>
            <a:off x="4818888" y="2395728"/>
            <a:ext cx="3931920" cy="256032"/>
          </a:xfrm>
          <a:prstGeom prst="rect">
            <a:avLst/>
          </a:prstGeom>
          <a:solidFill>
            <a:srgbClr val="000000"/>
          </a:solidFill>
          <a:ln w="12700">
            <a:solidFill>
              <a:srgbClr val="000000"/>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15" name="Text 13"/>
          <p:cNvSpPr/>
          <p:nvPr/>
        </p:nvSpPr>
        <p:spPr>
          <a:xfrm>
            <a:off x="4837176" y="2404872"/>
            <a:ext cx="3913632" cy="237744"/>
          </a:xfrm>
          <a:prstGeom prst="rect">
            <a:avLst/>
          </a:prstGeom>
          <a:noFill/>
          <a:ln/>
        </p:spPr>
        <p:txBody>
          <a:bodyPr wrap="square" rtlCol="0" anchor="ctr"/>
          <a:lstStyle/>
          <a:p>
            <a:pPr marL="0" indent="0">
              <a:buNone/>
            </a:pPr>
            <a:r>
              <a:rPr lang="en-US" sz="850" i="1" dirty="0">
                <a:solidFill>
                  <a:srgbClr val="1B7B8A"/>
                </a:solidFill>
                <a:latin typeface="Baskerville" panose="02020502070401020303" pitchFamily="18" charset="0"/>
                <a:ea typeface="Baskerville" panose="02020502070401020303" pitchFamily="18" charset="0"/>
                <a:cs typeface="Calibri" pitchFamily="34" charset="-120"/>
              </a:rPr>
              <a:t>Timeline: May 2025</a:t>
            </a:r>
            <a:endParaRPr lang="en-US" sz="850" dirty="0">
              <a:latin typeface="Baskerville" panose="02020502070401020303" pitchFamily="18" charset="0"/>
              <a:ea typeface="Baskerville" panose="02020502070401020303" pitchFamily="18" charset="0"/>
            </a:endParaRPr>
          </a:p>
        </p:txBody>
      </p:sp>
      <p:sp>
        <p:nvSpPr>
          <p:cNvPr id="22" name="Shape 20"/>
          <p:cNvSpPr/>
          <p:nvPr/>
        </p:nvSpPr>
        <p:spPr>
          <a:xfrm>
            <a:off x="1981458" y="2999232"/>
            <a:ext cx="4160520" cy="1965960"/>
          </a:xfrm>
          <a:prstGeom prst="rect">
            <a:avLst/>
          </a:prstGeom>
          <a:solidFill>
            <a:srgbClr val="FFFFFF"/>
          </a:solidFill>
          <a:ln w="19050">
            <a:solidFill>
              <a:srgbClr val="8B4A10"/>
            </a:solidFill>
            <a:prstDash val="solid"/>
          </a:ln>
          <a:effectLst>
            <a:outerShdw blurRad="101600" dist="38100" dir="8100000" algn="bl" rotWithShape="0">
              <a:srgbClr val="000000">
                <a:alpha val="18000"/>
              </a:srgbClr>
            </a:outerShdw>
          </a:effectLst>
        </p:spPr>
        <p:txBody>
          <a:bodyPr/>
          <a:lstStyle/>
          <a:p>
            <a:endParaRPr lang="en-US">
              <a:latin typeface="Baskerville" panose="02020502070401020303" pitchFamily="18" charset="0"/>
              <a:ea typeface="Baskerville" panose="02020502070401020303" pitchFamily="18" charset="0"/>
            </a:endParaRPr>
          </a:p>
        </p:txBody>
      </p:sp>
      <p:sp>
        <p:nvSpPr>
          <p:cNvPr id="23" name="Shape 21"/>
          <p:cNvSpPr/>
          <p:nvPr/>
        </p:nvSpPr>
        <p:spPr>
          <a:xfrm>
            <a:off x="1981458" y="3006129"/>
            <a:ext cx="4160520" cy="320040"/>
          </a:xfrm>
          <a:prstGeom prst="rect">
            <a:avLst/>
          </a:prstGeom>
          <a:solidFill>
            <a:srgbClr val="8B4A10"/>
          </a:solidFill>
          <a:ln w="12700">
            <a:solidFill>
              <a:srgbClr val="000000"/>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24" name="Text 22"/>
          <p:cNvSpPr/>
          <p:nvPr/>
        </p:nvSpPr>
        <p:spPr>
          <a:xfrm>
            <a:off x="2059182" y="3006129"/>
            <a:ext cx="4005072" cy="283464"/>
          </a:xfrm>
          <a:prstGeom prst="rect">
            <a:avLst/>
          </a:prstGeom>
          <a:noFill/>
          <a:ln/>
        </p:spPr>
        <p:txBody>
          <a:bodyPr wrap="square" rtlCol="0" anchor="ctr"/>
          <a:lstStyle/>
          <a:p>
            <a:pPr marL="0" indent="0">
              <a:buNone/>
            </a:pPr>
            <a:r>
              <a:rPr lang="en-US" sz="1050" b="1" dirty="0">
                <a:solidFill>
                  <a:srgbClr val="FFFFFF"/>
                </a:solidFill>
                <a:latin typeface="Baskerville" panose="02020502070401020303" pitchFamily="18" charset="0"/>
                <a:ea typeface="Baskerville" panose="02020502070401020303" pitchFamily="18" charset="0"/>
                <a:cs typeface="Calibri" pitchFamily="34" charset="-120"/>
              </a:rPr>
              <a:t>🔀  End-to-End Fine-Tuning</a:t>
            </a:r>
            <a:endParaRPr lang="en-US" sz="1050" dirty="0">
              <a:latin typeface="Baskerville" panose="02020502070401020303" pitchFamily="18" charset="0"/>
              <a:ea typeface="Baskerville" panose="02020502070401020303" pitchFamily="18" charset="0"/>
            </a:endParaRPr>
          </a:p>
        </p:txBody>
      </p:sp>
      <p:sp>
        <p:nvSpPr>
          <p:cNvPr id="25" name="Text 23"/>
          <p:cNvSpPr/>
          <p:nvPr/>
        </p:nvSpPr>
        <p:spPr>
          <a:xfrm>
            <a:off x="2059182" y="3273552"/>
            <a:ext cx="3931920" cy="1188720"/>
          </a:xfrm>
          <a:prstGeom prst="rect">
            <a:avLst/>
          </a:prstGeom>
          <a:noFill/>
          <a:ln/>
        </p:spPr>
        <p:txBody>
          <a:bodyPr wrap="square" rtlCol="0" anchor="ctr"/>
          <a:lstStyle/>
          <a:p>
            <a:pPr marL="0" indent="0">
              <a:buNone/>
            </a:pPr>
            <a:r>
              <a:rPr lang="en-US" sz="950" dirty="0">
                <a:solidFill>
                  <a:srgbClr val="333355"/>
                </a:solidFill>
                <a:latin typeface="Baskerville" panose="02020502070401020303" pitchFamily="18" charset="0"/>
                <a:ea typeface="Baskerville" panose="02020502070401020303" pitchFamily="18" charset="0"/>
                <a:cs typeface="Calibri" pitchFamily="34" charset="-120"/>
              </a:rPr>
              <a:t>Explore fine-tuning transformer models on larger curated datasets where data scale justifies the computational cost. Test whether closing the DNA gap requires fine-tuning or whether the ceiling is truly biological, not architectural.</a:t>
            </a:r>
            <a:endParaRPr lang="en-US" sz="950" dirty="0">
              <a:latin typeface="Baskerville" panose="02020502070401020303" pitchFamily="18" charset="0"/>
              <a:ea typeface="Baskerville" panose="02020502070401020303" pitchFamily="18" charset="0"/>
            </a:endParaRPr>
          </a:p>
        </p:txBody>
      </p:sp>
      <p:sp>
        <p:nvSpPr>
          <p:cNvPr id="26" name="Shape 24"/>
          <p:cNvSpPr/>
          <p:nvPr/>
        </p:nvSpPr>
        <p:spPr>
          <a:xfrm>
            <a:off x="2059182" y="4645152"/>
            <a:ext cx="3931920" cy="256032"/>
          </a:xfrm>
          <a:prstGeom prst="rect">
            <a:avLst/>
          </a:prstGeom>
          <a:solidFill>
            <a:srgbClr val="000000"/>
          </a:solidFill>
          <a:ln w="12700">
            <a:solidFill>
              <a:srgbClr val="000000"/>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27" name="Text 25"/>
          <p:cNvSpPr/>
          <p:nvPr/>
        </p:nvSpPr>
        <p:spPr>
          <a:xfrm>
            <a:off x="2152908" y="4640580"/>
            <a:ext cx="3913632" cy="237744"/>
          </a:xfrm>
          <a:prstGeom prst="rect">
            <a:avLst/>
          </a:prstGeom>
          <a:noFill/>
          <a:ln/>
        </p:spPr>
        <p:txBody>
          <a:bodyPr wrap="square" rtlCol="0" anchor="ctr"/>
          <a:lstStyle/>
          <a:p>
            <a:pPr marL="0" indent="0">
              <a:buNone/>
            </a:pPr>
            <a:r>
              <a:rPr lang="en-US" sz="850" i="1" dirty="0">
                <a:solidFill>
                  <a:srgbClr val="8B4A10"/>
                </a:solidFill>
                <a:latin typeface="Baskerville" panose="02020502070401020303" pitchFamily="18" charset="0"/>
                <a:ea typeface="Baskerville" panose="02020502070401020303" pitchFamily="18" charset="0"/>
                <a:cs typeface="Calibri" pitchFamily="34" charset="-120"/>
              </a:rPr>
              <a:t>Requires larger labeled dataset or data augmentation</a:t>
            </a:r>
            <a:endParaRPr lang="en-US" sz="850" dirty="0">
              <a:latin typeface="Baskerville" panose="02020502070401020303" pitchFamily="18" charset="0"/>
              <a:ea typeface="Baskerville" panose="02020502070401020303"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0D1B4B"/>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3A8F"/>
          </a:solidFill>
          <a:ln w="12700">
            <a:solidFill>
              <a:srgbClr val="000000"/>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3" name="Shape 1"/>
          <p:cNvSpPr/>
          <p:nvPr/>
        </p:nvSpPr>
        <p:spPr>
          <a:xfrm>
            <a:off x="0" y="4229100"/>
            <a:ext cx="9144000" cy="914400"/>
          </a:xfrm>
          <a:prstGeom prst="rect">
            <a:avLst/>
          </a:prstGeom>
          <a:solidFill>
            <a:srgbClr val="1A3A8F"/>
          </a:solidFill>
          <a:ln w="12700">
            <a:solidFill>
              <a:srgbClr val="000000"/>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4" name="Shape 2"/>
          <p:cNvSpPr/>
          <p:nvPr/>
        </p:nvSpPr>
        <p:spPr>
          <a:xfrm>
            <a:off x="3840480" y="0"/>
            <a:ext cx="54864" cy="5143500"/>
          </a:xfrm>
          <a:prstGeom prst="rect">
            <a:avLst/>
          </a:prstGeom>
          <a:solidFill>
            <a:srgbClr val="E8A838"/>
          </a:solidFill>
          <a:ln w="12700">
            <a:solidFill>
              <a:srgbClr val="000000"/>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5" name="Text 3"/>
          <p:cNvSpPr/>
          <p:nvPr/>
        </p:nvSpPr>
        <p:spPr>
          <a:xfrm>
            <a:off x="274320" y="1005840"/>
            <a:ext cx="3383280" cy="640080"/>
          </a:xfrm>
          <a:prstGeom prst="rect">
            <a:avLst/>
          </a:prstGeom>
          <a:noFill/>
          <a:ln/>
        </p:spPr>
        <p:txBody>
          <a:bodyPr wrap="square" rtlCol="0" anchor="ctr"/>
          <a:lstStyle/>
          <a:p>
            <a:pPr marL="0" indent="0">
              <a:buNone/>
            </a:pPr>
            <a:r>
              <a:rPr lang="en-US" sz="3600" b="1" dirty="0">
                <a:solidFill>
                  <a:srgbClr val="FFFFFF"/>
                </a:solidFill>
                <a:latin typeface="Baskerville" panose="02020502070401020303" pitchFamily="18" charset="0"/>
                <a:ea typeface="Baskerville" panose="02020502070401020303" pitchFamily="18" charset="0"/>
                <a:cs typeface="Calibri" pitchFamily="34" charset="-120"/>
              </a:rPr>
              <a:t>Thank You</a:t>
            </a:r>
            <a:endParaRPr lang="en-US" sz="3600" dirty="0">
              <a:latin typeface="Baskerville" panose="02020502070401020303" pitchFamily="18" charset="0"/>
              <a:ea typeface="Baskerville" panose="02020502070401020303" pitchFamily="18" charset="0"/>
            </a:endParaRPr>
          </a:p>
        </p:txBody>
      </p:sp>
      <p:sp>
        <p:nvSpPr>
          <p:cNvPr id="6" name="Text 4"/>
          <p:cNvSpPr/>
          <p:nvPr/>
        </p:nvSpPr>
        <p:spPr>
          <a:xfrm>
            <a:off x="274320" y="1691640"/>
            <a:ext cx="3383280" cy="347472"/>
          </a:xfrm>
          <a:prstGeom prst="rect">
            <a:avLst/>
          </a:prstGeom>
          <a:noFill/>
          <a:ln/>
        </p:spPr>
        <p:txBody>
          <a:bodyPr wrap="square" rtlCol="0" anchor="ctr"/>
          <a:lstStyle/>
          <a:p>
            <a:pPr marL="0" indent="0">
              <a:buNone/>
            </a:pPr>
            <a:r>
              <a:rPr lang="en-US" sz="1500" b="1" dirty="0">
                <a:solidFill>
                  <a:srgbClr val="E8A838"/>
                </a:solidFill>
                <a:latin typeface="Baskerville" panose="02020502070401020303" pitchFamily="18" charset="0"/>
                <a:ea typeface="Baskerville" panose="02020502070401020303" pitchFamily="18" charset="0"/>
                <a:cs typeface="Calibri" pitchFamily="34" charset="-120"/>
              </a:rPr>
              <a:t>Deepika Sarala Pratapa</a:t>
            </a:r>
            <a:endParaRPr lang="en-US" sz="1500" dirty="0">
              <a:latin typeface="Baskerville" panose="02020502070401020303" pitchFamily="18" charset="0"/>
              <a:ea typeface="Baskerville" panose="02020502070401020303" pitchFamily="18" charset="0"/>
            </a:endParaRPr>
          </a:p>
        </p:txBody>
      </p:sp>
      <p:sp>
        <p:nvSpPr>
          <p:cNvPr id="7" name="Text 5"/>
          <p:cNvSpPr/>
          <p:nvPr/>
        </p:nvSpPr>
        <p:spPr>
          <a:xfrm>
            <a:off x="274320" y="2084832"/>
            <a:ext cx="3383280" cy="685800"/>
          </a:xfrm>
          <a:prstGeom prst="rect">
            <a:avLst/>
          </a:prstGeom>
          <a:noFill/>
          <a:ln/>
        </p:spPr>
        <p:txBody>
          <a:bodyPr wrap="square" rtlCol="0" anchor="ctr"/>
          <a:lstStyle/>
          <a:p>
            <a:pPr marL="0" indent="0">
              <a:lnSpc>
                <a:spcPct val="140000"/>
              </a:lnSpc>
              <a:buNone/>
            </a:pPr>
            <a:r>
              <a:rPr lang="en-US" sz="1100" dirty="0">
                <a:solidFill>
                  <a:srgbClr val="8BA4CC"/>
                </a:solidFill>
                <a:latin typeface="Baskerville" panose="02020502070401020303" pitchFamily="18" charset="0"/>
                <a:ea typeface="Baskerville" panose="02020502070401020303" pitchFamily="18" charset="0"/>
                <a:cs typeface="Calibri" pitchFamily="34" charset="-120"/>
              </a:rPr>
              <a:t>MS Applied Data Science</a:t>
            </a:r>
            <a:endParaRPr lang="en-US" sz="1100" dirty="0">
              <a:latin typeface="Baskerville" panose="02020502070401020303" pitchFamily="18" charset="0"/>
              <a:ea typeface="Baskerville" panose="02020502070401020303" pitchFamily="18" charset="0"/>
            </a:endParaRPr>
          </a:p>
          <a:p>
            <a:pPr marL="0" indent="0">
              <a:lnSpc>
                <a:spcPct val="140000"/>
              </a:lnSpc>
              <a:buNone/>
            </a:pPr>
            <a:r>
              <a:rPr lang="en-US" sz="1100" dirty="0">
                <a:solidFill>
                  <a:srgbClr val="8BA4CC"/>
                </a:solidFill>
                <a:latin typeface="Baskerville" panose="02020502070401020303" pitchFamily="18" charset="0"/>
                <a:ea typeface="Baskerville" panose="02020502070401020303" pitchFamily="18" charset="0"/>
                <a:cs typeface="Calibri" pitchFamily="34" charset="-120"/>
              </a:rPr>
              <a:t>University of Florida</a:t>
            </a:r>
            <a:endParaRPr lang="en-US" sz="1100" dirty="0">
              <a:latin typeface="Baskerville" panose="02020502070401020303" pitchFamily="18" charset="0"/>
              <a:ea typeface="Baskerville" panose="02020502070401020303" pitchFamily="18" charset="0"/>
            </a:endParaRPr>
          </a:p>
          <a:p>
            <a:pPr marL="0" indent="0">
              <a:lnSpc>
                <a:spcPct val="140000"/>
              </a:lnSpc>
              <a:buNone/>
            </a:pPr>
            <a:r>
              <a:rPr lang="en-US" sz="1100" dirty="0">
                <a:solidFill>
                  <a:srgbClr val="8BA4CC"/>
                </a:solidFill>
                <a:latin typeface="Baskerville" panose="02020502070401020303" pitchFamily="18" charset="0"/>
                <a:ea typeface="Baskerville" panose="02020502070401020303" pitchFamily="18" charset="0"/>
                <a:cs typeface="Calibri" pitchFamily="34" charset="-120"/>
              </a:rPr>
              <a:t>dpratapa@ufl.edu</a:t>
            </a:r>
            <a:endParaRPr lang="en-US" sz="1100" dirty="0">
              <a:latin typeface="Baskerville" panose="02020502070401020303" pitchFamily="18" charset="0"/>
              <a:ea typeface="Baskerville" panose="02020502070401020303" pitchFamily="18" charset="0"/>
            </a:endParaRPr>
          </a:p>
        </p:txBody>
      </p:sp>
      <p:sp>
        <p:nvSpPr>
          <p:cNvPr id="8" name="Text 6"/>
          <p:cNvSpPr/>
          <p:nvPr/>
        </p:nvSpPr>
        <p:spPr>
          <a:xfrm>
            <a:off x="274320" y="2834640"/>
            <a:ext cx="3383280" cy="502920"/>
          </a:xfrm>
          <a:prstGeom prst="rect">
            <a:avLst/>
          </a:prstGeom>
          <a:noFill/>
          <a:ln/>
        </p:spPr>
        <p:txBody>
          <a:bodyPr wrap="square" rtlCol="0" anchor="ctr"/>
          <a:lstStyle/>
          <a:p>
            <a:pPr marL="0" indent="0">
              <a:lnSpc>
                <a:spcPct val="140000"/>
              </a:lnSpc>
              <a:buNone/>
            </a:pPr>
            <a:r>
              <a:rPr lang="en-US" sz="1100" dirty="0">
                <a:solidFill>
                  <a:srgbClr val="8BA4CC"/>
                </a:solidFill>
                <a:latin typeface="Baskerville" panose="02020502070401020303" pitchFamily="18" charset="0"/>
                <a:ea typeface="Baskerville" panose="02020502070401020303" pitchFamily="18" charset="0"/>
                <a:cs typeface="Calibri" pitchFamily="34" charset="-120"/>
              </a:rPr>
              <a:t>Advisor: Dr. Matt Gitzendanner</a:t>
            </a:r>
            <a:endParaRPr lang="en-US" sz="1100" dirty="0">
              <a:latin typeface="Baskerville" panose="02020502070401020303" pitchFamily="18" charset="0"/>
              <a:ea typeface="Baskerville" panose="02020502070401020303" pitchFamily="18" charset="0"/>
            </a:endParaRPr>
          </a:p>
          <a:p>
            <a:pPr marL="0" indent="0">
              <a:lnSpc>
                <a:spcPct val="140000"/>
              </a:lnSpc>
              <a:buNone/>
            </a:pPr>
            <a:r>
              <a:rPr lang="en-US" sz="1100" dirty="0">
                <a:solidFill>
                  <a:srgbClr val="8BA4CC"/>
                </a:solidFill>
                <a:latin typeface="Baskerville" panose="02020502070401020303" pitchFamily="18" charset="0"/>
                <a:ea typeface="Baskerville" panose="02020502070401020303" pitchFamily="18" charset="0"/>
                <a:cs typeface="Calibri" pitchFamily="34" charset="-120"/>
              </a:rPr>
              <a:t>UF Research Computing</a:t>
            </a:r>
            <a:endParaRPr lang="en-US" sz="1100" dirty="0">
              <a:latin typeface="Baskerville" panose="02020502070401020303" pitchFamily="18" charset="0"/>
              <a:ea typeface="Baskerville" panose="02020502070401020303" pitchFamily="18" charset="0"/>
            </a:endParaRPr>
          </a:p>
        </p:txBody>
      </p:sp>
      <p:sp>
        <p:nvSpPr>
          <p:cNvPr id="9" name="Shape 7"/>
          <p:cNvSpPr/>
          <p:nvPr/>
        </p:nvSpPr>
        <p:spPr>
          <a:xfrm>
            <a:off x="4160520" y="777240"/>
            <a:ext cx="2194560" cy="1280160"/>
          </a:xfrm>
          <a:prstGeom prst="rect">
            <a:avLst/>
          </a:prstGeom>
          <a:solidFill>
            <a:srgbClr val="1A3A8F"/>
          </a:solidFill>
          <a:ln w="12700">
            <a:solidFill>
              <a:srgbClr val="4A90D9"/>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10" name="Text 8"/>
          <p:cNvSpPr/>
          <p:nvPr/>
        </p:nvSpPr>
        <p:spPr>
          <a:xfrm>
            <a:off x="4160520" y="868680"/>
            <a:ext cx="2194560" cy="640080"/>
          </a:xfrm>
          <a:prstGeom prst="rect">
            <a:avLst/>
          </a:prstGeom>
          <a:noFill/>
          <a:ln/>
        </p:spPr>
        <p:txBody>
          <a:bodyPr wrap="square" rtlCol="0" anchor="ctr"/>
          <a:lstStyle/>
          <a:p>
            <a:pPr marL="0" indent="0" algn="ctr">
              <a:buNone/>
            </a:pPr>
            <a:r>
              <a:rPr lang="en-US" sz="2800" b="1" dirty="0">
                <a:solidFill>
                  <a:srgbClr val="E8A838"/>
                </a:solidFill>
                <a:latin typeface="Baskerville" panose="02020502070401020303" pitchFamily="18" charset="0"/>
                <a:ea typeface="Baskerville" panose="02020502070401020303" pitchFamily="18" charset="0"/>
                <a:cs typeface="Calibri" pitchFamily="34" charset="-120"/>
              </a:rPr>
              <a:t>99.1%</a:t>
            </a:r>
            <a:endParaRPr lang="en-US" sz="2800" dirty="0">
              <a:latin typeface="Baskerville" panose="02020502070401020303" pitchFamily="18" charset="0"/>
              <a:ea typeface="Baskerville" panose="02020502070401020303" pitchFamily="18" charset="0"/>
            </a:endParaRPr>
          </a:p>
        </p:txBody>
      </p:sp>
      <p:sp>
        <p:nvSpPr>
          <p:cNvPr id="11" name="Text 9"/>
          <p:cNvSpPr/>
          <p:nvPr/>
        </p:nvSpPr>
        <p:spPr>
          <a:xfrm>
            <a:off x="4160520" y="1527048"/>
            <a:ext cx="2194560" cy="475488"/>
          </a:xfrm>
          <a:prstGeom prst="rect">
            <a:avLst/>
          </a:prstGeom>
          <a:noFill/>
          <a:ln/>
        </p:spPr>
        <p:txBody>
          <a:bodyPr wrap="square" rtlCol="0" anchor="ctr"/>
          <a:lstStyle/>
          <a:p>
            <a:pPr marL="0" indent="0" algn="ctr">
              <a:buNone/>
            </a:pPr>
            <a:r>
              <a:rPr lang="en-US" sz="950" dirty="0">
                <a:solidFill>
                  <a:srgbClr val="8BA4CC"/>
                </a:solidFill>
                <a:latin typeface="Baskerville" panose="02020502070401020303" pitchFamily="18" charset="0"/>
                <a:ea typeface="Baskerville" panose="02020502070401020303" pitchFamily="18" charset="0"/>
                <a:cs typeface="Calibri" pitchFamily="34" charset="-120"/>
              </a:rPr>
              <a:t>Protein accuracy</a:t>
            </a:r>
            <a:endParaRPr lang="en-US" sz="950" dirty="0">
              <a:latin typeface="Baskerville" panose="02020502070401020303" pitchFamily="18" charset="0"/>
              <a:ea typeface="Baskerville" panose="02020502070401020303" pitchFamily="18" charset="0"/>
            </a:endParaRPr>
          </a:p>
          <a:p>
            <a:pPr marL="0" indent="0" algn="ctr">
              <a:buNone/>
            </a:pPr>
            <a:r>
              <a:rPr lang="en-US" sz="950" dirty="0">
                <a:solidFill>
                  <a:srgbClr val="8BA4CC"/>
                </a:solidFill>
                <a:latin typeface="Baskerville" panose="02020502070401020303" pitchFamily="18" charset="0"/>
                <a:ea typeface="Baskerville" panose="02020502070401020303" pitchFamily="18" charset="0"/>
                <a:cs typeface="Calibri" pitchFamily="34" charset="-120"/>
              </a:rPr>
              <a:t>ProtBERT + Linear SVM</a:t>
            </a:r>
            <a:endParaRPr lang="en-US" sz="950" dirty="0">
              <a:latin typeface="Baskerville" panose="02020502070401020303" pitchFamily="18" charset="0"/>
              <a:ea typeface="Baskerville" panose="02020502070401020303" pitchFamily="18" charset="0"/>
            </a:endParaRPr>
          </a:p>
        </p:txBody>
      </p:sp>
      <p:sp>
        <p:nvSpPr>
          <p:cNvPr id="12" name="Shape 10"/>
          <p:cNvSpPr/>
          <p:nvPr/>
        </p:nvSpPr>
        <p:spPr>
          <a:xfrm>
            <a:off x="6583680" y="777240"/>
            <a:ext cx="2194560" cy="1280160"/>
          </a:xfrm>
          <a:prstGeom prst="rect">
            <a:avLst/>
          </a:prstGeom>
          <a:solidFill>
            <a:srgbClr val="1A3A8F"/>
          </a:solidFill>
          <a:ln w="12700">
            <a:solidFill>
              <a:srgbClr val="4A90D9"/>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13" name="Text 11"/>
          <p:cNvSpPr/>
          <p:nvPr/>
        </p:nvSpPr>
        <p:spPr>
          <a:xfrm>
            <a:off x="6583680" y="868680"/>
            <a:ext cx="2194560" cy="640080"/>
          </a:xfrm>
          <a:prstGeom prst="rect">
            <a:avLst/>
          </a:prstGeom>
          <a:noFill/>
          <a:ln/>
        </p:spPr>
        <p:txBody>
          <a:bodyPr wrap="square" rtlCol="0" anchor="ctr"/>
          <a:lstStyle/>
          <a:p>
            <a:pPr marL="0" indent="0" algn="ctr">
              <a:buNone/>
            </a:pPr>
            <a:r>
              <a:rPr lang="en-US" sz="2800" b="1" dirty="0">
                <a:solidFill>
                  <a:srgbClr val="E8A838"/>
                </a:solidFill>
                <a:latin typeface="Baskerville" panose="02020502070401020303" pitchFamily="18" charset="0"/>
                <a:ea typeface="Baskerville" panose="02020502070401020303" pitchFamily="18" charset="0"/>
                <a:cs typeface="Calibri" pitchFamily="34" charset="-120"/>
              </a:rPr>
              <a:t>0.851</a:t>
            </a:r>
            <a:endParaRPr lang="en-US" sz="2800" dirty="0">
              <a:latin typeface="Baskerville" panose="02020502070401020303" pitchFamily="18" charset="0"/>
              <a:ea typeface="Baskerville" panose="02020502070401020303" pitchFamily="18" charset="0"/>
            </a:endParaRPr>
          </a:p>
        </p:txBody>
      </p:sp>
      <p:sp>
        <p:nvSpPr>
          <p:cNvPr id="14" name="Text 12"/>
          <p:cNvSpPr/>
          <p:nvPr/>
        </p:nvSpPr>
        <p:spPr>
          <a:xfrm>
            <a:off x="6583680" y="1527048"/>
            <a:ext cx="2194560" cy="475488"/>
          </a:xfrm>
          <a:prstGeom prst="rect">
            <a:avLst/>
          </a:prstGeom>
          <a:noFill/>
          <a:ln/>
        </p:spPr>
        <p:txBody>
          <a:bodyPr wrap="square" rtlCol="0" anchor="ctr"/>
          <a:lstStyle/>
          <a:p>
            <a:pPr marL="0" indent="0" algn="ctr">
              <a:buNone/>
            </a:pPr>
            <a:r>
              <a:rPr lang="en-US" sz="950" dirty="0">
                <a:solidFill>
                  <a:srgbClr val="8BA4CC"/>
                </a:solidFill>
                <a:latin typeface="Baskerville" panose="02020502070401020303" pitchFamily="18" charset="0"/>
                <a:ea typeface="Baskerville" panose="02020502070401020303" pitchFamily="18" charset="0"/>
                <a:cs typeface="Calibri" pitchFamily="34" charset="-120"/>
              </a:rPr>
              <a:t>DNA ROC-AUC</a:t>
            </a:r>
            <a:endParaRPr lang="en-US" sz="950" dirty="0">
              <a:latin typeface="Baskerville" panose="02020502070401020303" pitchFamily="18" charset="0"/>
              <a:ea typeface="Baskerville" panose="02020502070401020303" pitchFamily="18" charset="0"/>
            </a:endParaRPr>
          </a:p>
          <a:p>
            <a:pPr marL="0" indent="0" algn="ctr">
              <a:buNone/>
            </a:pPr>
            <a:r>
              <a:rPr lang="en-US" sz="950" dirty="0">
                <a:solidFill>
                  <a:srgbClr val="8BA4CC"/>
                </a:solidFill>
                <a:latin typeface="Baskerville" panose="02020502070401020303" pitchFamily="18" charset="0"/>
                <a:ea typeface="Baskerville" panose="02020502070401020303" pitchFamily="18" charset="0"/>
                <a:cs typeface="Calibri" pitchFamily="34" charset="-120"/>
              </a:rPr>
              <a:t>NT-500M + XGBoost</a:t>
            </a:r>
            <a:endParaRPr lang="en-US" sz="950" dirty="0">
              <a:latin typeface="Baskerville" panose="02020502070401020303" pitchFamily="18" charset="0"/>
              <a:ea typeface="Baskerville" panose="02020502070401020303" pitchFamily="18" charset="0"/>
            </a:endParaRPr>
          </a:p>
        </p:txBody>
      </p:sp>
      <p:sp>
        <p:nvSpPr>
          <p:cNvPr id="15" name="Shape 13"/>
          <p:cNvSpPr/>
          <p:nvPr/>
        </p:nvSpPr>
        <p:spPr>
          <a:xfrm>
            <a:off x="4160520" y="2286000"/>
            <a:ext cx="2194560" cy="1280160"/>
          </a:xfrm>
          <a:prstGeom prst="rect">
            <a:avLst/>
          </a:prstGeom>
          <a:solidFill>
            <a:srgbClr val="1A3A8F"/>
          </a:solidFill>
          <a:ln w="12700">
            <a:solidFill>
              <a:srgbClr val="4A90D9"/>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16" name="Text 14"/>
          <p:cNvSpPr/>
          <p:nvPr/>
        </p:nvSpPr>
        <p:spPr>
          <a:xfrm>
            <a:off x="4160520" y="2377440"/>
            <a:ext cx="2194560" cy="640080"/>
          </a:xfrm>
          <a:prstGeom prst="rect">
            <a:avLst/>
          </a:prstGeom>
          <a:noFill/>
          <a:ln/>
        </p:spPr>
        <p:txBody>
          <a:bodyPr wrap="square" rtlCol="0" anchor="ctr"/>
          <a:lstStyle/>
          <a:p>
            <a:pPr marL="0" indent="0" algn="ctr">
              <a:buNone/>
            </a:pPr>
            <a:r>
              <a:rPr lang="en-US" sz="2800" b="1" dirty="0">
                <a:solidFill>
                  <a:srgbClr val="E8A838"/>
                </a:solidFill>
                <a:latin typeface="Baskerville" panose="02020502070401020303" pitchFamily="18" charset="0"/>
                <a:ea typeface="Baskerville" panose="02020502070401020303" pitchFamily="18" charset="0"/>
                <a:cs typeface="Calibri" pitchFamily="34" charset="-120"/>
              </a:rPr>
              <a:t>+7 pts</a:t>
            </a:r>
            <a:endParaRPr lang="en-US" sz="2800" dirty="0">
              <a:latin typeface="Baskerville" panose="02020502070401020303" pitchFamily="18" charset="0"/>
              <a:ea typeface="Baskerville" panose="02020502070401020303" pitchFamily="18" charset="0"/>
            </a:endParaRPr>
          </a:p>
        </p:txBody>
      </p:sp>
      <p:sp>
        <p:nvSpPr>
          <p:cNvPr id="17" name="Text 15"/>
          <p:cNvSpPr/>
          <p:nvPr/>
        </p:nvSpPr>
        <p:spPr>
          <a:xfrm>
            <a:off x="4160520" y="3035808"/>
            <a:ext cx="2194560" cy="475488"/>
          </a:xfrm>
          <a:prstGeom prst="rect">
            <a:avLst/>
          </a:prstGeom>
          <a:noFill/>
          <a:ln/>
        </p:spPr>
        <p:txBody>
          <a:bodyPr wrap="square" rtlCol="0" anchor="ctr"/>
          <a:lstStyle/>
          <a:p>
            <a:pPr marL="0" indent="0" algn="ctr">
              <a:buNone/>
            </a:pPr>
            <a:r>
              <a:rPr lang="en-US" sz="950" dirty="0">
                <a:solidFill>
                  <a:srgbClr val="8BA4CC"/>
                </a:solidFill>
                <a:latin typeface="Baskerville" panose="02020502070401020303" pitchFamily="18" charset="0"/>
                <a:ea typeface="Baskerville" panose="02020502070401020303" pitchFamily="18" charset="0"/>
                <a:cs typeface="Calibri" pitchFamily="34" charset="-120"/>
              </a:rPr>
              <a:t>Protein gain</a:t>
            </a:r>
            <a:endParaRPr lang="en-US" sz="950" dirty="0">
              <a:latin typeface="Baskerville" panose="02020502070401020303" pitchFamily="18" charset="0"/>
              <a:ea typeface="Baskerville" panose="02020502070401020303" pitchFamily="18" charset="0"/>
            </a:endParaRPr>
          </a:p>
          <a:p>
            <a:pPr marL="0" indent="0" algn="ctr">
              <a:buNone/>
            </a:pPr>
            <a:r>
              <a:rPr lang="en-US" sz="950" dirty="0">
                <a:solidFill>
                  <a:srgbClr val="8BA4CC"/>
                </a:solidFill>
                <a:latin typeface="Baskerville" panose="02020502070401020303" pitchFamily="18" charset="0"/>
                <a:ea typeface="Baskerville" panose="02020502070401020303" pitchFamily="18" charset="0"/>
                <a:cs typeface="Calibri" pitchFamily="34" charset="-120"/>
              </a:rPr>
              <a:t>over Hybrid baseline</a:t>
            </a:r>
            <a:endParaRPr lang="en-US" sz="950" dirty="0">
              <a:latin typeface="Baskerville" panose="02020502070401020303" pitchFamily="18" charset="0"/>
              <a:ea typeface="Baskerville" panose="02020502070401020303" pitchFamily="18" charset="0"/>
            </a:endParaRPr>
          </a:p>
        </p:txBody>
      </p:sp>
      <p:sp>
        <p:nvSpPr>
          <p:cNvPr id="18" name="Shape 16"/>
          <p:cNvSpPr/>
          <p:nvPr/>
        </p:nvSpPr>
        <p:spPr>
          <a:xfrm>
            <a:off x="6583680" y="2286000"/>
            <a:ext cx="2194560" cy="1280160"/>
          </a:xfrm>
          <a:prstGeom prst="rect">
            <a:avLst/>
          </a:prstGeom>
          <a:solidFill>
            <a:srgbClr val="1A3A8F"/>
          </a:solidFill>
          <a:ln w="12700">
            <a:solidFill>
              <a:srgbClr val="4A90D9"/>
            </a:solidFill>
            <a:prstDash val="solid"/>
          </a:ln>
        </p:spPr>
        <p:txBody>
          <a:bodyPr/>
          <a:lstStyle/>
          <a:p>
            <a:endParaRPr lang="en-US">
              <a:latin typeface="Baskerville" panose="02020502070401020303" pitchFamily="18" charset="0"/>
              <a:ea typeface="Baskerville" panose="02020502070401020303" pitchFamily="18" charset="0"/>
            </a:endParaRPr>
          </a:p>
        </p:txBody>
      </p:sp>
      <p:sp>
        <p:nvSpPr>
          <p:cNvPr id="19" name="Text 17"/>
          <p:cNvSpPr/>
          <p:nvPr/>
        </p:nvSpPr>
        <p:spPr>
          <a:xfrm>
            <a:off x="6583680" y="2377440"/>
            <a:ext cx="2194560" cy="640080"/>
          </a:xfrm>
          <a:prstGeom prst="rect">
            <a:avLst/>
          </a:prstGeom>
          <a:noFill/>
          <a:ln/>
        </p:spPr>
        <p:txBody>
          <a:bodyPr wrap="square" rtlCol="0" anchor="ctr"/>
          <a:lstStyle/>
          <a:p>
            <a:pPr marL="0" indent="0" algn="ctr">
              <a:buNone/>
            </a:pPr>
            <a:r>
              <a:rPr lang="en-US" sz="2800" b="1" dirty="0">
                <a:solidFill>
                  <a:srgbClr val="E8A838"/>
                </a:solidFill>
                <a:latin typeface="Baskerville" panose="02020502070401020303" pitchFamily="18" charset="0"/>
                <a:ea typeface="Baskerville" panose="02020502070401020303" pitchFamily="18" charset="0"/>
                <a:cs typeface="Calibri" pitchFamily="34" charset="-120"/>
              </a:rPr>
              <a:t>6</a:t>
            </a:r>
            <a:endParaRPr lang="en-US" sz="2800" dirty="0">
              <a:latin typeface="Baskerville" panose="02020502070401020303" pitchFamily="18" charset="0"/>
              <a:ea typeface="Baskerville" panose="02020502070401020303" pitchFamily="18" charset="0"/>
            </a:endParaRPr>
          </a:p>
        </p:txBody>
      </p:sp>
      <p:sp>
        <p:nvSpPr>
          <p:cNvPr id="20" name="Text 18"/>
          <p:cNvSpPr/>
          <p:nvPr/>
        </p:nvSpPr>
        <p:spPr>
          <a:xfrm>
            <a:off x="6583680" y="3035808"/>
            <a:ext cx="2194560" cy="475488"/>
          </a:xfrm>
          <a:prstGeom prst="rect">
            <a:avLst/>
          </a:prstGeom>
          <a:noFill/>
          <a:ln/>
        </p:spPr>
        <p:txBody>
          <a:bodyPr wrap="square" rtlCol="0" anchor="ctr"/>
          <a:lstStyle/>
          <a:p>
            <a:pPr marL="0" indent="0" algn="ctr">
              <a:buNone/>
            </a:pPr>
            <a:r>
              <a:rPr lang="en-US" sz="950" dirty="0">
                <a:solidFill>
                  <a:srgbClr val="8BA4CC"/>
                </a:solidFill>
                <a:latin typeface="Baskerville" panose="02020502070401020303" pitchFamily="18" charset="0"/>
                <a:ea typeface="Baskerville" panose="02020502070401020303" pitchFamily="18" charset="0"/>
                <a:cs typeface="Calibri" pitchFamily="34" charset="-120"/>
              </a:rPr>
              <a:t>App modules</a:t>
            </a:r>
            <a:endParaRPr lang="en-US" sz="950" dirty="0">
              <a:latin typeface="Baskerville" panose="02020502070401020303" pitchFamily="18" charset="0"/>
              <a:ea typeface="Baskerville" panose="02020502070401020303" pitchFamily="18" charset="0"/>
            </a:endParaRPr>
          </a:p>
          <a:p>
            <a:pPr marL="0" indent="0" algn="ctr">
              <a:buNone/>
            </a:pPr>
            <a:r>
              <a:rPr lang="en-US" sz="950" dirty="0">
                <a:solidFill>
                  <a:srgbClr val="8BA4CC"/>
                </a:solidFill>
                <a:latin typeface="Baskerville" panose="02020502070401020303" pitchFamily="18" charset="0"/>
                <a:ea typeface="Baskerville" panose="02020502070401020303" pitchFamily="18" charset="0"/>
                <a:cs typeface="Calibri" pitchFamily="34" charset="-120"/>
              </a:rPr>
              <a:t>Bio Seq LM Explorer</a:t>
            </a:r>
            <a:endParaRPr lang="en-US" sz="950" dirty="0">
              <a:latin typeface="Baskerville" panose="02020502070401020303" pitchFamily="18" charset="0"/>
              <a:ea typeface="Baskerville" panose="02020502070401020303" pitchFamily="18" charset="0"/>
            </a:endParaRPr>
          </a:p>
        </p:txBody>
      </p:sp>
      <p:sp>
        <p:nvSpPr>
          <p:cNvPr id="21" name="Text 19"/>
          <p:cNvSpPr/>
          <p:nvPr/>
        </p:nvSpPr>
        <p:spPr>
          <a:xfrm>
            <a:off x="4160520" y="3749040"/>
            <a:ext cx="4846320" cy="365760"/>
          </a:xfrm>
          <a:prstGeom prst="rect">
            <a:avLst/>
          </a:prstGeom>
          <a:noFill/>
          <a:ln/>
        </p:spPr>
        <p:txBody>
          <a:bodyPr wrap="square" rtlCol="0" anchor="ctr"/>
          <a:lstStyle/>
          <a:p>
            <a:pPr marL="0" indent="0" algn="ctr">
              <a:buNone/>
            </a:pPr>
            <a:r>
              <a:rPr lang="en-US" sz="1600" b="1" dirty="0">
                <a:solidFill>
                  <a:srgbClr val="FFFFFF"/>
                </a:solidFill>
                <a:latin typeface="Baskerville" panose="02020502070401020303" pitchFamily="18" charset="0"/>
                <a:ea typeface="Baskerville" panose="02020502070401020303" pitchFamily="18" charset="0"/>
                <a:cs typeface="Calibri" pitchFamily="34" charset="-120"/>
              </a:rPr>
              <a:t>Questions?</a:t>
            </a:r>
            <a:endParaRPr lang="en-US" sz="1600" dirty="0">
              <a:latin typeface="Baskerville" panose="02020502070401020303" pitchFamily="18" charset="0"/>
              <a:ea typeface="Baskerville" panose="02020502070401020303" pitchFamily="18" charset="0"/>
            </a:endParaRPr>
          </a:p>
        </p:txBody>
      </p:sp>
      <p:sp>
        <p:nvSpPr>
          <p:cNvPr id="22" name="Text 20"/>
          <p:cNvSpPr/>
          <p:nvPr/>
        </p:nvSpPr>
        <p:spPr>
          <a:xfrm>
            <a:off x="0" y="4370832"/>
            <a:ext cx="9144000" cy="347472"/>
          </a:xfrm>
          <a:prstGeom prst="rect">
            <a:avLst/>
          </a:prstGeom>
          <a:noFill/>
          <a:ln/>
        </p:spPr>
        <p:txBody>
          <a:bodyPr wrap="square" rtlCol="0" anchor="ctr"/>
          <a:lstStyle/>
          <a:p>
            <a:pPr marL="0" indent="0" algn="ctr">
              <a:buNone/>
            </a:pPr>
            <a:r>
              <a:rPr lang="en-US" sz="1100" dirty="0">
                <a:solidFill>
                  <a:srgbClr val="8BA4CC"/>
                </a:solidFill>
                <a:latin typeface="Baskerville" panose="02020502070401020303" pitchFamily="18" charset="0"/>
                <a:ea typeface="Baskerville" panose="02020502070401020303" pitchFamily="18" charset="0"/>
                <a:cs typeface="Calibri" pitchFamily="34" charset="-120"/>
              </a:rPr>
              <a:t>Slides  |  GitHub  |  Poster  |  App Demo</a:t>
            </a:r>
            <a:endParaRPr lang="en-US" sz="1100" dirty="0">
              <a:latin typeface="Baskerville" panose="02020502070401020303" pitchFamily="18" charset="0"/>
              <a:ea typeface="Baskerville" panose="02020502070401020303"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64</TotalTime>
  <Words>1737</Words>
  <Application>Microsoft Macintosh PowerPoint</Application>
  <PresentationFormat>On-screen Show (16:9)</PresentationFormat>
  <Paragraphs>315</Paragraphs>
  <Slides>13</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Baskerville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Final Project Presentation — DNA &amp; Protein Language Model Pipelines</dc:title>
  <dc:subject>PptxGenJS Presentation</dc:subject>
  <dc:creator>Deepika Sarala Pratapa</dc:creator>
  <cp:lastModifiedBy>Pratapa, Deepika Sarala</cp:lastModifiedBy>
  <cp:revision>8</cp:revision>
  <dcterms:created xsi:type="dcterms:W3CDTF">2026-04-10T09:59:51Z</dcterms:created>
  <dcterms:modified xsi:type="dcterms:W3CDTF">2026-04-14T02:00:38Z</dcterms:modified>
</cp:coreProperties>
</file>